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p.5(날짜 및 상태 설정) 뒤에 삽입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p.6(파일 저장 옵션) 뒤에 삽입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p.9(자동 인쇄 옵션) 뒤에 삽입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기존 p.10(송장번호 자동입력) 교체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기존 p.10 교체 슬라이드 바로 뒤(Tab 3 앞)에 삽입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685800" cy="25603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</a:rPr>
              <a:t>필터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9144"/>
          </a:xfrm>
          <a:prstGeom prst="rect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3A40"/>
                </a:solidFill>
              </a:rPr>
              <a:t>특정 한의원이나 주문자만 골라서 수집할 때 사용합니다.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1627632"/>
            <a:ext cx="164592" cy="164592"/>
          </a:xfrm>
          <a:prstGeom prst="ellipse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한의원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4708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3A40"/>
                </a:solidFill>
              </a:rPr>
              <a:t>드롭다운 목록 선택 또는 직접 입력 가능 / 지우기 버튼으로 초기화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2450592"/>
            <a:ext cx="164592" cy="164592"/>
          </a:xfrm>
          <a:prstGeom prst="ellipse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주문자명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3A40"/>
                </a:solidFill>
              </a:rPr>
              <a:t>일부 글자만 입력해도 부분 일치 주문만 수집 (예: "김" 입력 시 이름에 "김"이 포함된 주문자만 수집)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434840"/>
            <a:ext cx="8503920" cy="5669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480559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8A"/>
                </a:solidFill>
              </a:rPr>
              <a:t>💡  두 항목 모두 비워두면 전체 주문 수집. 한의원 필터와 주문자명 필터는 동시에 적용됩니다.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685800" cy="25603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</a:rPr>
              <a:t>파일 저장 옵션 (추가)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9144"/>
          </a:xfrm>
          <a:prstGeom prst="rect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3A40"/>
                </a:solidFill>
              </a:rPr>
              <a:t>기존 옵션에 아래 2개 항목이 추가되었습니다. (주문 엑셀 저장 체크 시 하위 옵션으로 활성화)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85039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2763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옵션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62763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설명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84248"/>
            <a:ext cx="8503920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048255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입원 케이스 제외 후 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048255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3A40"/>
                </a:solidFill>
              </a:rPr>
              <a:t>엑셀 저장 시 입원 건 제외하여 저장 (주문 엑셀 저장의 하위 옵션)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59736"/>
            <a:ext cx="8503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52374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벌크 내역만 추출 저장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52374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3A40"/>
                </a:solidFill>
              </a:rPr>
              <a:t>고래한방 벌크 대상 주문만 별도 엑셀로 저장 (주문 엑셀 저장의 하위 옵션)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434840"/>
            <a:ext cx="8503920" cy="5669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80559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8A"/>
                </a:solidFill>
              </a:rPr>
              <a:t>💡  두 옵션 모두 '주문 엑셀 저장'이 체크된 경우에만 활성화됩니다.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685800" cy="25603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</a:rPr>
              <a:t>실행 완료 후 버튼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9144"/>
          </a:xfrm>
          <a:prstGeom prst="rect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3A40"/>
                </a:solidFill>
              </a:rPr>
              <a:t>실행이 끝나면 하단에 두 버튼이 활성화됩니다.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1673352"/>
            <a:ext cx="164592" cy="164592"/>
          </a:xfrm>
          <a:prstGeom prst="ellipse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결과 다시 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92807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3A40"/>
                </a:solidFill>
              </a:rPr>
              <a:t>완료 팝업을 닫은 뒤에도 처리 결과(건수, 한의원별 내역)를 다시 확인할 수 있습니다.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2587752"/>
            <a:ext cx="164592" cy="164592"/>
          </a:xfrm>
          <a:prstGeom prst="ellipse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146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8A"/>
                </a:solidFill>
              </a:rPr>
              <a:t>출력 폴더 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0720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3A40"/>
                </a:solidFill>
              </a:rPr>
              <a:t>결과 파일이 저장된 폴더를 바로 열어줍니다. 실행 완료 후 버튼에 폴더명이 표시됩니다.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434840"/>
            <a:ext cx="8503920" cy="5669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480559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8A"/>
                </a:solidFill>
              </a:rPr>
              <a:t>💡  두 버튼 모두 실행 완료 전에는 비활성화 상태입니다.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685800" cy="25603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</a:rPr>
              <a:t>대한통운 파일 접수 발송처리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9144"/>
          </a:xfrm>
          <a:prstGeom prst="rect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3A40"/>
                </a:solidFill>
              </a:rPr>
              <a:t>CJ 배송 상세내역 엑셀 파일을 업로드하면, 사이트의 해당 주문에 송장번호를</a:t>
            </a:r>
          </a:p>
          <a:p>
            <a:pPr algn="l"/>
            <a:r>
              <a:rPr sz="1300" b="0">
                <a:solidFill>
                  <a:srgbClr val="343A40"/>
                </a:solidFill>
              </a:rPr>
              <a:t>자동으로 입력하고 상태를 '발송'으로 전환합니다. (여러 개 파일 한 번에 업로드 가능)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621792" y="2148840"/>
            <a:ext cx="402336" cy="402336"/>
          </a:xfrm>
          <a:prstGeom prst="ellipse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148840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3A40"/>
                </a:solidFill>
              </a:rPr>
              <a:t>CJ에서 배송</a:t>
            </a:r>
          </a:p>
          <a:p>
            <a:pPr algn="ctr"/>
            <a:r>
              <a:rPr sz="1000" b="0">
                <a:solidFill>
                  <a:srgbClr val="343A40"/>
                </a:solidFill>
              </a:rPr>
              <a:t>상세내역</a:t>
            </a:r>
          </a:p>
          <a:p>
            <a:pPr algn="ctr"/>
            <a:r>
              <a:rPr sz="1000" b="0">
                <a:solidFill>
                  <a:srgbClr val="343A40"/>
                </a:solidFill>
              </a:rPr>
              <a:t>엑셀 다운로드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9848" y="2304288"/>
            <a:ext cx="347472" cy="73152"/>
          </a:xfrm>
          <a:prstGeom prst="rect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Step 2</a:t>
            </a:r>
          </a:p>
        </p:txBody>
      </p:sp>
      <p:sp>
        <p:nvSpPr>
          <p:cNvPr id="14" name="Oval 13"/>
          <p:cNvSpPr/>
          <p:nvPr/>
        </p:nvSpPr>
        <p:spPr>
          <a:xfrm>
            <a:off x="1993391" y="2148840"/>
            <a:ext cx="402336" cy="402336"/>
          </a:xfrm>
          <a:prstGeom prst="ellipse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3391" y="2148840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51760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3A40"/>
                </a:solidFill>
              </a:rPr>
              <a:t>상단 조회기간</a:t>
            </a:r>
          </a:p>
          <a:p>
            <a:pPr algn="ctr"/>
            <a:r>
              <a:rPr sz="1000" b="0">
                <a:solidFill>
                  <a:srgbClr val="343A40"/>
                </a:solidFill>
              </a:rPr>
              <a:t>설정</a:t>
            </a:r>
          </a:p>
          <a:p>
            <a:pPr algn="ctr"/>
            <a:r>
              <a:rPr sz="1000" b="0">
                <a:solidFill>
                  <a:srgbClr val="343A40"/>
                </a:solidFill>
              </a:rPr>
              <a:t>(날짜/시간 기입)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1448" y="2304288"/>
            <a:ext cx="347472" cy="73152"/>
          </a:xfrm>
          <a:prstGeom prst="rect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Step 3</a:t>
            </a:r>
          </a:p>
        </p:txBody>
      </p:sp>
      <p:sp>
        <p:nvSpPr>
          <p:cNvPr id="19" name="Oval 18"/>
          <p:cNvSpPr/>
          <p:nvPr/>
        </p:nvSpPr>
        <p:spPr>
          <a:xfrm>
            <a:off x="3364991" y="2148840"/>
            <a:ext cx="402336" cy="402336"/>
          </a:xfrm>
          <a:prstGeom prst="ellipse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4991" y="2148840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651760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3A40"/>
                </a:solidFill>
              </a:rPr>
              <a:t>파일 선택</a:t>
            </a:r>
          </a:p>
          <a:p>
            <a:pPr algn="ctr"/>
            <a:r>
              <a:rPr sz="1000" b="0">
                <a:solidFill>
                  <a:srgbClr val="343A40"/>
                </a:solidFill>
              </a:rPr>
              <a:t>버튼으로</a:t>
            </a:r>
          </a:p>
          <a:p>
            <a:pPr algn="ctr"/>
            <a:r>
              <a:rPr sz="1000" b="0">
                <a:solidFill>
                  <a:srgbClr val="343A40"/>
                </a:solidFill>
              </a:rPr>
              <a:t>엑셀 업로드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3048" y="2304288"/>
            <a:ext cx="347472" cy="73152"/>
          </a:xfrm>
          <a:prstGeom prst="rect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Step 4</a:t>
            </a:r>
          </a:p>
        </p:txBody>
      </p:sp>
      <p:sp>
        <p:nvSpPr>
          <p:cNvPr id="24" name="Oval 23"/>
          <p:cNvSpPr/>
          <p:nvPr/>
        </p:nvSpPr>
        <p:spPr>
          <a:xfrm>
            <a:off x="4736592" y="2148840"/>
            <a:ext cx="402336" cy="402336"/>
          </a:xfrm>
          <a:prstGeom prst="ellipse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6592" y="2148840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651760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3A40"/>
                </a:solidFill>
              </a:rPr>
              <a:t>실행</a:t>
            </a:r>
          </a:p>
          <a:p>
            <a:pPr algn="ctr"/>
            <a:r>
              <a:rPr sz="1000" b="0">
                <a:solidFill>
                  <a:srgbClr val="343A40"/>
                </a:solidFill>
              </a:rPr>
              <a:t>버튼 클릭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84648" y="2304288"/>
            <a:ext cx="347472" cy="73152"/>
          </a:xfrm>
          <a:prstGeom prst="rect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Step 5</a:t>
            </a:r>
          </a:p>
        </p:txBody>
      </p:sp>
      <p:sp>
        <p:nvSpPr>
          <p:cNvPr id="29" name="Oval 28"/>
          <p:cNvSpPr/>
          <p:nvPr/>
        </p:nvSpPr>
        <p:spPr>
          <a:xfrm>
            <a:off x="6108192" y="2148840"/>
            <a:ext cx="402336" cy="402336"/>
          </a:xfrm>
          <a:prstGeom prst="ellipse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08192" y="2148840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651760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3A40"/>
                </a:solidFill>
              </a:rPr>
              <a:t>완료 후</a:t>
            </a:r>
          </a:p>
          <a:p>
            <a:pPr algn="ctr"/>
            <a:r>
              <a:rPr sz="1000" b="0">
                <a:solidFill>
                  <a:srgbClr val="343A40"/>
                </a:solidFill>
              </a:rPr>
              <a:t>결과 확인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114800"/>
            <a:ext cx="8503920" cy="56692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3A40"/>
                </a:solidFill>
              </a:rPr>
              <a:t>⚠  기존에 등록된 송장번호와 업로드 파일의 송장번호가 다르면 오류가 발생합니다. 파일을 다시 다운로드하여 확인해주세요.</a:t>
            </a:r>
          </a:p>
          <a:p>
            <a:pPr algn="l"/>
            <a:r>
              <a:rPr sz="1100" b="0">
                <a:solidFill>
                  <a:srgbClr val="343A40"/>
                </a:solidFill>
              </a:rPr>
              <a:t>⚠  날짜/시간 미기입 시 전체 기간 조회.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09728"/>
            <a:ext cx="685800" cy="25603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8A"/>
                </a:solidFill>
              </a:rPr>
              <a:t>벌크 발송처리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8503920" cy="9144"/>
          </a:xfrm>
          <a:prstGeom prst="rect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3A40"/>
                </a:solidFill>
              </a:rPr>
              <a:t>고래한방병원 벌크 주문을 스캔하여 대한통운 벌크 업로드 파일을 생성합니다.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1874519"/>
            <a:ext cx="402336" cy="402336"/>
          </a:xfrm>
          <a:prstGeom prst="ellipse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74519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3A40"/>
                </a:solidFill>
              </a:rPr>
              <a:t>상단 조회기간</a:t>
            </a:r>
          </a:p>
          <a:p>
            <a:pPr algn="ctr"/>
            <a:r>
              <a:rPr sz="1000" b="0">
                <a:solidFill>
                  <a:srgbClr val="343A40"/>
                </a:solidFill>
              </a:rPr>
              <a:t>설정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029968"/>
            <a:ext cx="347472" cy="73152"/>
          </a:xfrm>
          <a:prstGeom prst="rect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Step 2</a:t>
            </a:r>
          </a:p>
        </p:txBody>
      </p:sp>
      <p:sp>
        <p:nvSpPr>
          <p:cNvPr id="14" name="Oval 13"/>
          <p:cNvSpPr/>
          <p:nvPr/>
        </p:nvSpPr>
        <p:spPr>
          <a:xfrm>
            <a:off x="2724912" y="1874519"/>
            <a:ext cx="402336" cy="402336"/>
          </a:xfrm>
          <a:prstGeom prst="ellipse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1874519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3774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3A40"/>
                </a:solidFill>
              </a:rPr>
              <a:t>벌크 스캔</a:t>
            </a:r>
          </a:p>
          <a:p>
            <a:pPr algn="ctr"/>
            <a:r>
              <a:rPr sz="1000" b="0">
                <a:solidFill>
                  <a:srgbClr val="343A40"/>
                </a:solidFill>
              </a:rPr>
              <a:t>버튼 클릭</a:t>
            </a:r>
          </a:p>
          <a:p>
            <a:pPr algn="ctr"/>
            <a:r>
              <a:rPr sz="1000" b="0">
                <a:solidFill>
                  <a:srgbClr val="343A40"/>
                </a:solidFill>
              </a:rPr>
              <a:t>→ 주문 자동 수집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8688" y="2029968"/>
            <a:ext cx="347472" cy="73152"/>
          </a:xfrm>
          <a:prstGeom prst="rect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Step 3</a:t>
            </a:r>
          </a:p>
        </p:txBody>
      </p:sp>
      <p:sp>
        <p:nvSpPr>
          <p:cNvPr id="19" name="Oval 18"/>
          <p:cNvSpPr/>
          <p:nvPr/>
        </p:nvSpPr>
        <p:spPr>
          <a:xfrm>
            <a:off x="4462272" y="1874519"/>
            <a:ext cx="402336" cy="402336"/>
          </a:xfrm>
          <a:prstGeom prst="ellipse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1874519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3774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3A40"/>
                </a:solidFill>
              </a:rPr>
              <a:t>스캔 완료 후</a:t>
            </a:r>
          </a:p>
          <a:p>
            <a:pPr algn="ctr"/>
            <a:r>
              <a:rPr sz="1000" b="0">
                <a:solidFill>
                  <a:srgbClr val="343A40"/>
                </a:solidFill>
              </a:rPr>
              <a:t>벌크 CJ 파일</a:t>
            </a:r>
          </a:p>
          <a:p>
            <a:pPr algn="ctr"/>
            <a:r>
              <a:rPr sz="1000" b="0">
                <a:solidFill>
                  <a:srgbClr val="343A40"/>
                </a:solidFill>
              </a:rPr>
              <a:t>생성 버튼 클릭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6048" y="2029968"/>
            <a:ext cx="347472" cy="73152"/>
          </a:xfrm>
          <a:prstGeom prst="rect">
            <a:avLst/>
          </a:prstGeom>
          <a:solidFill>
            <a:srgbClr val="6C75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Step 4</a:t>
            </a:r>
          </a:p>
        </p:txBody>
      </p:sp>
      <p:sp>
        <p:nvSpPr>
          <p:cNvPr id="24" name="Oval 23"/>
          <p:cNvSpPr/>
          <p:nvPr/>
        </p:nvSpPr>
        <p:spPr>
          <a:xfrm>
            <a:off x="6199632" y="1874519"/>
            <a:ext cx="402336" cy="402336"/>
          </a:xfrm>
          <a:prstGeom prst="ellipse">
            <a:avLst/>
          </a:prstGeom>
          <a:solidFill>
            <a:srgbClr val="3B5B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1874519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774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3A40"/>
                </a:solidFill>
              </a:rPr>
              <a:t>생성된 파일</a:t>
            </a:r>
          </a:p>
          <a:p>
            <a:pPr algn="ctr"/>
            <a:r>
              <a:rPr sz="1000" b="0">
                <a:solidFill>
                  <a:srgbClr val="343A40"/>
                </a:solidFill>
              </a:rPr>
              <a:t>CJ 시스템에</a:t>
            </a:r>
          </a:p>
          <a:p>
            <a:pPr algn="ctr"/>
            <a:r>
              <a:rPr sz="1000" b="0">
                <a:solidFill>
                  <a:srgbClr val="343A40"/>
                </a:solidFill>
              </a:rPr>
              <a:t>업로드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29000"/>
            <a:ext cx="8503920" cy="548640"/>
          </a:xfrm>
          <a:prstGeom prst="rect">
            <a:avLst/>
          </a:prstGeom>
          <a:solidFill>
            <a:srgbClr val="DB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8A"/>
                </a:solidFill>
              </a:rPr>
              <a:t>벌크 기준: 팩수 30팩 미만 주문 (30팩 이상은 별도 박스 포장 / 개별 송장 처리)</a:t>
            </a:r>
          </a:p>
          <a:p>
            <a:pPr algn="l"/>
            <a:r>
              <a:rPr sz="1100" b="0">
                <a:solidFill>
                  <a:srgbClr val="1E3A8A"/>
                </a:solidFill>
              </a:rPr>
              <a:t>세종점은 팩수 관계없이 항상 벌크 처리.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114800"/>
            <a:ext cx="8503920" cy="56692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43A40"/>
                </a:solidFill>
              </a:rPr>
              <a:t>⚠  스캔 완료 전에는 벌크 CJ 파일 생성 버튼이 비활성화됩니다.</a:t>
            </a:r>
          </a:p>
          <a:p>
            <a:pPr algn="l"/>
            <a:r>
              <a:rPr sz="1100" b="0">
                <a:solidFill>
                  <a:srgbClr val="343A40"/>
                </a:solidFill>
              </a:rPr>
              <a:t>⚠  날짜/시간은 상단 조회기간을 그대로 사용합니다.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