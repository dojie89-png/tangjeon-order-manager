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3" r:id="rId24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3B5BDB"/>
                </a:solidFill>
                <a:latin typeface="Pretendard"/>
              </a:rPr>
              <a:t>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343A40"/>
                </a:solidFill>
                <a:latin typeface="Pretendard"/>
              </a:rPr>
              <a:t>케이진 탕전주문
관리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4114800" cy="254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3B5BDB"/>
                </a:solidFill>
                <a:latin typeface="Pretendard"/>
              </a:rPr>
              <a:t>v.1.4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"/>
              </a:rPr>
              <a:t>K-gin bio Pharm Ltd. · 탕전주문 관리 시스템 (프로그램 버전 12.50 기준 / 260430)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8132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시작하기 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준비사항 &amp; 실행 전 확인사항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490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148132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탭 1 — 주문 수집 &amp; 자동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날짜/상태/검색 필터 · 파일 저장 · 인쇄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5117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탭 2 — 송장번호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52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CJ 배송 엑셀 연동 &amp; 자동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2560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39" y="255117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탭 2 — 벌크 발송처리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852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고래한방 입원/벌크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301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210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탭 3 — 배송완료 자동전환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2277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CJ 추적 → 완료 상태 자동 변경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36301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  <a:latin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39" y="36210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  <a:latin typeface="Pretendard"/>
              </a:rPr>
              <a:t>오류 확인 &amp; 운영 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92277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"/>
              </a:rPr>
              <a:t>출력 진단 로그 · 자주 발생하는 오류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v1.4 업데이트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v1.2 배포본 이후 실제 사용 흐름에 영향을 주는 변경사항입니다. 자세한 사용 방법은 오른쪽 페이지를 참고하세요.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1801368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013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탭1 기본 선택 옵션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97510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엑셀저장, CJ 업로드 양식, 라벨인쇄, 자동전환 2종, 주문내역서 저장이 기본 선택됩니다.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77393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7p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2312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2312" y="1627632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83480" y="1801368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8013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검색 필터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7510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주문자명/환자명/주문자+환자를 선택하고, 콤마로 여러 명을 검색할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77393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6p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615184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2788920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788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2724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한의원 필터명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962656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필한방병원 명칭을 사이트 기준으로 정리하고, 고래한방 지점 구분은 유지합니다.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76148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6p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2312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82312" y="2615184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480" y="2788920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788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2724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대한통운 업로드 양식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962656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A열 주문날짜 추가, 한의원 대표 전화번호 우선 반영, 고래 지점 번호 반영을 적용합니다.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76148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602736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" y="3776472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3776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71246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벌크/입원 처리 기준 보완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395020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고래 세종점 케이스를 포함하고, 30팩 이상 별도 박스 주문은 CJ 업로드에서 제외합니다.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374904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12p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2312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82312" y="3602736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83480" y="3776472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3776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71246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12529"/>
                </a:solidFill>
                <a:latin typeface="Pretendard"/>
              </a:rPr>
              <a:t>자동 인쇄 기능 보완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95020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495057"/>
                </a:solidFill>
                <a:latin typeface="Pretendard"/>
              </a:rPr>
              <a:t>프린터 선택 기능과 출력 누락 확인용 인쇄요청/결과 목록 저장을 추가했습니다.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2712" y="374904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1E3A8A"/>
                </a:solidFill>
                <a:latin typeface="Pretendard"/>
              </a:rPr>
              <a:t>10p·16p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498848"/>
            <a:ext cx="8183879" cy="320040"/>
          </a:xfrm>
          <a:prstGeom prst="roundRect">
            <a:avLst/>
          </a:prstGeom>
          <a:solidFill>
            <a:srgbClr val="FFF3BF"/>
          </a:solidFill>
          <a:ln w="762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572000"/>
            <a:ext cx="79095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5F4B00"/>
                </a:solidFill>
                <a:latin typeface="Pretendard"/>
              </a:rPr>
              <a:t>본문에는 NEW 표기를 남기지 않고, 최신 사용법 기준으로 자연스럽게 정리했습니다.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실행 전 확인사항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1704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521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Chrome 브라우저가 설치되어 있어야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프로그램 실행 시 Chrome이 자동으로 열립니다.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07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18562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562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379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인터넷 연결 상태를 확인합니다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사이트 접속과 파일 다운로드가 모두 네트워크에 영향을 받습니다.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25420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42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237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Chrome 창을 임의로 닫지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706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작업 완료 알림이 뜰 때까지 자동화 창을 유지해주세요.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723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0040" y="32278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227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095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한 탭 실행 중에는 다른 탭을 실행하지 않습니다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564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실행 중 버튼이 잠기면 현재 작업이 끝난 뒤 다시 시도합니다.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581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" y="4041648"/>
            <a:ext cx="850392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51376"/>
            <a:ext cx="8229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"/>
              </a:rPr>
              <a:t>주의: Chrome 창을 직접 닫으면 오류가 발생할 수 있습니다. 작업이 완료될 때까지 기다려주세요.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주문 수집 &amp; 자동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"/>
              </a:rPr>
              <a:t>지정한 날짜/상태의 주문을 사이트에서 자동 수집하고, 엑셀·CJ업로드 양식·라벨·PDF·출력 요청까지 한 번에 처리합니다.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"/>
              </a:rPr>
              <a:t>조건 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"/>
              </a:rPr>
              <a:t>주문 수집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1752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"/>
              </a:rPr>
              <a:t>파일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5196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  <a:latin typeface="Pretendard"/>
              </a:rPr>
              <a:t>저장/출력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325880"/>
            <a:ext cx="2377440" cy="22402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2631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실행 완료 팝업 캡처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5648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완료/오류 팝업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166360" cy="50292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87367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"/>
              </a:rPr>
              <a:t>기본 선택: 엑셀저장, CJ 업로드 양식, 라벨인쇄, 자동전환 2종, 주문내역서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날짜·상태·검색 필터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188720"/>
            <a:ext cx="2423160" cy="28346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42316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탭1 상단 설정 영역 캡처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2491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날짜/상태/검색대상 콤보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307592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날짜 /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27632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날짜는 필수, 시간은 선택입니다. 시간을 넣으면 해당 시각 이후/이전 주문만 수집합니다.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029968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29968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14884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상태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468880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접수대기가 기본 선택입니다. 필요하면 입금대기, 발송, 완료 등 복수 상태를 함께 선택합니다.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71216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71216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990088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한의원 목록 콤보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310128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고래한방은 사이트명은 같아도 주소/주문자 기준으로 관저·판암·세종 지점을 분류합니다. 필한방병원은 사이트명 기준으로 표시합니다.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712463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12463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831335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검색대상 콤보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151375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주문자명, 환자명(복용자), 주문자명+환자명 중 선택합니다. 이름은 콤마로 여러 명을 한 번에 검색할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파일 저장 옵션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88720"/>
          <a:ext cx="5714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840480"/>
              </a:tblGrid>
              <a:tr h="489857">
                <a:tc>
                  <a:txBody>
                    <a:bodyPr anchor="ctr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</a:rPr>
                        <a:t>옵션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</a:rPr>
                        <a:t>설명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주문 엑셀 저장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수집된 주문 전체를 통합 엑셀로 저장합니다.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대한통운 파일업로드 양식 생성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CJ 업로드용 파일 생성. A열에 주문날짜가 추가되고 한의원 대표번호가 발신번호로 반영됩니다.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탕전 라벨 인쇄용 엑셀 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라벨 출력에 필요한 항목만 별도 생성합니다. 고래 판암점 라벨코드 열을 포함합니다.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PDF 저장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주문내역서/조제지시서/복용법 PDF를 선택 저장합니다. 기본은 주문내역서 저장입니다.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자동 전환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입원건 입금대기 전환, 취소요청건 환불취소 전환이 기본 선택됩니다.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벌크/예외 처리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19" b="0">
                          <a:solidFill>
                            <a:srgbClr val="212529"/>
                          </a:solidFill>
                          <a:latin typeface="Pretendard"/>
                        </a:rPr>
                        <a:t>고래한방 입원건, 30팩 이상 별도 박스 건은 CJ 업로드/벌크 처리에서 제외 또는 분리됩니다.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188720"/>
            <a:ext cx="1920240" cy="324612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289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파일 옵션 영역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3065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체크박스 기본값 확인용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대한통운 파일업로드 양식 다운로드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8503920" cy="12344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3060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CJ 업로드 양식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4812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A열 주문날짜 / 발신번호 / 고객주문번호가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A열에 주문날짜가 추가됩니다. 시간은 제외하고 년-월-일만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발신 전화번호는 주문에 들어온 값보다 한의원 대표번호를 우선 반영합니다.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75304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고래한방은 관저·판암·세종 지점 구분 후 해당 지점 번호를 사용합니다.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68496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벌크 주문 중 30팩 이상은 별도 박스 대상이므로 CJ 업로드 양식에서 제외됩니다.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탕전 라벨 인쇄용 엑셀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6263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1972"/>
            <a:ext cx="5897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탕전 라벨 인쇄용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3724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한의원별 라벨 컬럼이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각 한의원 라벨 출력에 필요한 항목만 추출합니다.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"/>
              </a:rPr>
              <a:t>고래한방_판암점은 독자 처방명 반영을 위해 라벨코드 열을 포함합니다.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170432"/>
            <a:ext cx="1691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06197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라벨 출력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6372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필요 시 삽입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자동 인쇄 옵션 &amp; 출력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618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탕전주문내역서 자동 인쇄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5819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체크 시 수집 완료 후 주문내역서 인쇄 요청을 보냅니다.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76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조제지시서 자동 인쇄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4963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체크 시 조제지시서 인쇄 요청을 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9718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0906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출력 순서 옵션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107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한의원별 묶음 출력, 입원 건 마지막 별도 출력 옵션을 사용할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143000"/>
            <a:ext cx="3794760" cy="242316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1717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자동 인쇄 옵션 영역 캡처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473452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>
                <a:solidFill>
                  <a:srgbClr val="868E96"/>
                </a:solidFill>
                <a:latin typeface="Pretendard"/>
              </a:rPr>
              <a:t>프린터 선택 콤보/체크박스/정렬 옵션 캡처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794760"/>
            <a:ext cx="3794760" cy="566928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904488"/>
            <a:ext cx="3520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"/>
              </a:rPr>
              <a:t>출력 요청 로그는 실제 종이 출력 완료가 아니라 브라우저 인쇄 요청 기준입니다. 누락 의심 시 인쇄요청목록/인쇄결과목록을 확인합니다.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218688"/>
            <a:ext cx="3794760" cy="384048"/>
          </a:xfrm>
          <a:prstGeom prst="roundRect">
            <a:avLst/>
          </a:prstGeom>
          <a:solidFill>
            <a:srgbClr val="EFF4FF"/>
          </a:solidFill>
          <a:ln w="7620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310128"/>
            <a:ext cx="352044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3A8A"/>
                </a:solidFill>
                <a:latin typeface="Pretendard"/>
              </a:rPr>
              <a:t>프린터 선택: PC에 설치된 프린터 중 자동 인쇄에 사용할 프린터를 지정할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송장번호 자동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"/>
              </a:rPr>
              <a:t>CJ 배송 상세내역 엑셀 파일을 업로드하면, 해당 주문에 송장번호를 자동 입력하고 상태를 발송으로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"/>
              </a:rPr>
              <a:t>CJ 상세내역 다운로드</a:t>
            </a:r>
          </a:p>
        </p:txBody>
      </p:sp>
      <p:sp>
        <p:nvSpPr>
          <p:cNvPr id="12" name="Oval 11"/>
          <p:cNvSpPr/>
          <p:nvPr/>
        </p:nvSpPr>
        <p:spPr>
          <a:xfrm>
            <a:off x="1572768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19659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"/>
              </a:rPr>
              <a:t>날짜 범위 설정</a:t>
            </a:r>
          </a:p>
        </p:txBody>
      </p:sp>
      <p:sp>
        <p:nvSpPr>
          <p:cNvPr id="15" name="Oval 14"/>
          <p:cNvSpPr/>
          <p:nvPr/>
        </p:nvSpPr>
        <p:spPr>
          <a:xfrm>
            <a:off x="2642615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5" y="19659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3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"/>
              </a:rPr>
              <a:t>파일 선택</a:t>
            </a:r>
          </a:p>
        </p:txBody>
      </p:sp>
      <p:sp>
        <p:nvSpPr>
          <p:cNvPr id="18" name="Oval 17"/>
          <p:cNvSpPr/>
          <p:nvPr/>
        </p:nvSpPr>
        <p:spPr>
          <a:xfrm>
            <a:off x="3712463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3" y="19659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1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"/>
              </a:rPr>
              <a:t>실행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19659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12529"/>
                </a:solidFill>
                <a:latin typeface="Pretendard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143000"/>
            <a:ext cx="242316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42316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탭2 송장 입력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2491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파일 선택/실행 영역 포함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34924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87367"/>
            <a:ext cx="50749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"/>
              </a:rPr>
              <a:t>주의: 기존 송장번호와 업로드 파일 번호가 다르면 오류가 날 수 있습니다. 파일을 다시 다운로드해 확인하세요.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벌크 주문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"/>
              </a:rPr>
              <a:t>고래한방 입원/벌크 주문은 일반 택배 업로드와 분리해서 관리합니다. 세종점 케이스도 주문 확인 시 함께 반영됩니다.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64008" cy="93268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90195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고래한방병원 주문 중 한의원으로 택배 발송되는 벌크/입원 관련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90195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지점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221992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주소/주문자 기준으로 관저점, 판암점, 세종점을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07792"/>
            <a:ext cx="64008" cy="932688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30팩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346704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별도 박스 대상이므로 대한통운 파일 업로드 양식에서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2907792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확인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3346704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주문 확인 단계에서 세종점 입원 제외 케이스까지 함께 체크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08760"/>
            <a:ext cx="2331720" cy="26974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7462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벌크 처리 화면/엑셀 캡처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7637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필요한 실제 화면으로 교체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Tab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배송완료 자동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"/>
              </a:rPr>
              <a:t>발송 상태인 주문의 CJ 배송 추적을 확인하여 배송완료된 주문을 자동으로 완료 상태로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828800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발송 상태 주문 목록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선택한 날짜 범위의 발송 주문을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" y="2487168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CJ 송장 추적 페이지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1576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송장별 배송 상태를 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0040" y="3145536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455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27248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12529"/>
                </a:solidFill>
                <a:latin typeface="Pretendard"/>
              </a:rPr>
              <a:t>배송완료 확인 시 완료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74136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95057"/>
                </a:solidFill>
                <a:latin typeface="Pretendard"/>
              </a:rPr>
              <a:t>배송 중인 주문은 건너뜀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75888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97880" y="1143000"/>
            <a:ext cx="251460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24231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C757D"/>
                </a:solidFill>
                <a:latin typeface="Pretendard"/>
              </a:rPr>
              <a:t>탭3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7249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868E96"/>
                </a:solidFill>
                <a:latin typeface="Pretendard"/>
              </a:rPr>
              <a:t>배송완료 전환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160520"/>
            <a:ext cx="5212080" cy="438912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70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"/>
              </a:rPr>
              <a:t>처리 건수가 많으면 시간이 걸릴 수 있습니다. 완료 알림이 뜰 때까지 기다려주세요.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날짜 &amp; 시간 입력 형식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2377440"/>
              </a:tblGrid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사용 가능한 형식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YYYYMMDD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20260430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YYYY-MM-DD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2026-04-30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YYYY/MM/DD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2026/04/30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시간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HHMM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1430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시간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HH:MM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"/>
                        </a:rPr>
                        <a:t>14:30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7680960" cy="41148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44568"/>
            <a:ext cx="7406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"/>
              </a:rPr>
              <a:t>시간 입력은 선택사항입니다. 시간을 입력하면 해당 시간 이후 / 이전 주문만 수집됩니다.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실행 중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03131"/>
                </a:solidFill>
                <a:latin typeface="Pretendard"/>
              </a:rPr>
              <a:t>하지 말아야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"/>
              </a:rPr>
              <a:t>Chrome 창 임의로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"/>
              </a:rPr>
              <a:t>실행 중 다른 탭 실행 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"/>
              </a:rPr>
              <a:t>컴퓨터 절전모드 / 화면보호기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1704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F9E44"/>
                </a:solidFill>
                <a:latin typeface="Pretendard"/>
              </a:rPr>
              <a:t>해도 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27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"/>
              </a:rPr>
              <a:t>진행 중 다른 프로그램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5798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"/>
              </a:rPr>
              <a:t>로그 창 스크롤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883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>
                <a:latin typeface="Pretendard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"/>
              </a:rPr>
              <a:t>취소 버튼으로 중단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43000"/>
            <a:ext cx="12700" cy="233172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3977639"/>
            <a:ext cx="8503920" cy="54864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87367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"/>
              </a:rPr>
              <a:t>실행 중 오류가 발생하면 로그 창에서 내용을 확인하고, 프로그램을 재시작한 뒤 다시 시도해주세요.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자주 발생하는 오류 &amp; 해결법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503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3703320"/>
              </a:tblGrid>
              <a:tr h="515982">
                <a:tc>
                  <a:txBody>
                    <a:bodyPr anchor="ctr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증상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원인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해결 방법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Chrome이 안 열림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ChromeDriver 또는 Chrome 버전 문제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Chrome 최신 업데이트 후 재시도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수집됐는데 파일이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저장 옵션 미체크 또는 저장 경로 확인 필요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파일 저장 옵션과 결과 폴더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필터 결과가 이상함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사이트명/지점명 또는 검색대상 선택 불일치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한의원 콤보, 검색대상, 콤마 입력값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출력 로그는 있는데 종이가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로그는 출력 요청 기준이며 프린터 완료 기준이 아님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인쇄요청목록/인쇄결과목록과 프린터 대기열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CJ 업로드 전화번호 이상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한의원 대표번호 매핑 또는 지점 분류 확인 필요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대표번호/고래 지점 분류 확인 후 재생성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탭 실행 버튼 안 눌림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다른 탭 작업 실행 중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69" b="0">
                          <a:solidFill>
                            <a:srgbClr val="212529"/>
                          </a:solidFill>
                          <a:latin typeface="Pretendard"/>
                        </a:rPr>
                        <a:t>현재 작업 완료 후 다시 실행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343A40"/>
                </a:solidFill>
                <a:latin typeface="Pretendard"/>
              </a:rPr>
              <a:t>화면 캡처 교체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>
                <a:solidFill>
                  <a:srgbClr val="868E96"/>
                </a:solidFill>
                <a:latin typeface="Pretendard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"/>
              </a:rPr>
              <a:t>아래 화면은 직접 캡처 후 각 슬라이드의 점선 영역에 삽입하면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실행 완료 팝업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탭1 상단 설정 영역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파일 옵션 체크박스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CJ 업로드 양식 엑셀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탕전 라벨 엑셀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자동 인쇄 옵션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탭2 송장 입력 화면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벌크 처리 화면/엑셀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Pretendard"/>
              </a:rPr>
              <a:t>슬라이드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95057"/>
                </a:solidFill>
                <a:latin typeface="Pretendard"/>
              </a:rPr>
              <a:t>탭3 배송완료 전환 화면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187952"/>
            <a:ext cx="8092440" cy="45720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97680"/>
            <a:ext cx="7818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"/>
              </a:rPr>
              <a:t>캡처를 넣을 때는 점선 박스를 삭제하거나 뒤로 보내고, 기존 위치와 크기에 맞춰 이미지를 배치하면 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0" y="1211580"/>
            <a:ext cx="3931920" cy="393192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17320"/>
            <a:ext cx="1005840" cy="10058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343A40"/>
                </a:solidFill>
                <a:latin typeface="Pretendard"/>
              </a:rPr>
              <a:t>문의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495057"/>
                </a:solidFill>
                <a:latin typeface="Pretendard"/>
              </a:rPr>
              <a:t>프로그램 오류나 개선사항은
담당자에게 문의해주세요.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"/>
              </a:rPr>
              <a:t>K-gin bio Pharm Ltd. · 탕전주문 관리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