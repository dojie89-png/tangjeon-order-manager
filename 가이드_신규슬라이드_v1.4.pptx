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3B5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94360"/>
            <a:ext cx="6217920" cy="310896"/>
          </a:xfrm>
          <a:prstGeom prst="rect">
            <a:avLst/>
          </a:prstGeom>
          <a:noFill/>
        </p:spPr>
        <p:txBody>
          <a:bodyPr wrap="none" lIns="73152" rIns="73152" tIns="36576" bIns="36576" anchor="t">
            <a:spAutoFit/>
          </a:bodyPr>
          <a:lstStyle/>
          <a:p>
            <a:r>
              <a:rPr sz="1300" b="1">
                <a:solidFill>
                  <a:srgbClr val="3B5BDB"/>
                </a:solidFill>
                <a:latin typeface="Pretendard"/>
              </a:rPr>
              <a:t>케이진 탕전주문 관리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32688"/>
            <a:ext cx="6949440" cy="621792"/>
          </a:xfrm>
          <a:prstGeom prst="rect">
            <a:avLst/>
          </a:prstGeom>
          <a:noFill/>
        </p:spPr>
        <p:txBody>
          <a:bodyPr wrap="none" lIns="73152" rIns="73152" tIns="36576" bIns="36576" anchor="t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Pretendard"/>
              </a:rPr>
              <a:t>사용 가이드 v1.4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673352"/>
            <a:ext cx="7132320" cy="384048"/>
          </a:xfrm>
          <a:prstGeom prst="rect">
            <a:avLst/>
          </a:prstGeom>
          <a:noFill/>
        </p:spPr>
        <p:txBody>
          <a:bodyPr wrap="none" lIns="73152" rIns="73152" tIns="36576" bIns="36576" anchor="t">
            <a:spAutoFit/>
          </a:bodyPr>
          <a:lstStyle/>
          <a:p>
            <a:r>
              <a:rPr sz="1400" b="0">
                <a:solidFill>
                  <a:srgbClr val="6C757D"/>
                </a:solidFill>
                <a:latin typeface="Pretendard"/>
              </a:rPr>
              <a:t>v12.50 기준 · 탭1 주문 조회부터 대한통운 발송처리까지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3063240"/>
            <a:ext cx="2331720" cy="96012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E0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3063240"/>
            <a:ext cx="54864" cy="960120"/>
          </a:xfrm>
          <a:prstGeom prst="rect">
            <a:avLst/>
          </a:prstGeom>
          <a:solidFill>
            <a:srgbClr val="3B5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1" y="3200400"/>
            <a:ext cx="2011679" cy="228600"/>
          </a:xfrm>
          <a:prstGeom prst="rect">
            <a:avLst/>
          </a:prstGeom>
          <a:noFill/>
        </p:spPr>
        <p:txBody>
          <a:bodyPr wrap="none" lIns="73152" rIns="73152" tIns="36576" bIns="36576" anchor="t">
            <a:spAutoFit/>
          </a:bodyPr>
          <a:lstStyle/>
          <a:p>
            <a:r>
              <a:rPr sz="1200" b="1">
                <a:solidFill>
                  <a:srgbClr val="1E3A8A"/>
                </a:solidFill>
                <a:latin typeface="Pretendard"/>
              </a:rPr>
              <a:t>Tab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1" y="3502152"/>
            <a:ext cx="2011679" cy="457200"/>
          </a:xfrm>
          <a:prstGeom prst="rect">
            <a:avLst/>
          </a:prstGeom>
          <a:noFill/>
        </p:spPr>
        <p:txBody>
          <a:bodyPr wrap="none" lIns="73152" rIns="73152" tIns="36576" bIns="36576" anchor="t">
            <a:spAutoFit/>
          </a:bodyPr>
          <a:lstStyle/>
          <a:p>
            <a:r>
              <a:rPr sz="950" b="0">
                <a:solidFill>
                  <a:srgbClr val="343A40"/>
                </a:solidFill>
                <a:latin typeface="Pretendard"/>
              </a:rPr>
              <a:t>탕전주문 조회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83280" y="3063240"/>
            <a:ext cx="2331720" cy="96012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E0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383280" y="3063240"/>
            <a:ext cx="54864" cy="960120"/>
          </a:xfrm>
          <a:prstGeom prst="rect">
            <a:avLst/>
          </a:prstGeom>
          <a:solidFill>
            <a:srgbClr val="2F85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47872" y="3200400"/>
            <a:ext cx="2011679" cy="228600"/>
          </a:xfrm>
          <a:prstGeom prst="rect">
            <a:avLst/>
          </a:prstGeom>
          <a:noFill/>
        </p:spPr>
        <p:txBody>
          <a:bodyPr wrap="none" lIns="73152" rIns="73152" tIns="36576" bIns="36576" anchor="t">
            <a:spAutoFit/>
          </a:bodyPr>
          <a:lstStyle/>
          <a:p>
            <a:r>
              <a:rPr sz="1200" b="1">
                <a:solidFill>
                  <a:srgbClr val="1E3A8A"/>
                </a:solidFill>
                <a:latin typeface="Pretendard"/>
              </a:rPr>
              <a:t>Tab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47872" y="3502152"/>
            <a:ext cx="2011679" cy="457200"/>
          </a:xfrm>
          <a:prstGeom prst="rect">
            <a:avLst/>
          </a:prstGeom>
          <a:noFill/>
        </p:spPr>
        <p:txBody>
          <a:bodyPr wrap="none" lIns="73152" rIns="73152" tIns="36576" bIns="36576" anchor="t">
            <a:spAutoFit/>
          </a:bodyPr>
          <a:lstStyle/>
          <a:p>
            <a:r>
              <a:rPr sz="950" b="0">
                <a:solidFill>
                  <a:srgbClr val="343A40"/>
                </a:solidFill>
                <a:latin typeface="Pretendard"/>
              </a:rPr>
              <a:t>대한통운/벌크 발송처리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26480" y="3063240"/>
            <a:ext cx="2331720" cy="96012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E0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26480" y="3063240"/>
            <a:ext cx="54864" cy="960120"/>
          </a:xfrm>
          <a:prstGeom prst="rect">
            <a:avLst/>
          </a:prstGeom>
          <a:solidFill>
            <a:srgbClr val="8564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91072" y="3200400"/>
            <a:ext cx="2011679" cy="228600"/>
          </a:xfrm>
          <a:prstGeom prst="rect">
            <a:avLst/>
          </a:prstGeom>
          <a:noFill/>
        </p:spPr>
        <p:txBody>
          <a:bodyPr wrap="none" lIns="73152" rIns="73152" tIns="36576" bIns="36576" anchor="t">
            <a:spAutoFit/>
          </a:bodyPr>
          <a:lstStyle/>
          <a:p>
            <a:r>
              <a:rPr sz="1200" b="1">
                <a:solidFill>
                  <a:srgbClr val="1E3A8A"/>
                </a:solidFill>
                <a:latin typeface="Pretendard"/>
              </a:rPr>
              <a:t>진단 로그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91072" y="3502152"/>
            <a:ext cx="2011679" cy="457200"/>
          </a:xfrm>
          <a:prstGeom prst="rect">
            <a:avLst/>
          </a:prstGeom>
          <a:noFill/>
        </p:spPr>
        <p:txBody>
          <a:bodyPr wrap="none" lIns="73152" rIns="73152" tIns="36576" bIns="36576" anchor="t">
            <a:spAutoFit/>
          </a:bodyPr>
          <a:lstStyle/>
          <a:p>
            <a:r>
              <a:rPr sz="950" b="0">
                <a:solidFill>
                  <a:srgbClr val="343A40"/>
                </a:solidFill>
                <a:latin typeface="Pretendard"/>
              </a:rPr>
              <a:t>인쇄 요청·결과 확인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0" y="4498848"/>
            <a:ext cx="1737360" cy="182880"/>
          </a:xfrm>
          <a:prstGeom prst="rect">
            <a:avLst/>
          </a:prstGeom>
          <a:noFill/>
        </p:spPr>
        <p:txBody>
          <a:bodyPr wrap="none" lIns="73152" rIns="73152" tIns="36576" bIns="36576" anchor="t">
            <a:spAutoFit/>
          </a:bodyPr>
          <a:lstStyle/>
          <a:p>
            <a:pPr algn="r"/>
            <a:r>
              <a:rPr sz="800" b="0">
                <a:solidFill>
                  <a:srgbClr val="6C757D"/>
                </a:solidFill>
                <a:latin typeface="Pretendard"/>
              </a:rPr>
              <a:t>FONT  Pretendard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3B5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1280160" cy="228600"/>
          </a:xfrm>
          <a:prstGeom prst="rect">
            <a:avLst/>
          </a:prstGeom>
          <a:noFill/>
        </p:spPr>
        <p:txBody>
          <a:bodyPr wrap="none" lIns="73152" rIns="73152" tIns="36576" bIns="36576" anchor="t">
            <a:spAutoFit/>
          </a:bodyPr>
          <a:lstStyle/>
          <a:p>
            <a:r>
              <a:rPr sz="900" b="1">
                <a:solidFill>
                  <a:srgbClr val="3B5BDB"/>
                </a:solidFill>
                <a:latin typeface="Pretendard"/>
              </a:rPr>
              <a:t>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30352"/>
            <a:ext cx="6217920" cy="411480"/>
          </a:xfrm>
          <a:prstGeom prst="rect">
            <a:avLst/>
          </a:prstGeom>
          <a:noFill/>
        </p:spPr>
        <p:txBody>
          <a:bodyPr wrap="none" lIns="73152" rIns="73152" tIns="36576" bIns="36576" anchor="t">
            <a:spAutoFit/>
          </a:bodyPr>
          <a:lstStyle/>
          <a:p>
            <a:r>
              <a:rPr sz="2200" b="1">
                <a:solidFill>
                  <a:srgbClr val="1E3A8A"/>
                </a:solidFill>
                <a:latin typeface="Pretendard"/>
              </a:rPr>
              <a:t>전체 작업 흐름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932688"/>
            <a:ext cx="7680960" cy="320040"/>
          </a:xfrm>
          <a:prstGeom prst="rect">
            <a:avLst/>
          </a:prstGeom>
          <a:noFill/>
        </p:spPr>
        <p:txBody>
          <a:bodyPr wrap="none" lIns="73152" rIns="73152" tIns="36576" bIns="36576" anchor="t">
            <a:spAutoFit/>
          </a:bodyPr>
          <a:lstStyle/>
          <a:p>
            <a:r>
              <a:rPr sz="1050" b="0">
                <a:solidFill>
                  <a:srgbClr val="6C757D"/>
                </a:solidFill>
                <a:latin typeface="Pretendard"/>
              </a:rPr>
              <a:t>탭1에서 주문을 수집하고, 필요 파일을 생성한 뒤 탭2에서 송장/발송 상태를 처리합니다.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417320"/>
            <a:ext cx="384048" cy="292608"/>
          </a:xfrm>
          <a:prstGeom prst="roundRect">
            <a:avLst/>
          </a:prstGeom>
          <a:solidFill>
            <a:srgbClr val="3B5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39496" y="1467612"/>
            <a:ext cx="310896" cy="182880"/>
          </a:xfrm>
          <a:prstGeom prst="rect">
            <a:avLst/>
          </a:prstGeom>
          <a:noFill/>
        </p:spPr>
        <p:txBody>
          <a:bodyPr wrap="none" lIns="73152" rIns="73152" tIns="36576" bIns="36576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847088"/>
            <a:ext cx="1417320" cy="132588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E0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1847088"/>
            <a:ext cx="54864" cy="1325880"/>
          </a:xfrm>
          <a:prstGeom prst="rect">
            <a:avLst/>
          </a:prstGeom>
          <a:solidFill>
            <a:srgbClr val="3B5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2" y="1984248"/>
            <a:ext cx="1097280" cy="228600"/>
          </a:xfrm>
          <a:prstGeom prst="rect">
            <a:avLst/>
          </a:prstGeom>
          <a:noFill/>
        </p:spPr>
        <p:txBody>
          <a:bodyPr wrap="none" lIns="73152" rIns="73152" tIns="36576" bIns="36576" anchor="t">
            <a:spAutoFit/>
          </a:bodyPr>
          <a:lstStyle/>
          <a:p>
            <a:r>
              <a:rPr sz="1200" b="1">
                <a:solidFill>
                  <a:srgbClr val="1E3A8A"/>
                </a:solidFill>
                <a:latin typeface="Pretendard"/>
              </a:rPr>
              <a:t>조회 조건 설정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" y="2286000"/>
            <a:ext cx="1097280" cy="822959"/>
          </a:xfrm>
          <a:prstGeom prst="rect">
            <a:avLst/>
          </a:prstGeom>
          <a:noFill/>
        </p:spPr>
        <p:txBody>
          <a:bodyPr wrap="none" lIns="73152" rIns="73152" tIns="36576" bIns="36576" anchor="t">
            <a:spAutoFit/>
          </a:bodyPr>
          <a:lstStyle/>
          <a:p>
            <a:r>
              <a:rPr sz="950" b="0">
                <a:solidFill>
                  <a:srgbClr val="343A40"/>
                </a:solidFill>
                <a:latin typeface="Pretendard"/>
              </a:rPr>
              <a:t>기간 · 상태 · 한의원 · 검색대상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01952" y="2331720"/>
            <a:ext cx="274320" cy="228600"/>
          </a:xfrm>
          <a:prstGeom prst="rect">
            <a:avLst/>
          </a:prstGeom>
          <a:noFill/>
        </p:spPr>
        <p:txBody>
          <a:bodyPr wrap="none" lIns="73152" rIns="73152" tIns="36576" bIns="36576" anchor="t">
            <a:spAutoFit/>
          </a:bodyPr>
          <a:lstStyle/>
          <a:p>
            <a:pPr algn="ctr"/>
            <a:r>
              <a:rPr sz="1600" b="1">
                <a:solidFill>
                  <a:srgbClr val="6C757D"/>
                </a:solidFill>
                <a:latin typeface="Pretendard"/>
              </a:rPr>
              <a:t>&gt;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221991" y="1417320"/>
            <a:ext cx="384048" cy="292608"/>
          </a:xfrm>
          <a:prstGeom prst="roundRect">
            <a:avLst/>
          </a:prstGeom>
          <a:solidFill>
            <a:srgbClr val="3B5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258568" y="1467612"/>
            <a:ext cx="310896" cy="182880"/>
          </a:xfrm>
          <a:prstGeom prst="rect">
            <a:avLst/>
          </a:prstGeom>
          <a:noFill/>
        </p:spPr>
        <p:txBody>
          <a:bodyPr wrap="none" lIns="73152" rIns="73152" tIns="36576" bIns="36576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221991" y="1847088"/>
            <a:ext cx="1417320" cy="132588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E0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221991" y="1847088"/>
            <a:ext cx="54864" cy="1325880"/>
          </a:xfrm>
          <a:prstGeom prst="rect">
            <a:avLst/>
          </a:prstGeom>
          <a:solidFill>
            <a:srgbClr val="3B5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386584" y="1984248"/>
            <a:ext cx="1097280" cy="228600"/>
          </a:xfrm>
          <a:prstGeom prst="rect">
            <a:avLst/>
          </a:prstGeom>
          <a:noFill/>
        </p:spPr>
        <p:txBody>
          <a:bodyPr wrap="none" lIns="73152" rIns="73152" tIns="36576" bIns="36576" anchor="t">
            <a:spAutoFit/>
          </a:bodyPr>
          <a:lstStyle/>
          <a:p>
            <a:r>
              <a:rPr sz="1200" b="1">
                <a:solidFill>
                  <a:srgbClr val="1E3A8A"/>
                </a:solidFill>
                <a:latin typeface="Pretendard"/>
              </a:rPr>
              <a:t>파일 생성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86584" y="2286000"/>
            <a:ext cx="1097280" cy="822959"/>
          </a:xfrm>
          <a:prstGeom prst="rect">
            <a:avLst/>
          </a:prstGeom>
          <a:noFill/>
        </p:spPr>
        <p:txBody>
          <a:bodyPr wrap="none" lIns="73152" rIns="73152" tIns="36576" bIns="36576" anchor="t">
            <a:spAutoFit/>
          </a:bodyPr>
          <a:lstStyle/>
          <a:p>
            <a:r>
              <a:rPr sz="950" b="0">
                <a:solidFill>
                  <a:srgbClr val="343A40"/>
                </a:solidFill>
                <a:latin typeface="Pretendard"/>
              </a:rPr>
              <a:t>주문 엑셀 · CJ 업로드 · 라벨 엑셀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21024" y="2331720"/>
            <a:ext cx="274320" cy="228600"/>
          </a:xfrm>
          <a:prstGeom prst="rect">
            <a:avLst/>
          </a:prstGeom>
          <a:noFill/>
        </p:spPr>
        <p:txBody>
          <a:bodyPr wrap="none" lIns="73152" rIns="73152" tIns="36576" bIns="36576" anchor="t">
            <a:spAutoFit/>
          </a:bodyPr>
          <a:lstStyle/>
          <a:p>
            <a:pPr algn="ctr"/>
            <a:r>
              <a:rPr sz="1600" b="1">
                <a:solidFill>
                  <a:srgbClr val="6C757D"/>
                </a:solidFill>
                <a:latin typeface="Pretendard"/>
              </a:rPr>
              <a:t>&gt;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941063" y="1417320"/>
            <a:ext cx="384048" cy="292608"/>
          </a:xfrm>
          <a:prstGeom prst="roundRect">
            <a:avLst/>
          </a:prstGeom>
          <a:solidFill>
            <a:srgbClr val="3B5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977639" y="1467612"/>
            <a:ext cx="310896" cy="182880"/>
          </a:xfrm>
          <a:prstGeom prst="rect">
            <a:avLst/>
          </a:prstGeom>
          <a:noFill/>
        </p:spPr>
        <p:txBody>
          <a:bodyPr wrap="none" lIns="73152" rIns="73152" tIns="36576" bIns="36576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Pretendard"/>
              </a:rPr>
              <a:t>3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941063" y="1847088"/>
            <a:ext cx="1417320" cy="132588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E0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941063" y="1847088"/>
            <a:ext cx="54864" cy="1325880"/>
          </a:xfrm>
          <a:prstGeom prst="rect">
            <a:avLst/>
          </a:prstGeom>
          <a:solidFill>
            <a:srgbClr val="2F85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105655" y="1984248"/>
            <a:ext cx="1097280" cy="228600"/>
          </a:xfrm>
          <a:prstGeom prst="rect">
            <a:avLst/>
          </a:prstGeom>
          <a:noFill/>
        </p:spPr>
        <p:txBody>
          <a:bodyPr wrap="none" lIns="73152" rIns="73152" tIns="36576" bIns="36576" anchor="t">
            <a:spAutoFit/>
          </a:bodyPr>
          <a:lstStyle/>
          <a:p>
            <a:r>
              <a:rPr sz="1200" b="1">
                <a:solidFill>
                  <a:srgbClr val="1E3A8A"/>
                </a:solidFill>
                <a:latin typeface="Pretendard"/>
              </a:rPr>
              <a:t>자동 전환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05655" y="2286000"/>
            <a:ext cx="1097280" cy="822959"/>
          </a:xfrm>
          <a:prstGeom prst="rect">
            <a:avLst/>
          </a:prstGeom>
          <a:noFill/>
        </p:spPr>
        <p:txBody>
          <a:bodyPr wrap="none" lIns="73152" rIns="73152" tIns="36576" bIns="36576" anchor="t">
            <a:spAutoFit/>
          </a:bodyPr>
          <a:lstStyle/>
          <a:p>
            <a:r>
              <a:rPr sz="950" b="0">
                <a:solidFill>
                  <a:srgbClr val="343A40"/>
                </a:solidFill>
                <a:latin typeface="Pretendard"/>
              </a:rPr>
              <a:t>입원건 입금대기 · 취소요청 환불취소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40096" y="2331720"/>
            <a:ext cx="274320" cy="228600"/>
          </a:xfrm>
          <a:prstGeom prst="rect">
            <a:avLst/>
          </a:prstGeom>
          <a:noFill/>
        </p:spPr>
        <p:txBody>
          <a:bodyPr wrap="none" lIns="73152" rIns="73152" tIns="36576" bIns="36576" anchor="t">
            <a:spAutoFit/>
          </a:bodyPr>
          <a:lstStyle/>
          <a:p>
            <a:pPr algn="ctr"/>
            <a:r>
              <a:rPr sz="1600" b="1">
                <a:solidFill>
                  <a:srgbClr val="6C757D"/>
                </a:solidFill>
                <a:latin typeface="Pretendard"/>
              </a:rPr>
              <a:t>&gt;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0136" y="1417320"/>
            <a:ext cx="384048" cy="292608"/>
          </a:xfrm>
          <a:prstGeom prst="roundRect">
            <a:avLst/>
          </a:prstGeom>
          <a:solidFill>
            <a:srgbClr val="3B5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696712" y="1467612"/>
            <a:ext cx="310896" cy="182880"/>
          </a:xfrm>
          <a:prstGeom prst="rect">
            <a:avLst/>
          </a:prstGeom>
          <a:noFill/>
        </p:spPr>
        <p:txBody>
          <a:bodyPr wrap="none" lIns="73152" rIns="73152" tIns="36576" bIns="36576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Pretendard"/>
              </a:rPr>
              <a:t>4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660136" y="1847088"/>
            <a:ext cx="1417320" cy="132588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E0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660136" y="1847088"/>
            <a:ext cx="54864" cy="1325880"/>
          </a:xfrm>
          <a:prstGeom prst="rect">
            <a:avLst/>
          </a:prstGeom>
          <a:solidFill>
            <a:srgbClr val="2F85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824727" y="1984248"/>
            <a:ext cx="1097280" cy="228600"/>
          </a:xfrm>
          <a:prstGeom prst="rect">
            <a:avLst/>
          </a:prstGeom>
          <a:noFill/>
        </p:spPr>
        <p:txBody>
          <a:bodyPr wrap="none" lIns="73152" rIns="73152" tIns="36576" bIns="36576" anchor="t">
            <a:spAutoFit/>
          </a:bodyPr>
          <a:lstStyle/>
          <a:p>
            <a:r>
              <a:rPr sz="1200" b="1">
                <a:solidFill>
                  <a:srgbClr val="1E3A8A"/>
                </a:solidFill>
                <a:latin typeface="Pretendard"/>
              </a:rPr>
              <a:t>출력/저장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824727" y="2286000"/>
            <a:ext cx="1097280" cy="822959"/>
          </a:xfrm>
          <a:prstGeom prst="rect">
            <a:avLst/>
          </a:prstGeom>
          <a:noFill/>
        </p:spPr>
        <p:txBody>
          <a:bodyPr wrap="none" lIns="73152" rIns="73152" tIns="36576" bIns="36576" anchor="t">
            <a:spAutoFit/>
          </a:bodyPr>
          <a:lstStyle/>
          <a:p>
            <a:r>
              <a:rPr sz="950" b="0">
                <a:solidFill>
                  <a:srgbClr val="343A40"/>
                </a:solidFill>
                <a:latin typeface="Pretendard"/>
              </a:rPr>
              <a:t>주문내역서 PDF · 인쇄 요청 로그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059168" y="2331720"/>
            <a:ext cx="274320" cy="228600"/>
          </a:xfrm>
          <a:prstGeom prst="rect">
            <a:avLst/>
          </a:prstGeom>
          <a:noFill/>
        </p:spPr>
        <p:txBody>
          <a:bodyPr wrap="none" lIns="73152" rIns="73152" tIns="36576" bIns="36576" anchor="t">
            <a:spAutoFit/>
          </a:bodyPr>
          <a:lstStyle/>
          <a:p>
            <a:pPr algn="ctr"/>
            <a:r>
              <a:rPr sz="1600" b="1">
                <a:solidFill>
                  <a:srgbClr val="6C757D"/>
                </a:solidFill>
                <a:latin typeface="Pretendard"/>
              </a:rPr>
              <a:t>&gt;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379208" y="1417320"/>
            <a:ext cx="384048" cy="292608"/>
          </a:xfrm>
          <a:prstGeom prst="roundRect">
            <a:avLst/>
          </a:prstGeom>
          <a:solidFill>
            <a:srgbClr val="3B5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415783" y="1467612"/>
            <a:ext cx="310896" cy="182880"/>
          </a:xfrm>
          <a:prstGeom prst="rect">
            <a:avLst/>
          </a:prstGeom>
          <a:noFill/>
        </p:spPr>
        <p:txBody>
          <a:bodyPr wrap="none" lIns="73152" rIns="73152" tIns="36576" bIns="36576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Pretendard"/>
              </a:rPr>
              <a:t>5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379208" y="1847088"/>
            <a:ext cx="1417320" cy="132588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E0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379208" y="1847088"/>
            <a:ext cx="54864" cy="1325880"/>
          </a:xfrm>
          <a:prstGeom prst="rect">
            <a:avLst/>
          </a:prstGeom>
          <a:solidFill>
            <a:srgbClr val="8564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543800" y="1984248"/>
            <a:ext cx="1097280" cy="228600"/>
          </a:xfrm>
          <a:prstGeom prst="rect">
            <a:avLst/>
          </a:prstGeom>
          <a:noFill/>
        </p:spPr>
        <p:txBody>
          <a:bodyPr wrap="none" lIns="73152" rIns="73152" tIns="36576" bIns="36576" anchor="t">
            <a:spAutoFit/>
          </a:bodyPr>
          <a:lstStyle/>
          <a:p>
            <a:r>
              <a:rPr sz="1200" b="1">
                <a:solidFill>
                  <a:srgbClr val="1E3A8A"/>
                </a:solidFill>
                <a:latin typeface="Pretendard"/>
              </a:rPr>
              <a:t>발송처리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543800" y="2286000"/>
            <a:ext cx="1097280" cy="822959"/>
          </a:xfrm>
          <a:prstGeom prst="rect">
            <a:avLst/>
          </a:prstGeom>
          <a:noFill/>
        </p:spPr>
        <p:txBody>
          <a:bodyPr wrap="none" lIns="73152" rIns="73152" tIns="36576" bIns="36576" anchor="t">
            <a:spAutoFit/>
          </a:bodyPr>
          <a:lstStyle/>
          <a:p>
            <a:r>
              <a:rPr sz="950" b="0">
                <a:solidFill>
                  <a:srgbClr val="343A40"/>
                </a:solidFill>
                <a:latin typeface="Pretendard"/>
              </a:rPr>
              <a:t>대한통운 송장 입력 · 벌크 처리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0080" y="4160520"/>
            <a:ext cx="7863840" cy="329184"/>
          </a:xfrm>
          <a:prstGeom prst="rect">
            <a:avLst/>
          </a:prstGeom>
          <a:noFill/>
        </p:spPr>
        <p:txBody>
          <a:bodyPr wrap="none" lIns="73152" rIns="73152" tIns="36576" bIns="36576" anchor="t">
            <a:spAutoFit/>
          </a:bodyPr>
          <a:lstStyle/>
          <a:p>
            <a:r>
              <a:rPr sz="1100" b="0">
                <a:solidFill>
                  <a:srgbClr val="343A40"/>
                </a:solidFill>
                <a:latin typeface="Pretendard"/>
              </a:rPr>
              <a:t>기본값은 자주 쓰는 조합으로 맞춰져 있어, 보통은 기간과 필터만 확인하고 실행하면 됩니다.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3B5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1280160" cy="228600"/>
          </a:xfrm>
          <a:prstGeom prst="rect">
            <a:avLst/>
          </a:prstGeom>
          <a:noFill/>
        </p:spPr>
        <p:txBody>
          <a:bodyPr wrap="none" lIns="73152" rIns="73152" tIns="36576" bIns="36576" anchor="t">
            <a:spAutoFit/>
          </a:bodyPr>
          <a:lstStyle/>
          <a:p>
            <a:r>
              <a:rPr sz="900" b="1">
                <a:solidFill>
                  <a:srgbClr val="3B5BDB"/>
                </a:solidFill>
                <a:latin typeface="Pretendard"/>
              </a:rPr>
              <a:t>Tab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30352"/>
            <a:ext cx="6217920" cy="411480"/>
          </a:xfrm>
          <a:prstGeom prst="rect">
            <a:avLst/>
          </a:prstGeom>
          <a:noFill/>
        </p:spPr>
        <p:txBody>
          <a:bodyPr wrap="none" lIns="73152" rIns="73152" tIns="36576" bIns="36576" anchor="t">
            <a:spAutoFit/>
          </a:bodyPr>
          <a:lstStyle/>
          <a:p>
            <a:r>
              <a:rPr sz="2200" b="1">
                <a:solidFill>
                  <a:srgbClr val="1E3A8A"/>
                </a:solidFill>
                <a:latin typeface="Pretendard"/>
              </a:rPr>
              <a:t>조회 조건과 상태 선택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932688"/>
            <a:ext cx="7680960" cy="320040"/>
          </a:xfrm>
          <a:prstGeom prst="rect">
            <a:avLst/>
          </a:prstGeom>
          <a:noFill/>
        </p:spPr>
        <p:txBody>
          <a:bodyPr wrap="none" lIns="73152" rIns="73152" tIns="36576" bIns="36576" anchor="t">
            <a:spAutoFit/>
          </a:bodyPr>
          <a:lstStyle/>
          <a:p>
            <a:r>
              <a:rPr sz="1050" b="0">
                <a:solidFill>
                  <a:srgbClr val="6C757D"/>
                </a:solidFill>
                <a:latin typeface="Pretendard"/>
              </a:rPr>
              <a:t>날짜 범위를 정하고, 필요한 진행상태만 선택해서 주문을 수집합니다.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234440"/>
            <a:ext cx="3886200" cy="1874519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E0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234440"/>
            <a:ext cx="54864" cy="1874519"/>
          </a:xfrm>
          <a:prstGeom prst="rect">
            <a:avLst/>
          </a:prstGeom>
          <a:solidFill>
            <a:srgbClr val="3B5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" y="1371600"/>
            <a:ext cx="3566160" cy="228600"/>
          </a:xfrm>
          <a:prstGeom prst="rect">
            <a:avLst/>
          </a:prstGeom>
          <a:noFill/>
        </p:spPr>
        <p:txBody>
          <a:bodyPr wrap="none" lIns="73152" rIns="73152" tIns="36576" bIns="36576" anchor="t">
            <a:spAutoFit/>
          </a:bodyPr>
          <a:lstStyle/>
          <a:p>
            <a:r>
              <a:rPr sz="1200" b="1">
                <a:solidFill>
                  <a:srgbClr val="1E3A8A"/>
                </a:solidFill>
                <a:latin typeface="Pretendard"/>
              </a:rPr>
              <a:t>조회 기간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" y="1709928"/>
            <a:ext cx="3474720" cy="292608"/>
          </a:xfrm>
          <a:prstGeom prst="rect">
            <a:avLst/>
          </a:prstGeom>
          <a:noFill/>
        </p:spPr>
        <p:txBody>
          <a:bodyPr wrap="none" lIns="73152" rIns="73152" tIns="36576" bIns="36576" anchor="t">
            <a:spAutoFit/>
          </a:bodyPr>
          <a:lstStyle/>
          <a:p>
            <a:r>
              <a:rPr sz="950" b="0">
                <a:solidFill>
                  <a:srgbClr val="343A40"/>
                </a:solidFill>
                <a:latin typeface="Pretendard"/>
              </a:rPr>
              <a:t>- 시작/종료 날짜와 시간을 입력할 수 있습니다.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" y="2057400"/>
            <a:ext cx="3474720" cy="292608"/>
          </a:xfrm>
          <a:prstGeom prst="rect">
            <a:avLst/>
          </a:prstGeom>
          <a:noFill/>
        </p:spPr>
        <p:txBody>
          <a:bodyPr wrap="none" lIns="73152" rIns="73152" tIns="36576" bIns="36576" anchor="t">
            <a:spAutoFit/>
          </a:bodyPr>
          <a:lstStyle/>
          <a:p>
            <a:r>
              <a:rPr sz="950" b="0">
                <a:solidFill>
                  <a:srgbClr val="343A40"/>
                </a:solidFill>
                <a:latin typeface="Pretendard"/>
              </a:rPr>
              <a:t>- 빠른 버튼: 오늘, 어제, 이번달, 저번달, 올해, 작년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8952" y="2404872"/>
            <a:ext cx="3474720" cy="292608"/>
          </a:xfrm>
          <a:prstGeom prst="rect">
            <a:avLst/>
          </a:prstGeom>
          <a:noFill/>
        </p:spPr>
        <p:txBody>
          <a:bodyPr wrap="none" lIns="73152" rIns="73152" tIns="36576" bIns="36576" anchor="t">
            <a:spAutoFit/>
          </a:bodyPr>
          <a:lstStyle/>
          <a:p>
            <a:r>
              <a:rPr sz="950" b="0">
                <a:solidFill>
                  <a:srgbClr val="343A40"/>
                </a:solidFill>
                <a:latin typeface="Pretendard"/>
              </a:rPr>
              <a:t>- 기간을 비우면 전체조회 확인창이 뜹니다.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709160" y="1234440"/>
            <a:ext cx="3886200" cy="1874519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E0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709160" y="1234440"/>
            <a:ext cx="54864" cy="1874519"/>
          </a:xfrm>
          <a:prstGeom prst="rect">
            <a:avLst/>
          </a:prstGeom>
          <a:solidFill>
            <a:srgbClr val="2F85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73752" y="1371600"/>
            <a:ext cx="3566160" cy="228600"/>
          </a:xfrm>
          <a:prstGeom prst="rect">
            <a:avLst/>
          </a:prstGeom>
          <a:noFill/>
        </p:spPr>
        <p:txBody>
          <a:bodyPr wrap="none" lIns="73152" rIns="73152" tIns="36576" bIns="36576" anchor="t">
            <a:spAutoFit/>
          </a:bodyPr>
          <a:lstStyle/>
          <a:p>
            <a:r>
              <a:rPr sz="1200" b="1">
                <a:solidFill>
                  <a:srgbClr val="1E3A8A"/>
                </a:solidFill>
                <a:latin typeface="Pretendard"/>
              </a:rPr>
              <a:t>진행상태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65192" y="1709928"/>
            <a:ext cx="3474720" cy="292608"/>
          </a:xfrm>
          <a:prstGeom prst="rect">
            <a:avLst/>
          </a:prstGeom>
          <a:noFill/>
        </p:spPr>
        <p:txBody>
          <a:bodyPr wrap="none" lIns="73152" rIns="73152" tIns="36576" bIns="36576" anchor="t">
            <a:spAutoFit/>
          </a:bodyPr>
          <a:lstStyle/>
          <a:p>
            <a:r>
              <a:rPr sz="950" b="0">
                <a:solidFill>
                  <a:srgbClr val="343A40"/>
                </a:solidFill>
                <a:latin typeface="Pretendard"/>
              </a:rPr>
              <a:t>- 접수대기, 입금대기, 조제중, 탕전중 등 선택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65192" y="2057400"/>
            <a:ext cx="3474720" cy="292608"/>
          </a:xfrm>
          <a:prstGeom prst="rect">
            <a:avLst/>
          </a:prstGeom>
          <a:noFill/>
        </p:spPr>
        <p:txBody>
          <a:bodyPr wrap="none" lIns="73152" rIns="73152" tIns="36576" bIns="36576" anchor="t">
            <a:spAutoFit/>
          </a:bodyPr>
          <a:lstStyle/>
          <a:p>
            <a:r>
              <a:rPr sz="950" b="0">
                <a:solidFill>
                  <a:srgbClr val="343A40"/>
                </a:solidFill>
                <a:latin typeface="Pretendard"/>
              </a:rPr>
              <a:t>- 전체 상태 선택 시 여러 상태를 한 번에 훑습니다.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65192" y="2404872"/>
            <a:ext cx="3474720" cy="292608"/>
          </a:xfrm>
          <a:prstGeom prst="rect">
            <a:avLst/>
          </a:prstGeom>
          <a:noFill/>
        </p:spPr>
        <p:txBody>
          <a:bodyPr wrap="none" lIns="73152" rIns="73152" tIns="36576" bIns="36576" anchor="t">
            <a:spAutoFit/>
          </a:bodyPr>
          <a:lstStyle/>
          <a:p>
            <a:r>
              <a:rPr sz="950" b="0">
                <a:solidFill>
                  <a:srgbClr val="343A40"/>
                </a:solidFill>
                <a:latin typeface="Pretendard"/>
              </a:rPr>
              <a:t>- 테스트 옵션에서 최대 페이지/건수를 제한할 수 있습니다.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3456432"/>
            <a:ext cx="8092440" cy="786384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E0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02920" y="3456432"/>
            <a:ext cx="54864" cy="786384"/>
          </a:xfrm>
          <a:prstGeom prst="rect">
            <a:avLst/>
          </a:prstGeom>
          <a:solidFill>
            <a:srgbClr val="8564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7512" y="3593591"/>
            <a:ext cx="7772400" cy="228600"/>
          </a:xfrm>
          <a:prstGeom prst="rect">
            <a:avLst/>
          </a:prstGeom>
          <a:noFill/>
        </p:spPr>
        <p:txBody>
          <a:bodyPr wrap="none" lIns="73152" rIns="73152" tIns="36576" bIns="36576" anchor="t">
            <a:spAutoFit/>
          </a:bodyPr>
          <a:lstStyle/>
          <a:p>
            <a:r>
              <a:rPr sz="1200" b="1">
                <a:solidFill>
                  <a:srgbClr val="1E3A8A"/>
                </a:solidFill>
                <a:latin typeface="Pretendard"/>
              </a:rPr>
              <a:t>주의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7512" y="3895344"/>
            <a:ext cx="7772400" cy="283463"/>
          </a:xfrm>
          <a:prstGeom prst="rect">
            <a:avLst/>
          </a:prstGeom>
          <a:noFill/>
        </p:spPr>
        <p:txBody>
          <a:bodyPr wrap="none" lIns="73152" rIns="73152" tIns="36576" bIns="36576" anchor="t">
            <a:spAutoFit/>
          </a:bodyPr>
          <a:lstStyle/>
          <a:p>
            <a:r>
              <a:rPr sz="950" b="0">
                <a:solidFill>
                  <a:srgbClr val="343A40"/>
                </a:solidFill>
                <a:latin typeface="Pretendard"/>
              </a:rPr>
              <a:t>조회 기간이 넓으면 사이트 페이지를 많이 돌기 때문에 시간이 걸릴 수 있습니다. 처음 확인할 때는 테스트 옵션으로 건수를 줄여보세요.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3B5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1280160" cy="228600"/>
          </a:xfrm>
          <a:prstGeom prst="rect">
            <a:avLst/>
          </a:prstGeom>
          <a:noFill/>
        </p:spPr>
        <p:txBody>
          <a:bodyPr wrap="none" lIns="73152" rIns="73152" tIns="36576" bIns="36576" anchor="t">
            <a:spAutoFit/>
          </a:bodyPr>
          <a:lstStyle/>
          <a:p>
            <a:r>
              <a:rPr sz="900" b="1">
                <a:solidFill>
                  <a:srgbClr val="3B5BDB"/>
                </a:solidFill>
                <a:latin typeface="Pretendard"/>
              </a:rPr>
              <a:t>Tab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30352"/>
            <a:ext cx="6217920" cy="411480"/>
          </a:xfrm>
          <a:prstGeom prst="rect">
            <a:avLst/>
          </a:prstGeom>
          <a:noFill/>
        </p:spPr>
        <p:txBody>
          <a:bodyPr wrap="none" lIns="73152" rIns="73152" tIns="36576" bIns="36576" anchor="t">
            <a:spAutoFit/>
          </a:bodyPr>
          <a:lstStyle/>
          <a:p>
            <a:r>
              <a:rPr sz="2200" b="1">
                <a:solidFill>
                  <a:srgbClr val="1E3A8A"/>
                </a:solidFill>
                <a:latin typeface="Pretendard"/>
              </a:rPr>
              <a:t>필터 사용법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932688"/>
            <a:ext cx="7680960" cy="320040"/>
          </a:xfrm>
          <a:prstGeom prst="rect">
            <a:avLst/>
          </a:prstGeom>
          <a:noFill/>
        </p:spPr>
        <p:txBody>
          <a:bodyPr wrap="none" lIns="73152" rIns="73152" tIns="36576" bIns="36576" anchor="t">
            <a:spAutoFit/>
          </a:bodyPr>
          <a:lstStyle/>
          <a:p>
            <a:r>
              <a:rPr sz="1050" b="0">
                <a:solidFill>
                  <a:srgbClr val="6C757D"/>
                </a:solidFill>
                <a:latin typeface="Pretendard"/>
              </a:rPr>
              <a:t>한의원 필터와 이름 검색 필터를 조합해서 필요한 주문만 수집합니다.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234440"/>
          <a:ext cx="8046719" cy="1234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3017520"/>
                <a:gridCol w="3749039"/>
              </a:tblGrid>
              <a:tr h="30861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Pretendard"/>
                        </a:rPr>
                        <a:t>필터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Pretendard"/>
                        </a:rPr>
                        <a:t>사용 방법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Pretendard"/>
                        </a:rPr>
                        <a:t>비고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</a:tr>
              <a:tr h="308610">
                <a:tc>
                  <a:txBody>
                    <a:bodyPr/>
                    <a:lstStyle/>
                    <a:p>
                      <a:pPr algn="ctr"/>
                      <a:r>
                        <a:rPr sz="830">
                          <a:solidFill>
                            <a:srgbClr val="343A40"/>
                          </a:solidFill>
                          <a:latin typeface="Pretendard"/>
                        </a:rPr>
                        <a:t>한의원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30">
                          <a:solidFill>
                            <a:srgbClr val="343A40"/>
                          </a:solidFill>
                          <a:latin typeface="Pretendard"/>
                        </a:rPr>
                        <a:t>목록 선택 또는 직접 입력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30">
                          <a:solidFill>
                            <a:srgbClr val="343A40"/>
                          </a:solidFill>
                          <a:latin typeface="Pretendard"/>
                        </a:rPr>
                        <a:t>고래한방은 지점별 프리셋 제공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8610">
                <a:tc>
                  <a:txBody>
                    <a:bodyPr/>
                    <a:lstStyle/>
                    <a:p>
                      <a:pPr algn="ctr"/>
                      <a:r>
                        <a:rPr sz="830">
                          <a:solidFill>
                            <a:srgbClr val="343A40"/>
                          </a:solidFill>
                          <a:latin typeface="Pretendard"/>
                        </a:rPr>
                        <a:t>검색대상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30">
                          <a:solidFill>
                            <a:srgbClr val="343A40"/>
                          </a:solidFill>
                          <a:latin typeface="Pretendard"/>
                        </a:rPr>
                        <a:t>주문자명 / 환자명(복용자) / 주문자명+환자명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30">
                          <a:solidFill>
                            <a:srgbClr val="343A40"/>
                          </a:solidFill>
                          <a:latin typeface="Pretendard"/>
                        </a:rPr>
                        <a:t>v12.49부터 콤보 선택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</a:tr>
              <a:tr h="308610">
                <a:tc>
                  <a:txBody>
                    <a:bodyPr/>
                    <a:lstStyle/>
                    <a:p>
                      <a:pPr algn="ctr"/>
                      <a:r>
                        <a:rPr sz="830">
                          <a:solidFill>
                            <a:srgbClr val="343A40"/>
                          </a:solidFill>
                          <a:latin typeface="Pretendard"/>
                        </a:rPr>
                        <a:t>검색어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30">
                          <a:solidFill>
                            <a:srgbClr val="343A40"/>
                          </a:solidFill>
                          <a:latin typeface="Pretendard"/>
                        </a:rPr>
                        <a:t>콤마로 여러 키워드 입력 가능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30">
                          <a:solidFill>
                            <a:srgbClr val="343A40"/>
                          </a:solidFill>
                          <a:latin typeface="Pretendard"/>
                        </a:rPr>
                        <a:t>예: 홍길동, 김철수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548640" y="2880360"/>
            <a:ext cx="3886200" cy="164592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E0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880360"/>
            <a:ext cx="54864" cy="1645920"/>
          </a:xfrm>
          <a:prstGeom prst="rect">
            <a:avLst/>
          </a:prstGeom>
          <a:solidFill>
            <a:srgbClr val="3B5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" y="3017520"/>
            <a:ext cx="3566160" cy="228600"/>
          </a:xfrm>
          <a:prstGeom prst="rect">
            <a:avLst/>
          </a:prstGeom>
          <a:noFill/>
        </p:spPr>
        <p:txBody>
          <a:bodyPr wrap="none" lIns="73152" rIns="73152" tIns="36576" bIns="36576" anchor="t">
            <a:spAutoFit/>
          </a:bodyPr>
          <a:lstStyle/>
          <a:p>
            <a:r>
              <a:rPr sz="1200" b="1">
                <a:solidFill>
                  <a:srgbClr val="1E3A8A"/>
                </a:solidFill>
                <a:latin typeface="Pretendard"/>
              </a:rPr>
              <a:t>고래한방 지점 분류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3355848"/>
            <a:ext cx="3474720" cy="292608"/>
          </a:xfrm>
          <a:prstGeom prst="rect">
            <a:avLst/>
          </a:prstGeom>
          <a:noFill/>
        </p:spPr>
        <p:txBody>
          <a:bodyPr wrap="none" lIns="73152" rIns="73152" tIns="36576" bIns="36576" anchor="t">
            <a:spAutoFit/>
          </a:bodyPr>
          <a:lstStyle/>
          <a:p>
            <a:r>
              <a:rPr sz="950" b="0">
                <a:solidFill>
                  <a:srgbClr val="343A40"/>
                </a:solidFill>
                <a:latin typeface="Pretendard"/>
              </a:rPr>
              <a:t>- 사이트명은 고래한방병원으로 같아도 괜찮습니다.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" y="3703320"/>
            <a:ext cx="3474720" cy="292608"/>
          </a:xfrm>
          <a:prstGeom prst="rect">
            <a:avLst/>
          </a:prstGeom>
          <a:noFill/>
        </p:spPr>
        <p:txBody>
          <a:bodyPr wrap="none" lIns="73152" rIns="73152" tIns="36576" bIns="36576" anchor="t">
            <a:spAutoFit/>
          </a:bodyPr>
          <a:lstStyle/>
          <a:p>
            <a:r>
              <a:rPr sz="950" b="0">
                <a:solidFill>
                  <a:srgbClr val="343A40"/>
                </a:solidFill>
                <a:latin typeface="Pretendard"/>
              </a:rPr>
              <a:t>- 주소와 주문자명 매핑으로 관저/판암/세종을 구분합니다.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" y="4050791"/>
            <a:ext cx="3474720" cy="292608"/>
          </a:xfrm>
          <a:prstGeom prst="rect">
            <a:avLst/>
          </a:prstGeom>
          <a:noFill/>
        </p:spPr>
        <p:txBody>
          <a:bodyPr wrap="none" lIns="73152" rIns="73152" tIns="36576" bIns="36576" anchor="t">
            <a:spAutoFit/>
          </a:bodyPr>
          <a:lstStyle/>
          <a:p>
            <a:r>
              <a:rPr sz="950" b="0">
                <a:solidFill>
                  <a:srgbClr val="343A40"/>
                </a:solidFill>
                <a:latin typeface="Pretendard"/>
              </a:rPr>
              <a:t>- 프리셋은 고래 + 지점 키워드로 필터링합니다.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709160" y="2880360"/>
            <a:ext cx="3886200" cy="164592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E0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709160" y="2880360"/>
            <a:ext cx="54864" cy="1645920"/>
          </a:xfrm>
          <a:prstGeom prst="rect">
            <a:avLst/>
          </a:prstGeom>
          <a:solidFill>
            <a:srgbClr val="2F85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873752" y="3017520"/>
            <a:ext cx="3566160" cy="228600"/>
          </a:xfrm>
          <a:prstGeom prst="rect">
            <a:avLst/>
          </a:prstGeom>
          <a:noFill/>
        </p:spPr>
        <p:txBody>
          <a:bodyPr wrap="none" lIns="73152" rIns="73152" tIns="36576" bIns="36576" anchor="t">
            <a:spAutoFit/>
          </a:bodyPr>
          <a:lstStyle/>
          <a:p>
            <a:r>
              <a:rPr sz="1200" b="1">
                <a:solidFill>
                  <a:srgbClr val="1E3A8A"/>
                </a:solidFill>
                <a:latin typeface="Pretendard"/>
              </a:rPr>
              <a:t>환자명(복용자) 검색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65192" y="3355848"/>
            <a:ext cx="3474720" cy="292608"/>
          </a:xfrm>
          <a:prstGeom prst="rect">
            <a:avLst/>
          </a:prstGeom>
          <a:noFill/>
        </p:spPr>
        <p:txBody>
          <a:bodyPr wrap="none" lIns="73152" rIns="73152" tIns="36576" bIns="36576" anchor="t">
            <a:spAutoFit/>
          </a:bodyPr>
          <a:lstStyle/>
          <a:p>
            <a:r>
              <a:rPr sz="950" b="0">
                <a:solidFill>
                  <a:srgbClr val="343A40"/>
                </a:solidFill>
                <a:latin typeface="Pretendard"/>
              </a:rPr>
              <a:t>- 목록의 복용자, 상세의 환자명, 탕전내역 복용자를 함께 봅니다.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65192" y="3703320"/>
            <a:ext cx="3474720" cy="292608"/>
          </a:xfrm>
          <a:prstGeom prst="rect">
            <a:avLst/>
          </a:prstGeom>
          <a:noFill/>
        </p:spPr>
        <p:txBody>
          <a:bodyPr wrap="none" lIns="73152" rIns="73152" tIns="36576" bIns="36576" anchor="t">
            <a:spAutoFit/>
          </a:bodyPr>
          <a:lstStyle/>
          <a:p>
            <a:r>
              <a:rPr sz="950" b="0">
                <a:solidFill>
                  <a:srgbClr val="343A40"/>
                </a:solidFill>
                <a:latin typeface="Pretendard"/>
              </a:rPr>
              <a:t>- 복수 입력 시 하나라도 맞으면 포함됩니다.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65192" y="4050791"/>
            <a:ext cx="3474720" cy="292608"/>
          </a:xfrm>
          <a:prstGeom prst="rect">
            <a:avLst/>
          </a:prstGeom>
          <a:noFill/>
        </p:spPr>
        <p:txBody>
          <a:bodyPr wrap="none" lIns="73152" rIns="73152" tIns="36576" bIns="36576" anchor="t">
            <a:spAutoFit/>
          </a:bodyPr>
          <a:lstStyle/>
          <a:p>
            <a:r>
              <a:rPr sz="950" b="0">
                <a:solidFill>
                  <a:srgbClr val="343A40"/>
                </a:solidFill>
                <a:latin typeface="Pretendard"/>
              </a:rPr>
              <a:t>- 주문자명+환자명은 둘 중 하나라도 맞으면 포함됩니다.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3B5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1280160" cy="228600"/>
          </a:xfrm>
          <a:prstGeom prst="rect">
            <a:avLst/>
          </a:prstGeom>
          <a:noFill/>
        </p:spPr>
        <p:txBody>
          <a:bodyPr wrap="none" lIns="73152" rIns="73152" tIns="36576" bIns="36576" anchor="t">
            <a:spAutoFit/>
          </a:bodyPr>
          <a:lstStyle/>
          <a:p>
            <a:r>
              <a:rPr sz="900" b="1">
                <a:solidFill>
                  <a:srgbClr val="3B5BDB"/>
                </a:solidFill>
                <a:latin typeface="Pretendard"/>
              </a:rPr>
              <a:t>Tab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30352"/>
            <a:ext cx="6217920" cy="411480"/>
          </a:xfrm>
          <a:prstGeom prst="rect">
            <a:avLst/>
          </a:prstGeom>
          <a:noFill/>
        </p:spPr>
        <p:txBody>
          <a:bodyPr wrap="none" lIns="73152" rIns="73152" tIns="36576" bIns="36576" anchor="t">
            <a:spAutoFit/>
          </a:bodyPr>
          <a:lstStyle/>
          <a:p>
            <a:r>
              <a:rPr sz="2200" b="1">
                <a:solidFill>
                  <a:srgbClr val="1E3A8A"/>
                </a:solidFill>
                <a:latin typeface="Pretendard"/>
              </a:rPr>
              <a:t>기본 선택값 v12.50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932688"/>
            <a:ext cx="7680960" cy="320040"/>
          </a:xfrm>
          <a:prstGeom prst="rect">
            <a:avLst/>
          </a:prstGeom>
          <a:noFill/>
        </p:spPr>
        <p:txBody>
          <a:bodyPr wrap="none" lIns="73152" rIns="73152" tIns="36576" bIns="36576" anchor="t">
            <a:spAutoFit/>
          </a:bodyPr>
          <a:lstStyle/>
          <a:p>
            <a:r>
              <a:rPr sz="1050" b="0">
                <a:solidFill>
                  <a:srgbClr val="6C757D"/>
                </a:solidFill>
                <a:latin typeface="Pretendard"/>
              </a:rPr>
              <a:t>프로그램을 켰을 때 기본으로 켜지는 옵션입니다.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143000"/>
          <a:ext cx="7863840" cy="2240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3657600"/>
                <a:gridCol w="2834640"/>
              </a:tblGrid>
              <a:tr h="448056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Pretendard"/>
                        </a:rPr>
                        <a:t>그룹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Pretendard"/>
                        </a:rPr>
                        <a:t>기본 선택됨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Pretendard"/>
                        </a:rPr>
                        <a:t>기본 해제됨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algn="ctr"/>
                      <a:r>
                        <a:rPr sz="830">
                          <a:solidFill>
                            <a:srgbClr val="343A40"/>
                          </a:solidFill>
                          <a:latin typeface="Pretendard"/>
                        </a:rPr>
                        <a:t>파일 저장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30">
                          <a:solidFill>
                            <a:srgbClr val="343A40"/>
                          </a:solidFill>
                          <a:latin typeface="Pretendard"/>
                        </a:rPr>
                        <a:t>주문 엑셀 저장, 대한통운 파일 업로드 양식, 라벨 인쇄용 엑셀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30">
                          <a:solidFill>
                            <a:srgbClr val="343A40"/>
                          </a:solidFill>
                          <a:latin typeface="Pretendard"/>
                        </a:rPr>
                        <a:t>입원 케이스 제외, 벌크 내역만 추출, 오래된 순 정렬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algn="ctr"/>
                      <a:r>
                        <a:rPr sz="830">
                          <a:solidFill>
                            <a:srgbClr val="343A40"/>
                          </a:solidFill>
                          <a:latin typeface="Pretendard"/>
                        </a:rPr>
                        <a:t>자동 전환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30">
                          <a:solidFill>
                            <a:srgbClr val="343A40"/>
                          </a:solidFill>
                          <a:latin typeface="Pretendard"/>
                        </a:rPr>
                        <a:t>입원건 입금대기 자동 전환, 취소요청건 환불취소 자동 전환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30">
                          <a:solidFill>
                            <a:srgbClr val="343A40"/>
                          </a:solidFill>
                          <a:latin typeface="Pretendard"/>
                        </a:rPr>
                        <a:t>-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algn="ctr"/>
                      <a:r>
                        <a:rPr sz="830">
                          <a:solidFill>
                            <a:srgbClr val="343A40"/>
                          </a:solidFill>
                          <a:latin typeface="Pretendard"/>
                        </a:rPr>
                        <a:t>PDF 저장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30">
                          <a:solidFill>
                            <a:srgbClr val="343A40"/>
                          </a:solidFill>
                          <a:latin typeface="Pretendard"/>
                        </a:rPr>
                        <a:t>주문내역서 PDF 저장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30">
                          <a:solidFill>
                            <a:srgbClr val="343A40"/>
                          </a:solidFill>
                          <a:latin typeface="Pretendard"/>
                        </a:rPr>
                        <a:t>조제지시서 PDF, 복용법 PDF, 복용첨부파일 다운로드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algn="ctr"/>
                      <a:r>
                        <a:rPr sz="830">
                          <a:solidFill>
                            <a:srgbClr val="343A40"/>
                          </a:solidFill>
                          <a:latin typeface="Pretendard"/>
                        </a:rPr>
                        <a:t>자동 인쇄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30">
                          <a:solidFill>
                            <a:srgbClr val="343A40"/>
                          </a:solidFill>
                          <a:latin typeface="Pretendard"/>
                        </a:rPr>
                        <a:t>-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30">
                          <a:solidFill>
                            <a:srgbClr val="343A40"/>
                          </a:solidFill>
                          <a:latin typeface="Pretendard"/>
                        </a:rPr>
                        <a:t>주문내역서 자동 인쇄, 조제지시서 자동 인쇄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640080" y="3749039"/>
            <a:ext cx="7863840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E0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3749039"/>
            <a:ext cx="54864" cy="658368"/>
          </a:xfrm>
          <a:prstGeom prst="rect">
            <a:avLst/>
          </a:prstGeom>
          <a:solidFill>
            <a:srgbClr val="8564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1" y="3886200"/>
            <a:ext cx="7543800" cy="228600"/>
          </a:xfrm>
          <a:prstGeom prst="rect">
            <a:avLst/>
          </a:prstGeom>
          <a:noFill/>
        </p:spPr>
        <p:txBody>
          <a:bodyPr wrap="none" lIns="73152" rIns="73152" tIns="36576" bIns="36576" anchor="t">
            <a:spAutoFit/>
          </a:bodyPr>
          <a:lstStyle/>
          <a:p>
            <a:r>
              <a:rPr sz="1200" b="1">
                <a:solidFill>
                  <a:srgbClr val="1E3A8A"/>
                </a:solidFill>
                <a:latin typeface="Pretendard"/>
              </a:rPr>
              <a:t>운영 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1" y="4187952"/>
            <a:ext cx="7543800" cy="155447"/>
          </a:xfrm>
          <a:prstGeom prst="rect">
            <a:avLst/>
          </a:prstGeom>
          <a:noFill/>
        </p:spPr>
        <p:txBody>
          <a:bodyPr wrap="none" lIns="73152" rIns="73152" tIns="36576" bIns="36576" anchor="t">
            <a:spAutoFit/>
          </a:bodyPr>
          <a:lstStyle/>
          <a:p>
            <a:r>
              <a:rPr sz="950" b="0">
                <a:solidFill>
                  <a:srgbClr val="343A40"/>
                </a:solidFill>
                <a:latin typeface="Pretendard"/>
              </a:rPr>
              <a:t>기본값은 “파일 생성 + 주문내역서 저장 + 상태 자동전환” 중심입니다. 자동 인쇄는 필요한 날에만 직접 체크하세요.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3B5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1280160" cy="228600"/>
          </a:xfrm>
          <a:prstGeom prst="rect">
            <a:avLst/>
          </a:prstGeom>
          <a:noFill/>
        </p:spPr>
        <p:txBody>
          <a:bodyPr wrap="none" lIns="73152" rIns="73152" tIns="36576" bIns="36576" anchor="t">
            <a:spAutoFit/>
          </a:bodyPr>
          <a:lstStyle/>
          <a:p>
            <a:r>
              <a:rPr sz="900" b="1">
                <a:solidFill>
                  <a:srgbClr val="3B5BDB"/>
                </a:solidFill>
                <a:latin typeface="Pretendard"/>
              </a:rPr>
              <a:t>Tab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30352"/>
            <a:ext cx="6217920" cy="411480"/>
          </a:xfrm>
          <a:prstGeom prst="rect">
            <a:avLst/>
          </a:prstGeom>
          <a:noFill/>
        </p:spPr>
        <p:txBody>
          <a:bodyPr wrap="none" lIns="73152" rIns="73152" tIns="36576" bIns="36576" anchor="t">
            <a:spAutoFit/>
          </a:bodyPr>
          <a:lstStyle/>
          <a:p>
            <a:r>
              <a:rPr sz="2200" b="1">
                <a:solidFill>
                  <a:srgbClr val="1E3A8A"/>
                </a:solidFill>
                <a:latin typeface="Pretendard"/>
              </a:rPr>
              <a:t>생성되는 파일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932688"/>
            <a:ext cx="7680960" cy="320040"/>
          </a:xfrm>
          <a:prstGeom prst="rect">
            <a:avLst/>
          </a:prstGeom>
          <a:noFill/>
        </p:spPr>
        <p:txBody>
          <a:bodyPr wrap="none" lIns="73152" rIns="73152" tIns="36576" bIns="36576" anchor="t">
            <a:spAutoFit/>
          </a:bodyPr>
          <a:lstStyle/>
          <a:p>
            <a:r>
              <a:rPr sz="1050" b="0">
                <a:solidFill>
                  <a:srgbClr val="6C757D"/>
                </a:solidFill>
                <a:latin typeface="Pretendard"/>
              </a:rPr>
              <a:t>실행 결과 폴더 안에 필요한 파일들이 자동으로 생성됩니다.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078992"/>
          <a:ext cx="8138160" cy="2834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2240280"/>
                <a:gridCol w="3520440"/>
              </a:tblGrid>
              <a:tr h="47244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Pretendard"/>
                        </a:rPr>
                        <a:t>파일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Pretendard"/>
                        </a:rPr>
                        <a:t>생성 조건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Pretendard"/>
                        </a:rPr>
                        <a:t>내용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algn="ctr"/>
                      <a:r>
                        <a:rPr sz="830">
                          <a:solidFill>
                            <a:srgbClr val="343A40"/>
                          </a:solidFill>
                          <a:latin typeface="Pretendard"/>
                        </a:rPr>
                        <a:t>케이진 탕전주문 마스터.xlsx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30">
                          <a:solidFill>
                            <a:srgbClr val="343A40"/>
                          </a:solidFill>
                          <a:latin typeface="Pretendard"/>
                        </a:rPr>
                        <a:t>주문 엑셀 저장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30">
                          <a:solidFill>
                            <a:srgbClr val="343A40"/>
                          </a:solidFill>
                          <a:latin typeface="Pretendard"/>
                        </a:rPr>
                        <a:t>주문마스터 + 탕전 핵심 컬럼 통합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algn="ctr"/>
                      <a:r>
                        <a:rPr sz="830">
                          <a:solidFill>
                            <a:srgbClr val="343A40"/>
                          </a:solidFill>
                          <a:latin typeface="Pretendard"/>
                        </a:rPr>
                        <a:t>대한통운_파일업로드_양식.xlsx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30">
                          <a:solidFill>
                            <a:srgbClr val="343A40"/>
                          </a:solidFill>
                          <a:latin typeface="Pretendard"/>
                        </a:rPr>
                        <a:t>대한통운 파일 업로드 양식 생성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30">
                          <a:solidFill>
                            <a:srgbClr val="343A40"/>
                          </a:solidFill>
                          <a:latin typeface="Pretendard"/>
                        </a:rPr>
                        <a:t>CJ 업로드용. A열 주문날짜 추가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algn="ctr"/>
                      <a:r>
                        <a:rPr sz="830">
                          <a:solidFill>
                            <a:srgbClr val="343A40"/>
                          </a:solidFill>
                          <a:latin typeface="Pretendard"/>
                        </a:rPr>
                        <a:t>탕전 라벨 인쇄용.xlsx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30">
                          <a:solidFill>
                            <a:srgbClr val="343A40"/>
                          </a:solidFill>
                          <a:latin typeface="Pretendard"/>
                        </a:rPr>
                        <a:t>라벨 인쇄용 엑셀 생성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30">
                          <a:solidFill>
                            <a:srgbClr val="343A40"/>
                          </a:solidFill>
                          <a:latin typeface="Pretendard"/>
                        </a:rPr>
                        <a:t>한의원/환자/처방/팩수/용량 등 라벨 데이터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algn="ctr"/>
                      <a:r>
                        <a:rPr sz="830">
                          <a:solidFill>
                            <a:srgbClr val="343A40"/>
                          </a:solidFill>
                          <a:latin typeface="Pretendard"/>
                        </a:rPr>
                        <a:t>주문내역서_pdf 폴더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30">
                          <a:solidFill>
                            <a:srgbClr val="343A40"/>
                          </a:solidFill>
                          <a:latin typeface="Pretendard"/>
                        </a:rPr>
                        <a:t>주문내역서 PDF 저장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30">
                          <a:solidFill>
                            <a:srgbClr val="343A40"/>
                          </a:solidFill>
                          <a:latin typeface="Pretendard"/>
                        </a:rPr>
                        <a:t>한의원/입원/벌크 폴더 기준 저장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algn="ctr"/>
                      <a:r>
                        <a:rPr sz="830">
                          <a:solidFill>
                            <a:srgbClr val="343A40"/>
                          </a:solidFill>
                          <a:latin typeface="Pretendard"/>
                        </a:rPr>
                        <a:t>인쇄요청목록·결과목록.txt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30">
                          <a:solidFill>
                            <a:srgbClr val="343A40"/>
                          </a:solidFill>
                          <a:latin typeface="Pretendard"/>
                        </a:rPr>
                        <a:t>자동 인쇄 실행 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30">
                          <a:solidFill>
                            <a:srgbClr val="343A40"/>
                          </a:solidFill>
                          <a:latin typeface="Pretendard"/>
                        </a:rPr>
                        <a:t>누락 원인 확인용 진단 로그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" y="4224528"/>
            <a:ext cx="7863840" cy="219456"/>
          </a:xfrm>
          <a:prstGeom prst="rect">
            <a:avLst/>
          </a:prstGeom>
          <a:noFill/>
        </p:spPr>
        <p:txBody>
          <a:bodyPr wrap="none" lIns="73152" rIns="73152" tIns="36576" bIns="36576" anchor="t">
            <a:spAutoFit/>
          </a:bodyPr>
          <a:lstStyle/>
          <a:p>
            <a:r>
              <a:rPr sz="950" b="0">
                <a:solidFill>
                  <a:srgbClr val="6C757D"/>
                </a:solidFill>
                <a:latin typeface="Pretendard"/>
              </a:rPr>
              <a:t>결과 폴더는 실행 완료 후 자동으로 열리고, 하단의 “출력 폴더 열기” 버튼으로 다시 열 수 있습니다.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3B5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1280160" cy="228600"/>
          </a:xfrm>
          <a:prstGeom prst="rect">
            <a:avLst/>
          </a:prstGeom>
          <a:noFill/>
        </p:spPr>
        <p:txBody>
          <a:bodyPr wrap="none" lIns="73152" rIns="73152" tIns="36576" bIns="36576" anchor="t">
            <a:spAutoFit/>
          </a:bodyPr>
          <a:lstStyle/>
          <a:p>
            <a:r>
              <a:rPr sz="900" b="1">
                <a:solidFill>
                  <a:srgbClr val="3B5BDB"/>
                </a:solidFill>
                <a:latin typeface="Pretendard"/>
              </a:rPr>
              <a:t>CJ Upload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30352"/>
            <a:ext cx="6217920" cy="411480"/>
          </a:xfrm>
          <a:prstGeom prst="rect">
            <a:avLst/>
          </a:prstGeom>
          <a:noFill/>
        </p:spPr>
        <p:txBody>
          <a:bodyPr wrap="none" lIns="73152" rIns="73152" tIns="36576" bIns="36576" anchor="t">
            <a:spAutoFit/>
          </a:bodyPr>
          <a:lstStyle/>
          <a:p>
            <a:r>
              <a:rPr sz="2200" b="1">
                <a:solidFill>
                  <a:srgbClr val="1E3A8A"/>
                </a:solidFill>
                <a:latin typeface="Pretendard"/>
              </a:rPr>
              <a:t>대한통운 파일 업로드 양식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932688"/>
            <a:ext cx="7680960" cy="320040"/>
          </a:xfrm>
          <a:prstGeom prst="rect">
            <a:avLst/>
          </a:prstGeom>
          <a:noFill/>
        </p:spPr>
        <p:txBody>
          <a:bodyPr wrap="none" lIns="73152" rIns="73152" tIns="36576" bIns="36576" anchor="t">
            <a:spAutoFit/>
          </a:bodyPr>
          <a:lstStyle/>
          <a:p>
            <a:r>
              <a:rPr sz="1050" b="0">
                <a:solidFill>
                  <a:srgbClr val="6C757D"/>
                </a:solidFill>
                <a:latin typeface="Pretendard"/>
              </a:rPr>
              <a:t>CJ 사이트에 올릴 수 있도록 주문별 배송 정보를 정리합니다.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078992"/>
            <a:ext cx="3886200" cy="1874519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E0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078992"/>
            <a:ext cx="54864" cy="1874519"/>
          </a:xfrm>
          <a:prstGeom prst="rect">
            <a:avLst/>
          </a:prstGeom>
          <a:solidFill>
            <a:srgbClr val="3B5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" y="1216151"/>
            <a:ext cx="3566160" cy="228600"/>
          </a:xfrm>
          <a:prstGeom prst="rect">
            <a:avLst/>
          </a:prstGeom>
          <a:noFill/>
        </p:spPr>
        <p:txBody>
          <a:bodyPr wrap="none" lIns="73152" rIns="73152" tIns="36576" bIns="36576" anchor="t">
            <a:spAutoFit/>
          </a:bodyPr>
          <a:lstStyle/>
          <a:p>
            <a:r>
              <a:rPr sz="1200" b="1">
                <a:solidFill>
                  <a:srgbClr val="1E3A8A"/>
                </a:solidFill>
                <a:latin typeface="Pretendard"/>
              </a:rPr>
              <a:t>v12.47 이후 변경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" y="1554480"/>
            <a:ext cx="3474720" cy="292608"/>
          </a:xfrm>
          <a:prstGeom prst="rect">
            <a:avLst/>
          </a:prstGeom>
          <a:noFill/>
        </p:spPr>
        <p:txBody>
          <a:bodyPr wrap="none" lIns="73152" rIns="73152" tIns="36576" bIns="36576" anchor="t">
            <a:spAutoFit/>
          </a:bodyPr>
          <a:lstStyle/>
          <a:p>
            <a:r>
              <a:rPr sz="950" b="0">
                <a:solidFill>
                  <a:srgbClr val="343A40"/>
                </a:solidFill>
                <a:latin typeface="Pretendard"/>
              </a:rPr>
              <a:t>- A열에 주문날짜가 추가됩니다. 시간은 제외하고 YYYY-MM-DD 형식입니다.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" y="1901952"/>
            <a:ext cx="3474720" cy="292608"/>
          </a:xfrm>
          <a:prstGeom prst="rect">
            <a:avLst/>
          </a:prstGeom>
          <a:noFill/>
        </p:spPr>
        <p:txBody>
          <a:bodyPr wrap="none" lIns="73152" rIns="73152" tIns="36576" bIns="36576" anchor="t">
            <a:spAutoFit/>
          </a:bodyPr>
          <a:lstStyle/>
          <a:p>
            <a:r>
              <a:rPr sz="950" b="0">
                <a:solidFill>
                  <a:srgbClr val="343A40"/>
                </a:solidFill>
                <a:latin typeface="Pretendard"/>
              </a:rPr>
              <a:t>- 보내는분전화번호는 한의원 대표번호를 우선 적용합니다.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8952" y="2249424"/>
            <a:ext cx="3474720" cy="292608"/>
          </a:xfrm>
          <a:prstGeom prst="rect">
            <a:avLst/>
          </a:prstGeom>
          <a:noFill/>
        </p:spPr>
        <p:txBody>
          <a:bodyPr wrap="none" lIns="73152" rIns="73152" tIns="36576" bIns="36576" anchor="t">
            <a:spAutoFit/>
          </a:bodyPr>
          <a:lstStyle/>
          <a:p>
            <a:r>
              <a:rPr sz="950" b="0">
                <a:solidFill>
                  <a:srgbClr val="343A40"/>
                </a:solidFill>
                <a:latin typeface="Pretendard"/>
              </a:rPr>
              <a:t>- 대표번호를 못 찾을 때만 원본 보내는분 전화번호를 사용합니다.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709160" y="1078992"/>
            <a:ext cx="3886200" cy="1874519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E0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709160" y="1078992"/>
            <a:ext cx="54864" cy="1874519"/>
          </a:xfrm>
          <a:prstGeom prst="rect">
            <a:avLst/>
          </a:prstGeom>
          <a:solidFill>
            <a:srgbClr val="2F85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73752" y="1216151"/>
            <a:ext cx="3566160" cy="228600"/>
          </a:xfrm>
          <a:prstGeom prst="rect">
            <a:avLst/>
          </a:prstGeom>
          <a:noFill/>
        </p:spPr>
        <p:txBody>
          <a:bodyPr wrap="none" lIns="73152" rIns="73152" tIns="36576" bIns="36576" anchor="t">
            <a:spAutoFit/>
          </a:bodyPr>
          <a:lstStyle/>
          <a:p>
            <a:r>
              <a:rPr sz="1200" b="1">
                <a:solidFill>
                  <a:srgbClr val="1E3A8A"/>
                </a:solidFill>
                <a:latin typeface="Pretendard"/>
              </a:rPr>
              <a:t>제외/묶음 기준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65192" y="1554480"/>
            <a:ext cx="3474720" cy="292608"/>
          </a:xfrm>
          <a:prstGeom prst="rect">
            <a:avLst/>
          </a:prstGeom>
          <a:noFill/>
        </p:spPr>
        <p:txBody>
          <a:bodyPr wrap="none" lIns="73152" rIns="73152" tIns="36576" bIns="36576" anchor="t">
            <a:spAutoFit/>
          </a:bodyPr>
          <a:lstStyle/>
          <a:p>
            <a:r>
              <a:rPr sz="950" b="0">
                <a:solidFill>
                  <a:srgbClr val="343A40"/>
                </a:solidFill>
                <a:latin typeface="Pretendard"/>
              </a:rPr>
              <a:t>- 취소/취소요청/입원 건은 CJ 양식에서 제외됩니다.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65192" y="1901952"/>
            <a:ext cx="3474720" cy="292608"/>
          </a:xfrm>
          <a:prstGeom prst="rect">
            <a:avLst/>
          </a:prstGeom>
          <a:noFill/>
        </p:spPr>
        <p:txBody>
          <a:bodyPr wrap="none" lIns="73152" rIns="73152" tIns="36576" bIns="36576" anchor="t">
            <a:spAutoFit/>
          </a:bodyPr>
          <a:lstStyle/>
          <a:p>
            <a:r>
              <a:rPr sz="950" b="0">
                <a:solidFill>
                  <a:srgbClr val="343A40"/>
                </a:solidFill>
                <a:latin typeface="Pretendard"/>
              </a:rPr>
              <a:t>- 방문수령은 제외됩니다.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65192" y="2249424"/>
            <a:ext cx="3474720" cy="292608"/>
          </a:xfrm>
          <a:prstGeom prst="rect">
            <a:avLst/>
          </a:prstGeom>
          <a:noFill/>
        </p:spPr>
        <p:txBody>
          <a:bodyPr wrap="none" lIns="73152" rIns="73152" tIns="36576" bIns="36576" anchor="t">
            <a:spAutoFit/>
          </a:bodyPr>
          <a:lstStyle/>
          <a:p>
            <a:r>
              <a:rPr sz="950" b="0">
                <a:solidFill>
                  <a:srgbClr val="343A40"/>
                </a:solidFill>
                <a:latin typeface="Pretendard"/>
              </a:rPr>
              <a:t>- [묶음] 태그는 전화번호 또는 주소 기준으로 한 행에 묶입니다.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777240" y="3429000"/>
          <a:ext cx="8092440" cy="777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60120"/>
                <a:gridCol w="1280160"/>
                <a:gridCol w="1097280"/>
                <a:gridCol w="594360"/>
                <a:gridCol w="1417320"/>
                <a:gridCol w="1417320"/>
                <a:gridCol w="1325880"/>
              </a:tblGrid>
              <a:tr h="38862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Pretendard"/>
                        </a:rPr>
                        <a:t>A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Pretendard"/>
                        </a:rPr>
                        <a:t>B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Pretendard"/>
                        </a:rPr>
                        <a:t>C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Pretendard"/>
                        </a:rPr>
                        <a:t>...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Pretendard"/>
                        </a:rPr>
                        <a:t>L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Pretendard"/>
                        </a:rPr>
                        <a:t>M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Pretendard"/>
                        </a:rPr>
                        <a:t>N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algn="ctr"/>
                      <a:r>
                        <a:rPr sz="830">
                          <a:solidFill>
                            <a:srgbClr val="343A40"/>
                          </a:solidFill>
                          <a:latin typeface="Pretendard"/>
                        </a:rPr>
                        <a:t>주문날짜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30">
                          <a:solidFill>
                            <a:srgbClr val="343A40"/>
                          </a:solidFill>
                          <a:latin typeface="Pretendard"/>
                        </a:rPr>
                        <a:t>고객주문번호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30">
                          <a:solidFill>
                            <a:srgbClr val="343A40"/>
                          </a:solidFill>
                          <a:latin typeface="Pretendard"/>
                        </a:rPr>
                        <a:t>상호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30">
                          <a:solidFill>
                            <a:srgbClr val="343A40"/>
                          </a:solidFill>
                          <a:latin typeface="Pretendard"/>
                        </a:rPr>
                        <a:t>...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30">
                          <a:solidFill>
                            <a:srgbClr val="343A40"/>
                          </a:solidFill>
                          <a:latin typeface="Pretendard"/>
                        </a:rPr>
                        <a:t>보내는분전화번호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30">
                          <a:solidFill>
                            <a:srgbClr val="343A40"/>
                          </a:solidFill>
                          <a:latin typeface="Pretendard"/>
                        </a:rPr>
                        <a:t>보내는분주소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30">
                          <a:solidFill>
                            <a:srgbClr val="343A40"/>
                          </a:solidFill>
                          <a:latin typeface="Pretendard"/>
                        </a:rPr>
                        <a:t>배송메세지1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3B5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1280160" cy="228600"/>
          </a:xfrm>
          <a:prstGeom prst="rect">
            <a:avLst/>
          </a:prstGeom>
          <a:noFill/>
        </p:spPr>
        <p:txBody>
          <a:bodyPr wrap="none" lIns="73152" rIns="73152" tIns="36576" bIns="36576" anchor="t">
            <a:spAutoFit/>
          </a:bodyPr>
          <a:lstStyle/>
          <a:p>
            <a:r>
              <a:rPr sz="900" b="1">
                <a:solidFill>
                  <a:srgbClr val="3B5BDB"/>
                </a:solidFill>
                <a:latin typeface="Pretendard"/>
              </a:rPr>
              <a:t>Label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30352"/>
            <a:ext cx="6217920" cy="411480"/>
          </a:xfrm>
          <a:prstGeom prst="rect">
            <a:avLst/>
          </a:prstGeom>
          <a:noFill/>
        </p:spPr>
        <p:txBody>
          <a:bodyPr wrap="none" lIns="73152" rIns="73152" tIns="36576" bIns="36576" anchor="t">
            <a:spAutoFit/>
          </a:bodyPr>
          <a:lstStyle/>
          <a:p>
            <a:r>
              <a:rPr sz="2200" b="1">
                <a:solidFill>
                  <a:srgbClr val="1E3A8A"/>
                </a:solidFill>
                <a:latin typeface="Pretendard"/>
              </a:rPr>
              <a:t>라벨 인쇄용 엑셀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932688"/>
            <a:ext cx="7680960" cy="320040"/>
          </a:xfrm>
          <a:prstGeom prst="rect">
            <a:avLst/>
          </a:prstGeom>
          <a:noFill/>
        </p:spPr>
        <p:txBody>
          <a:bodyPr wrap="none" lIns="73152" rIns="73152" tIns="36576" bIns="36576" anchor="t">
            <a:spAutoFit/>
          </a:bodyPr>
          <a:lstStyle/>
          <a:p>
            <a:r>
              <a:rPr sz="1050" b="0">
                <a:solidFill>
                  <a:srgbClr val="6C757D"/>
                </a:solidFill>
                <a:latin typeface="Pretendard"/>
              </a:rPr>
              <a:t>탕전 라벨 출력에 필요한 데이터만 따로 정리합니다.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143000"/>
            <a:ext cx="3886200" cy="1874519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E0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143000"/>
            <a:ext cx="54864" cy="1874519"/>
          </a:xfrm>
          <a:prstGeom prst="rect">
            <a:avLst/>
          </a:prstGeom>
          <a:solidFill>
            <a:srgbClr val="3B5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" y="1280160"/>
            <a:ext cx="3566160" cy="228600"/>
          </a:xfrm>
          <a:prstGeom prst="rect">
            <a:avLst/>
          </a:prstGeom>
          <a:noFill/>
        </p:spPr>
        <p:txBody>
          <a:bodyPr wrap="none" lIns="73152" rIns="73152" tIns="36576" bIns="36576" anchor="t">
            <a:spAutoFit/>
          </a:bodyPr>
          <a:lstStyle/>
          <a:p>
            <a:r>
              <a:rPr sz="1200" b="1">
                <a:solidFill>
                  <a:srgbClr val="1E3A8A"/>
                </a:solidFill>
                <a:latin typeface="Pretendard"/>
              </a:rPr>
              <a:t>포함 정보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" y="1618488"/>
            <a:ext cx="3474720" cy="292608"/>
          </a:xfrm>
          <a:prstGeom prst="rect">
            <a:avLst/>
          </a:prstGeom>
          <a:noFill/>
        </p:spPr>
        <p:txBody>
          <a:bodyPr wrap="none" lIns="73152" rIns="73152" tIns="36576" bIns="36576" anchor="t">
            <a:spAutoFit/>
          </a:bodyPr>
          <a:lstStyle/>
          <a:p>
            <a:r>
              <a:rPr sz="950" b="0">
                <a:solidFill>
                  <a:srgbClr val="343A40"/>
                </a:solidFill>
                <a:latin typeface="Pretendard"/>
              </a:rPr>
              <a:t>- 한의원 구분, 환자명, 처방명, 팩수, 파우치용량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1965960"/>
            <a:ext cx="3474720" cy="292608"/>
          </a:xfrm>
          <a:prstGeom prst="rect">
            <a:avLst/>
          </a:prstGeom>
          <a:noFill/>
        </p:spPr>
        <p:txBody>
          <a:bodyPr wrap="none" lIns="73152" rIns="73152" tIns="36576" bIns="36576" anchor="t">
            <a:spAutoFit/>
          </a:bodyPr>
          <a:lstStyle/>
          <a:p>
            <a:r>
              <a:rPr sz="950" b="0">
                <a:solidFill>
                  <a:srgbClr val="343A40"/>
                </a:solidFill>
                <a:latin typeface="Pretendard"/>
              </a:rPr>
              <a:t>- 용량, 탕전일자, 복용법, 복용첨부파일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" y="2313432"/>
            <a:ext cx="3474720" cy="292608"/>
          </a:xfrm>
          <a:prstGeom prst="rect">
            <a:avLst/>
          </a:prstGeom>
          <a:noFill/>
        </p:spPr>
        <p:txBody>
          <a:bodyPr wrap="none" lIns="73152" rIns="73152" tIns="36576" bIns="36576" anchor="t">
            <a:spAutoFit/>
          </a:bodyPr>
          <a:lstStyle/>
          <a:p>
            <a:r>
              <a:rPr sz="950" b="0">
                <a:solidFill>
                  <a:srgbClr val="343A40"/>
                </a:solidFill>
                <a:latin typeface="Pretendard"/>
              </a:rPr>
              <a:t>- 고래한방 판암은 처방 영문코드 컬럼을 추가합니다.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709160" y="1143000"/>
            <a:ext cx="3886200" cy="1874519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E0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709160" y="1143000"/>
            <a:ext cx="54864" cy="1874519"/>
          </a:xfrm>
          <a:prstGeom prst="rect">
            <a:avLst/>
          </a:prstGeom>
          <a:solidFill>
            <a:srgbClr val="2F85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73752" y="1280160"/>
            <a:ext cx="3566160" cy="228600"/>
          </a:xfrm>
          <a:prstGeom prst="rect">
            <a:avLst/>
          </a:prstGeom>
          <a:noFill/>
        </p:spPr>
        <p:txBody>
          <a:bodyPr wrap="none" lIns="73152" rIns="73152" tIns="36576" bIns="36576" anchor="t">
            <a:spAutoFit/>
          </a:bodyPr>
          <a:lstStyle/>
          <a:p>
            <a:r>
              <a:rPr sz="1200" b="1">
                <a:solidFill>
                  <a:srgbClr val="1E3A8A"/>
                </a:solidFill>
                <a:latin typeface="Pretendard"/>
              </a:rPr>
              <a:t>정리 규칙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65192" y="1618488"/>
            <a:ext cx="3474720" cy="292608"/>
          </a:xfrm>
          <a:prstGeom prst="rect">
            <a:avLst/>
          </a:prstGeom>
          <a:noFill/>
        </p:spPr>
        <p:txBody>
          <a:bodyPr wrap="none" lIns="73152" rIns="73152" tIns="36576" bIns="36576" anchor="t">
            <a:spAutoFit/>
          </a:bodyPr>
          <a:lstStyle/>
          <a:p>
            <a:r>
              <a:rPr sz="950" b="0">
                <a:solidFill>
                  <a:srgbClr val="343A40"/>
                </a:solidFill>
                <a:latin typeface="Pretendard"/>
              </a:rPr>
              <a:t>- 입원/취소 건은 라벨 엑셀에서 제외됩니다.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65192" y="1965960"/>
            <a:ext cx="3474720" cy="292608"/>
          </a:xfrm>
          <a:prstGeom prst="rect">
            <a:avLst/>
          </a:prstGeom>
          <a:noFill/>
        </p:spPr>
        <p:txBody>
          <a:bodyPr wrap="none" lIns="73152" rIns="73152" tIns="36576" bIns="36576" anchor="t">
            <a:spAutoFit/>
          </a:bodyPr>
          <a:lstStyle/>
          <a:p>
            <a:r>
              <a:rPr sz="950" b="0">
                <a:solidFill>
                  <a:srgbClr val="343A40"/>
                </a:solidFill>
                <a:latin typeface="Pretendard"/>
              </a:rPr>
              <a:t>- 처방명 뒤 한자는 처방비고로 분리합니다.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65192" y="2313432"/>
            <a:ext cx="3474720" cy="292608"/>
          </a:xfrm>
          <a:prstGeom prst="rect">
            <a:avLst/>
          </a:prstGeom>
          <a:noFill/>
        </p:spPr>
        <p:txBody>
          <a:bodyPr wrap="none" lIns="73152" rIns="73152" tIns="36576" bIns="36576" anchor="t">
            <a:spAutoFit/>
          </a:bodyPr>
          <a:lstStyle/>
          <a:p>
            <a:r>
              <a:rPr sz="950" b="0">
                <a:solidFill>
                  <a:srgbClr val="343A40"/>
                </a:solidFill>
                <a:latin typeface="Pretendard"/>
              </a:rPr>
              <a:t>- 괄호 내용은 필요 시 처방비고로 분리됩니다.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3584448"/>
            <a:ext cx="7772400" cy="676656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E0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85800" y="3584448"/>
            <a:ext cx="54864" cy="676656"/>
          </a:xfrm>
          <a:prstGeom prst="rect">
            <a:avLst/>
          </a:prstGeom>
          <a:solidFill>
            <a:srgbClr val="8564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0392" y="3721608"/>
            <a:ext cx="7452360" cy="228600"/>
          </a:xfrm>
          <a:prstGeom prst="rect">
            <a:avLst/>
          </a:prstGeom>
          <a:noFill/>
        </p:spPr>
        <p:txBody>
          <a:bodyPr wrap="none" lIns="73152" rIns="73152" tIns="36576" bIns="36576" anchor="t">
            <a:spAutoFit/>
          </a:bodyPr>
          <a:lstStyle/>
          <a:p>
            <a:r>
              <a:rPr sz="1200" b="1">
                <a:solidFill>
                  <a:srgbClr val="1E3A8A"/>
                </a:solidFill>
                <a:latin typeface="Pretendard"/>
              </a:rPr>
              <a:t>확인 포인트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0392" y="4023360"/>
            <a:ext cx="7452360" cy="173735"/>
          </a:xfrm>
          <a:prstGeom prst="rect">
            <a:avLst/>
          </a:prstGeom>
          <a:noFill/>
        </p:spPr>
        <p:txBody>
          <a:bodyPr wrap="none" lIns="73152" rIns="73152" tIns="36576" bIns="36576" anchor="t">
            <a:spAutoFit/>
          </a:bodyPr>
          <a:lstStyle/>
          <a:p>
            <a:r>
              <a:rPr sz="950" b="0">
                <a:solidFill>
                  <a:srgbClr val="343A40"/>
                </a:solidFill>
                <a:latin typeface="Pretendard"/>
              </a:rPr>
              <a:t>라벨 출력 전에는 한의원별 건수 로그와 생성된 엑셀의 환자명/처방명 컬럼을 한 번 확인하면 좋습니다.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3B5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1280160" cy="228600"/>
          </a:xfrm>
          <a:prstGeom prst="rect">
            <a:avLst/>
          </a:prstGeom>
          <a:noFill/>
        </p:spPr>
        <p:txBody>
          <a:bodyPr wrap="none" lIns="73152" rIns="73152" tIns="36576" bIns="36576" anchor="t">
            <a:spAutoFit/>
          </a:bodyPr>
          <a:lstStyle/>
          <a:p>
            <a:r>
              <a:rPr sz="900" b="1">
                <a:solidFill>
                  <a:srgbClr val="3B5BDB"/>
                </a:solidFill>
                <a:latin typeface="Pretendard"/>
              </a:rPr>
              <a:t>Automation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30352"/>
            <a:ext cx="6217920" cy="411480"/>
          </a:xfrm>
          <a:prstGeom prst="rect">
            <a:avLst/>
          </a:prstGeom>
          <a:noFill/>
        </p:spPr>
        <p:txBody>
          <a:bodyPr wrap="none" lIns="73152" rIns="73152" tIns="36576" bIns="36576" anchor="t">
            <a:spAutoFit/>
          </a:bodyPr>
          <a:lstStyle/>
          <a:p>
            <a:r>
              <a:rPr sz="2200" b="1">
                <a:solidFill>
                  <a:srgbClr val="1E3A8A"/>
                </a:solidFill>
                <a:latin typeface="Pretendard"/>
              </a:rPr>
              <a:t>자동 전환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932688"/>
            <a:ext cx="7680960" cy="320040"/>
          </a:xfrm>
          <a:prstGeom prst="rect">
            <a:avLst/>
          </a:prstGeom>
          <a:noFill/>
        </p:spPr>
        <p:txBody>
          <a:bodyPr wrap="none" lIns="73152" rIns="73152" tIns="36576" bIns="36576" anchor="t">
            <a:spAutoFit/>
          </a:bodyPr>
          <a:lstStyle/>
          <a:p>
            <a:r>
              <a:rPr sz="1050" b="0">
                <a:solidFill>
                  <a:srgbClr val="6C757D"/>
                </a:solidFill>
                <a:latin typeface="Pretendard"/>
              </a:rPr>
              <a:t>반복적으로 처리하던 상태 변경을 실행 중 자동으로 처리합니다.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85800" y="1170432"/>
          <a:ext cx="777240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4389120"/>
                <a:gridCol w="1188720"/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Pretendard"/>
                        </a:rPr>
                        <a:t>옵션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Pretendard"/>
                        </a:rPr>
                        <a:t>동작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Pretendard"/>
                        </a:rPr>
                        <a:t>기본값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830">
                          <a:solidFill>
                            <a:srgbClr val="343A40"/>
                          </a:solidFill>
                          <a:latin typeface="Pretendard"/>
                        </a:rPr>
                        <a:t>입원건 입금대기 자동 전환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30">
                          <a:solidFill>
                            <a:srgbClr val="343A40"/>
                          </a:solidFill>
                          <a:latin typeface="Pretendard"/>
                        </a:rPr>
                        <a:t>접수대기 + 조제지시사항에 입원 포함 시 입금대기로 전환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30">
                          <a:solidFill>
                            <a:srgbClr val="343A40"/>
                          </a:solidFill>
                          <a:latin typeface="Pretendard"/>
                        </a:rPr>
                        <a:t>켜짐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830">
                          <a:solidFill>
                            <a:srgbClr val="343A40"/>
                          </a:solidFill>
                          <a:latin typeface="Pretendard"/>
                        </a:rPr>
                        <a:t>취소요청건 환불취소 자동 전환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30">
                          <a:solidFill>
                            <a:srgbClr val="343A40"/>
                          </a:solidFill>
                          <a:latin typeface="Pretendard"/>
                        </a:rPr>
                        <a:t>목록 표시가 취소요청건이면 환불취소로 전환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30">
                          <a:solidFill>
                            <a:srgbClr val="343A40"/>
                          </a:solidFill>
                          <a:latin typeface="Pretendard"/>
                        </a:rPr>
                        <a:t>켜짐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685800" y="3154680"/>
            <a:ext cx="7772400" cy="123444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E0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3154680"/>
            <a:ext cx="54864" cy="1234440"/>
          </a:xfrm>
          <a:prstGeom prst="rect">
            <a:avLst/>
          </a:prstGeom>
          <a:solidFill>
            <a:srgbClr val="8564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0392" y="3291840"/>
            <a:ext cx="7452360" cy="228600"/>
          </a:xfrm>
          <a:prstGeom prst="rect">
            <a:avLst/>
          </a:prstGeom>
          <a:noFill/>
        </p:spPr>
        <p:txBody>
          <a:bodyPr wrap="none" lIns="73152" rIns="73152" tIns="36576" bIns="36576" anchor="t">
            <a:spAutoFit/>
          </a:bodyPr>
          <a:lstStyle/>
          <a:p>
            <a:r>
              <a:rPr sz="1200" b="1">
                <a:solidFill>
                  <a:srgbClr val="1E3A8A"/>
                </a:solidFill>
                <a:latin typeface="Pretendard"/>
              </a:rPr>
              <a:t>주의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1832" y="3630168"/>
            <a:ext cx="7360920" cy="292608"/>
          </a:xfrm>
          <a:prstGeom prst="rect">
            <a:avLst/>
          </a:prstGeom>
          <a:noFill/>
        </p:spPr>
        <p:txBody>
          <a:bodyPr wrap="none" lIns="73152" rIns="73152" tIns="36576" bIns="36576" anchor="t">
            <a:spAutoFit/>
          </a:bodyPr>
          <a:lstStyle/>
          <a:p>
            <a:r>
              <a:rPr sz="950" b="0">
                <a:solidFill>
                  <a:srgbClr val="343A40"/>
                </a:solidFill>
                <a:latin typeface="Pretendard"/>
              </a:rPr>
              <a:t>- 자동 전환은 제외 처리 전에 먼저 시도합니다.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1832" y="3977640"/>
            <a:ext cx="7360920" cy="292608"/>
          </a:xfrm>
          <a:prstGeom prst="rect">
            <a:avLst/>
          </a:prstGeom>
          <a:noFill/>
        </p:spPr>
        <p:txBody>
          <a:bodyPr wrap="none" lIns="73152" rIns="73152" tIns="36576" bIns="36576" anchor="t">
            <a:spAutoFit/>
          </a:bodyPr>
          <a:lstStyle/>
          <a:p>
            <a:r>
              <a:rPr sz="950" b="0">
                <a:solidFill>
                  <a:srgbClr val="343A40"/>
                </a:solidFill>
                <a:latin typeface="Pretendard"/>
              </a:rPr>
              <a:t>- 전환 실패는 오류 로그에 남습니다.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1832" y="4325112"/>
            <a:ext cx="7360920" cy="292608"/>
          </a:xfrm>
          <a:prstGeom prst="rect">
            <a:avLst/>
          </a:prstGeom>
          <a:noFill/>
        </p:spPr>
        <p:txBody>
          <a:bodyPr wrap="none" lIns="73152" rIns="73152" tIns="36576" bIns="36576" anchor="t">
            <a:spAutoFit/>
          </a:bodyPr>
          <a:lstStyle/>
          <a:p>
            <a:r>
              <a:rPr sz="950" b="0">
                <a:solidFill>
                  <a:srgbClr val="343A40"/>
                </a:solidFill>
                <a:latin typeface="Pretendard"/>
              </a:rPr>
              <a:t>- 입원 판정은 고래한방 지점명 + 조제지시사항의 입원 문구를 기준으로 합니다.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3B5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1280160" cy="228600"/>
          </a:xfrm>
          <a:prstGeom prst="rect">
            <a:avLst/>
          </a:prstGeom>
          <a:noFill/>
        </p:spPr>
        <p:txBody>
          <a:bodyPr wrap="none" lIns="73152" rIns="73152" tIns="36576" bIns="36576" anchor="t">
            <a:spAutoFit/>
          </a:bodyPr>
          <a:lstStyle/>
          <a:p>
            <a:r>
              <a:rPr sz="900" b="1">
                <a:solidFill>
                  <a:srgbClr val="3B5BDB"/>
                </a:solidFill>
                <a:latin typeface="Pretendard"/>
              </a:rPr>
              <a:t>Print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30352"/>
            <a:ext cx="6217920" cy="411480"/>
          </a:xfrm>
          <a:prstGeom prst="rect">
            <a:avLst/>
          </a:prstGeom>
          <a:noFill/>
        </p:spPr>
        <p:txBody>
          <a:bodyPr wrap="none" lIns="73152" rIns="73152" tIns="36576" bIns="36576" anchor="t">
            <a:spAutoFit/>
          </a:bodyPr>
          <a:lstStyle/>
          <a:p>
            <a:r>
              <a:rPr sz="2200" b="1">
                <a:solidFill>
                  <a:srgbClr val="1E3A8A"/>
                </a:solidFill>
                <a:latin typeface="Pretendard"/>
              </a:rPr>
              <a:t>PDF 저장과 자동 인쇄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932688"/>
            <a:ext cx="7680960" cy="320040"/>
          </a:xfrm>
          <a:prstGeom prst="rect">
            <a:avLst/>
          </a:prstGeom>
          <a:noFill/>
        </p:spPr>
        <p:txBody>
          <a:bodyPr wrap="none" lIns="73152" rIns="73152" tIns="36576" bIns="36576" anchor="t">
            <a:spAutoFit/>
          </a:bodyPr>
          <a:lstStyle/>
          <a:p>
            <a:r>
              <a:rPr sz="1050" b="0">
                <a:solidFill>
                  <a:srgbClr val="6C757D"/>
                </a:solidFill>
                <a:latin typeface="Pretendard"/>
              </a:rPr>
              <a:t>자동 인쇄는 출력 명령 요청 방식이라, 진단 로그로 누락 여부를 확인합니다.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097280"/>
            <a:ext cx="3931920" cy="182880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E0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097280"/>
            <a:ext cx="54864" cy="1828800"/>
          </a:xfrm>
          <a:prstGeom prst="rect">
            <a:avLst/>
          </a:prstGeom>
          <a:solidFill>
            <a:srgbClr val="3B5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" y="1234439"/>
            <a:ext cx="3611879" cy="228600"/>
          </a:xfrm>
          <a:prstGeom prst="rect">
            <a:avLst/>
          </a:prstGeom>
          <a:noFill/>
        </p:spPr>
        <p:txBody>
          <a:bodyPr wrap="none" lIns="73152" rIns="73152" tIns="36576" bIns="36576" anchor="t">
            <a:spAutoFit/>
          </a:bodyPr>
          <a:lstStyle/>
          <a:p>
            <a:r>
              <a:rPr sz="1200" b="1">
                <a:solidFill>
                  <a:srgbClr val="1E3A8A"/>
                </a:solidFill>
                <a:latin typeface="Pretendard"/>
              </a:rPr>
              <a:t>주문내역서 PDF 저장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" y="1572768"/>
            <a:ext cx="3520439" cy="292608"/>
          </a:xfrm>
          <a:prstGeom prst="rect">
            <a:avLst/>
          </a:prstGeom>
          <a:noFill/>
        </p:spPr>
        <p:txBody>
          <a:bodyPr wrap="none" lIns="73152" rIns="73152" tIns="36576" bIns="36576" anchor="t">
            <a:spAutoFit/>
          </a:bodyPr>
          <a:lstStyle/>
          <a:p>
            <a:r>
              <a:rPr sz="950" b="0">
                <a:solidFill>
                  <a:srgbClr val="343A40"/>
                </a:solidFill>
                <a:latin typeface="Pretendard"/>
              </a:rPr>
              <a:t>- v12.50에서 기본 선택됩니다.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" y="1920240"/>
            <a:ext cx="3520439" cy="292608"/>
          </a:xfrm>
          <a:prstGeom prst="rect">
            <a:avLst/>
          </a:prstGeom>
          <a:noFill/>
        </p:spPr>
        <p:txBody>
          <a:bodyPr wrap="none" lIns="73152" rIns="73152" tIns="36576" bIns="36576" anchor="t">
            <a:spAutoFit/>
          </a:bodyPr>
          <a:lstStyle/>
          <a:p>
            <a:r>
              <a:rPr sz="950" b="0">
                <a:solidFill>
                  <a:srgbClr val="343A40"/>
                </a:solidFill>
                <a:latin typeface="Pretendard"/>
              </a:rPr>
              <a:t>- 한의원/입원/벌크 폴더 기준으로 저장됩니다.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8952" y="2267712"/>
            <a:ext cx="3520439" cy="292608"/>
          </a:xfrm>
          <a:prstGeom prst="rect">
            <a:avLst/>
          </a:prstGeom>
          <a:noFill/>
        </p:spPr>
        <p:txBody>
          <a:bodyPr wrap="none" lIns="73152" rIns="73152" tIns="36576" bIns="36576" anchor="t">
            <a:spAutoFit/>
          </a:bodyPr>
          <a:lstStyle/>
          <a:p>
            <a:r>
              <a:rPr sz="950" b="0">
                <a:solidFill>
                  <a:srgbClr val="343A40"/>
                </a:solidFill>
                <a:latin typeface="Pretendard"/>
              </a:rPr>
              <a:t>- 조제지시서·복용법·첨부파일 저장은 기본 해제입니다.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63440" y="1097280"/>
            <a:ext cx="3977639" cy="182880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E0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663440" y="1097280"/>
            <a:ext cx="54864" cy="1828800"/>
          </a:xfrm>
          <a:prstGeom prst="rect">
            <a:avLst/>
          </a:prstGeom>
          <a:solidFill>
            <a:srgbClr val="2F85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28031" y="1234439"/>
            <a:ext cx="3657599" cy="228600"/>
          </a:xfrm>
          <a:prstGeom prst="rect">
            <a:avLst/>
          </a:prstGeom>
          <a:noFill/>
        </p:spPr>
        <p:txBody>
          <a:bodyPr wrap="none" lIns="73152" rIns="73152" tIns="36576" bIns="36576" anchor="t">
            <a:spAutoFit/>
          </a:bodyPr>
          <a:lstStyle/>
          <a:p>
            <a:r>
              <a:rPr sz="1200" b="1">
                <a:solidFill>
                  <a:srgbClr val="1E3A8A"/>
                </a:solidFill>
                <a:latin typeface="Pretendard"/>
              </a:rPr>
              <a:t>자동 인쇄 진단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19472" y="1572768"/>
            <a:ext cx="3566159" cy="292608"/>
          </a:xfrm>
          <a:prstGeom prst="rect">
            <a:avLst/>
          </a:prstGeom>
          <a:noFill/>
        </p:spPr>
        <p:txBody>
          <a:bodyPr wrap="none" lIns="73152" rIns="73152" tIns="36576" bIns="36576" anchor="t">
            <a:spAutoFit/>
          </a:bodyPr>
          <a:lstStyle/>
          <a:p>
            <a:r>
              <a:rPr sz="950" b="0">
                <a:solidFill>
                  <a:srgbClr val="343A40"/>
                </a:solidFill>
                <a:latin typeface="Pretendard"/>
              </a:rPr>
              <a:t>- 출력 대기 시간은 4초입니다.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19472" y="1920240"/>
            <a:ext cx="3566159" cy="292608"/>
          </a:xfrm>
          <a:prstGeom prst="rect">
            <a:avLst/>
          </a:prstGeom>
          <a:noFill/>
        </p:spPr>
        <p:txBody>
          <a:bodyPr wrap="none" lIns="73152" rIns="73152" tIns="36576" bIns="36576" anchor="t">
            <a:spAutoFit/>
          </a:bodyPr>
          <a:lstStyle/>
          <a:p>
            <a:r>
              <a:rPr sz="950" b="0">
                <a:solidFill>
                  <a:srgbClr val="343A40"/>
                </a:solidFill>
                <a:latin typeface="Pretendard"/>
              </a:rPr>
              <a:t>- 로그 문구는 “출력 요청”으로 표시됩니다.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19472" y="2267712"/>
            <a:ext cx="3566159" cy="292608"/>
          </a:xfrm>
          <a:prstGeom prst="rect">
            <a:avLst/>
          </a:prstGeom>
          <a:noFill/>
        </p:spPr>
        <p:txBody>
          <a:bodyPr wrap="none" lIns="73152" rIns="73152" tIns="36576" bIns="36576" anchor="t">
            <a:spAutoFit/>
          </a:bodyPr>
          <a:lstStyle/>
          <a:p>
            <a:r>
              <a:rPr sz="950" b="0">
                <a:solidFill>
                  <a:srgbClr val="343A40"/>
                </a:solidFill>
                <a:latin typeface="Pretendard"/>
              </a:rPr>
              <a:t>- 인쇄요청목록.txt와 인쇄결과목록.txt가 생성됩니다.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3493008"/>
            <a:ext cx="7863840" cy="82296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E0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0080" y="3493008"/>
            <a:ext cx="54864" cy="822960"/>
          </a:xfrm>
          <a:prstGeom prst="rect">
            <a:avLst/>
          </a:prstGeom>
          <a:solidFill>
            <a:srgbClr val="8564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4671" y="3630168"/>
            <a:ext cx="7543800" cy="228600"/>
          </a:xfrm>
          <a:prstGeom prst="rect">
            <a:avLst/>
          </a:prstGeom>
          <a:noFill/>
        </p:spPr>
        <p:txBody>
          <a:bodyPr wrap="none" lIns="73152" rIns="73152" tIns="36576" bIns="36576" anchor="t">
            <a:spAutoFit/>
          </a:bodyPr>
          <a:lstStyle/>
          <a:p>
            <a:r>
              <a:rPr sz="1200" b="1">
                <a:solidFill>
                  <a:srgbClr val="1E3A8A"/>
                </a:solidFill>
                <a:latin typeface="Pretendard"/>
              </a:rPr>
              <a:t>누락 확인법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4671" y="3931920"/>
            <a:ext cx="7543800" cy="320040"/>
          </a:xfrm>
          <a:prstGeom prst="rect">
            <a:avLst/>
          </a:prstGeom>
          <a:noFill/>
        </p:spPr>
        <p:txBody>
          <a:bodyPr wrap="none" lIns="73152" rIns="73152" tIns="36576" bIns="36576" anchor="t">
            <a:spAutoFit/>
          </a:bodyPr>
          <a:lstStyle/>
          <a:p>
            <a:r>
              <a:rPr sz="950" b="0">
                <a:solidFill>
                  <a:srgbClr val="343A40"/>
                </a:solidFill>
                <a:latin typeface="Pretendard"/>
              </a:rPr>
              <a:t>실제 출력물이 빠진 경우 결과 폴더의 인쇄요청목록과 인쇄결과목록을 비교하세요. 주문코드 확인 여부, 실제 열린 URL, 페이지 제목을 볼 수 있습니다.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3B5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1280160" cy="228600"/>
          </a:xfrm>
          <a:prstGeom prst="rect">
            <a:avLst/>
          </a:prstGeom>
          <a:noFill/>
        </p:spPr>
        <p:txBody>
          <a:bodyPr wrap="none" lIns="73152" rIns="73152" tIns="36576" bIns="36576" anchor="t">
            <a:spAutoFit/>
          </a:bodyPr>
          <a:lstStyle/>
          <a:p>
            <a:r>
              <a:rPr sz="900" b="1">
                <a:solidFill>
                  <a:srgbClr val="3B5BDB"/>
                </a:solidFill>
                <a:latin typeface="Pretendard"/>
              </a:rPr>
              <a:t>Tab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30352"/>
            <a:ext cx="6217920" cy="411480"/>
          </a:xfrm>
          <a:prstGeom prst="rect">
            <a:avLst/>
          </a:prstGeom>
          <a:noFill/>
        </p:spPr>
        <p:txBody>
          <a:bodyPr wrap="none" lIns="73152" rIns="73152" tIns="36576" bIns="36576" anchor="t">
            <a:spAutoFit/>
          </a:bodyPr>
          <a:lstStyle/>
          <a:p>
            <a:r>
              <a:rPr sz="2200" b="1">
                <a:solidFill>
                  <a:srgbClr val="1E3A8A"/>
                </a:solidFill>
                <a:latin typeface="Pretendard"/>
              </a:rPr>
              <a:t>대한통운 파일 접수 발송처리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932688"/>
            <a:ext cx="7680960" cy="320040"/>
          </a:xfrm>
          <a:prstGeom prst="rect">
            <a:avLst/>
          </a:prstGeom>
          <a:noFill/>
        </p:spPr>
        <p:txBody>
          <a:bodyPr wrap="none" lIns="73152" rIns="73152" tIns="36576" bIns="36576" anchor="t">
            <a:spAutoFit/>
          </a:bodyPr>
          <a:lstStyle/>
          <a:p>
            <a:r>
              <a:rPr sz="1050" b="0">
                <a:solidFill>
                  <a:srgbClr val="6C757D"/>
                </a:solidFill>
                <a:latin typeface="Pretendard"/>
              </a:rPr>
              <a:t>CJ 배송 상세내역 엑셀을 업로드해 송장번호 입력과 발송 상태 전환을 처리합니다.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143000"/>
            <a:ext cx="3657600" cy="84124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E0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143000"/>
            <a:ext cx="54864" cy="841248"/>
          </a:xfrm>
          <a:prstGeom prst="rect">
            <a:avLst/>
          </a:prstGeom>
          <a:solidFill>
            <a:srgbClr val="3B5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" y="1280160"/>
            <a:ext cx="3337560" cy="228600"/>
          </a:xfrm>
          <a:prstGeom prst="rect">
            <a:avLst/>
          </a:prstGeom>
          <a:noFill/>
        </p:spPr>
        <p:txBody>
          <a:bodyPr wrap="none" lIns="73152" rIns="73152" tIns="36576" bIns="36576" anchor="t">
            <a:spAutoFit/>
          </a:bodyPr>
          <a:lstStyle/>
          <a:p>
            <a:r>
              <a:rPr sz="1200" b="1">
                <a:solidFill>
                  <a:srgbClr val="1E3A8A"/>
                </a:solidFill>
                <a:latin typeface="Pretendard"/>
              </a:rPr>
              <a:t>1. 파일 준비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1581912"/>
            <a:ext cx="3337560" cy="338328"/>
          </a:xfrm>
          <a:prstGeom prst="rect">
            <a:avLst/>
          </a:prstGeom>
          <a:noFill/>
        </p:spPr>
        <p:txBody>
          <a:bodyPr wrap="none" lIns="73152" rIns="73152" tIns="36576" bIns="36576" anchor="t">
            <a:spAutoFit/>
          </a:bodyPr>
          <a:lstStyle/>
          <a:p>
            <a:r>
              <a:rPr sz="950" b="0">
                <a:solidFill>
                  <a:srgbClr val="343A40"/>
                </a:solidFill>
                <a:latin typeface="Pretendard"/>
              </a:rPr>
              <a:t>CJ에서 배송 상세내역 엑셀 다운로드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709159" y="1143000"/>
            <a:ext cx="3657600" cy="84124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E0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709159" y="1143000"/>
            <a:ext cx="54864" cy="841248"/>
          </a:xfrm>
          <a:prstGeom prst="rect">
            <a:avLst/>
          </a:prstGeom>
          <a:solidFill>
            <a:srgbClr val="2F85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73751" y="1280160"/>
            <a:ext cx="3337560" cy="228600"/>
          </a:xfrm>
          <a:prstGeom prst="rect">
            <a:avLst/>
          </a:prstGeom>
          <a:noFill/>
        </p:spPr>
        <p:txBody>
          <a:bodyPr wrap="none" lIns="73152" rIns="73152" tIns="36576" bIns="36576" anchor="t">
            <a:spAutoFit/>
          </a:bodyPr>
          <a:lstStyle/>
          <a:p>
            <a:r>
              <a:rPr sz="1200" b="1">
                <a:solidFill>
                  <a:srgbClr val="1E3A8A"/>
                </a:solidFill>
                <a:latin typeface="Pretendard"/>
              </a:rPr>
              <a:t>2. 기간 설정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73751" y="1581912"/>
            <a:ext cx="3337560" cy="338328"/>
          </a:xfrm>
          <a:prstGeom prst="rect">
            <a:avLst/>
          </a:prstGeom>
          <a:noFill/>
        </p:spPr>
        <p:txBody>
          <a:bodyPr wrap="none" lIns="73152" rIns="73152" tIns="36576" bIns="36576" anchor="t">
            <a:spAutoFit/>
          </a:bodyPr>
          <a:lstStyle/>
          <a:p>
            <a:r>
              <a:rPr sz="950" b="0">
                <a:solidFill>
                  <a:srgbClr val="343A40"/>
                </a:solidFill>
                <a:latin typeface="Pretendard"/>
              </a:rPr>
              <a:t>상단 조회기간 입력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2377440"/>
            <a:ext cx="3657600" cy="84124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E0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2377440"/>
            <a:ext cx="54864" cy="841248"/>
          </a:xfrm>
          <a:prstGeom prst="rect">
            <a:avLst/>
          </a:prstGeom>
          <a:solidFill>
            <a:srgbClr val="3B5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13232" y="2514600"/>
            <a:ext cx="3337560" cy="228600"/>
          </a:xfrm>
          <a:prstGeom prst="rect">
            <a:avLst/>
          </a:prstGeom>
          <a:noFill/>
        </p:spPr>
        <p:txBody>
          <a:bodyPr wrap="none" lIns="73152" rIns="73152" tIns="36576" bIns="36576" anchor="t">
            <a:spAutoFit/>
          </a:bodyPr>
          <a:lstStyle/>
          <a:p>
            <a:r>
              <a:rPr sz="1200" b="1">
                <a:solidFill>
                  <a:srgbClr val="1E3A8A"/>
                </a:solidFill>
                <a:latin typeface="Pretendard"/>
              </a:rPr>
              <a:t>3. 파일 선택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3232" y="2816352"/>
            <a:ext cx="3337560" cy="338328"/>
          </a:xfrm>
          <a:prstGeom prst="rect">
            <a:avLst/>
          </a:prstGeom>
          <a:noFill/>
        </p:spPr>
        <p:txBody>
          <a:bodyPr wrap="none" lIns="73152" rIns="73152" tIns="36576" bIns="36576" anchor="t">
            <a:spAutoFit/>
          </a:bodyPr>
          <a:lstStyle/>
          <a:p>
            <a:r>
              <a:rPr sz="950" b="0">
                <a:solidFill>
                  <a:srgbClr val="343A40"/>
                </a:solidFill>
                <a:latin typeface="Pretendard"/>
              </a:rPr>
              <a:t>여러 파일 업로드 가능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709159" y="2377440"/>
            <a:ext cx="3657600" cy="84124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E0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709159" y="2377440"/>
            <a:ext cx="54864" cy="841248"/>
          </a:xfrm>
          <a:prstGeom prst="rect">
            <a:avLst/>
          </a:prstGeom>
          <a:solidFill>
            <a:srgbClr val="2F85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873751" y="2514600"/>
            <a:ext cx="3337560" cy="228600"/>
          </a:xfrm>
          <a:prstGeom prst="rect">
            <a:avLst/>
          </a:prstGeom>
          <a:noFill/>
        </p:spPr>
        <p:txBody>
          <a:bodyPr wrap="none" lIns="73152" rIns="73152" tIns="36576" bIns="36576" anchor="t">
            <a:spAutoFit/>
          </a:bodyPr>
          <a:lstStyle/>
          <a:p>
            <a:r>
              <a:rPr sz="1200" b="1">
                <a:solidFill>
                  <a:srgbClr val="1E3A8A"/>
                </a:solidFill>
                <a:latin typeface="Pretendard"/>
              </a:rPr>
              <a:t>4. 실행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73751" y="2816352"/>
            <a:ext cx="3337560" cy="338328"/>
          </a:xfrm>
          <a:prstGeom prst="rect">
            <a:avLst/>
          </a:prstGeom>
          <a:noFill/>
        </p:spPr>
        <p:txBody>
          <a:bodyPr wrap="none" lIns="73152" rIns="73152" tIns="36576" bIns="36576" anchor="t">
            <a:spAutoFit/>
          </a:bodyPr>
          <a:lstStyle/>
          <a:p>
            <a:r>
              <a:rPr sz="950" b="0">
                <a:solidFill>
                  <a:srgbClr val="343A40"/>
                </a:solidFill>
                <a:latin typeface="Pretendard"/>
              </a:rPr>
              <a:t>송장 입력 후 발송 상태 전환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2960" y="3703320"/>
            <a:ext cx="7498079" cy="86868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E0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22960" y="3703320"/>
            <a:ext cx="54864" cy="868680"/>
          </a:xfrm>
          <a:prstGeom prst="rect">
            <a:avLst/>
          </a:prstGeom>
          <a:solidFill>
            <a:srgbClr val="8564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87552" y="3840480"/>
            <a:ext cx="7178040" cy="228600"/>
          </a:xfrm>
          <a:prstGeom prst="rect">
            <a:avLst/>
          </a:prstGeom>
          <a:noFill/>
        </p:spPr>
        <p:txBody>
          <a:bodyPr wrap="none" lIns="73152" rIns="73152" tIns="36576" bIns="36576" anchor="t">
            <a:spAutoFit/>
          </a:bodyPr>
          <a:lstStyle/>
          <a:p>
            <a:r>
              <a:rPr sz="1200" b="1">
                <a:solidFill>
                  <a:srgbClr val="1E3A8A"/>
                </a:solidFill>
                <a:latin typeface="Pretendard"/>
              </a:rPr>
              <a:t>오류가 나는 경우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78992" y="4178808"/>
            <a:ext cx="7086599" cy="292608"/>
          </a:xfrm>
          <a:prstGeom prst="rect">
            <a:avLst/>
          </a:prstGeom>
          <a:noFill/>
        </p:spPr>
        <p:txBody>
          <a:bodyPr wrap="none" lIns="73152" rIns="73152" tIns="36576" bIns="36576" anchor="t">
            <a:spAutoFit/>
          </a:bodyPr>
          <a:lstStyle/>
          <a:p>
            <a:r>
              <a:rPr sz="950" b="0">
                <a:solidFill>
                  <a:srgbClr val="343A40"/>
                </a:solidFill>
                <a:latin typeface="Pretendard"/>
              </a:rPr>
              <a:t>- 기존 송장번호와 업로드 파일 송장번호가 다르면 오류로 멈춥니다.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78992" y="4526280"/>
            <a:ext cx="7086599" cy="292608"/>
          </a:xfrm>
          <a:prstGeom prst="rect">
            <a:avLst/>
          </a:prstGeom>
          <a:noFill/>
        </p:spPr>
        <p:txBody>
          <a:bodyPr wrap="none" lIns="73152" rIns="73152" tIns="36576" bIns="36576" anchor="t">
            <a:spAutoFit/>
          </a:bodyPr>
          <a:lstStyle/>
          <a:p>
            <a:r>
              <a:rPr sz="950" b="0">
                <a:solidFill>
                  <a:srgbClr val="343A40"/>
                </a:solidFill>
                <a:latin typeface="Pretendard"/>
              </a:rPr>
              <a:t>- 파일을 다시 다운로드해 최신 송장번호를 확인하세요.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3B5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1280160" cy="228600"/>
          </a:xfrm>
          <a:prstGeom prst="rect">
            <a:avLst/>
          </a:prstGeom>
          <a:noFill/>
        </p:spPr>
        <p:txBody>
          <a:bodyPr wrap="none" lIns="73152" rIns="73152" tIns="36576" bIns="36576" anchor="t">
            <a:spAutoFit/>
          </a:bodyPr>
          <a:lstStyle/>
          <a:p>
            <a:r>
              <a:rPr sz="900" b="1">
                <a:solidFill>
                  <a:srgbClr val="3B5BDB"/>
                </a:solidFill>
                <a:latin typeface="Pretendard"/>
              </a:rPr>
              <a:t>Tab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30352"/>
            <a:ext cx="6217920" cy="411480"/>
          </a:xfrm>
          <a:prstGeom prst="rect">
            <a:avLst/>
          </a:prstGeom>
          <a:noFill/>
        </p:spPr>
        <p:txBody>
          <a:bodyPr wrap="none" lIns="73152" rIns="73152" tIns="36576" bIns="36576" anchor="t">
            <a:spAutoFit/>
          </a:bodyPr>
          <a:lstStyle/>
          <a:p>
            <a:r>
              <a:rPr sz="2200" b="1">
                <a:solidFill>
                  <a:srgbClr val="1E3A8A"/>
                </a:solidFill>
                <a:latin typeface="Pretendard"/>
              </a:rPr>
              <a:t>벌크 발송처리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932688"/>
            <a:ext cx="7680960" cy="320040"/>
          </a:xfrm>
          <a:prstGeom prst="rect">
            <a:avLst/>
          </a:prstGeom>
          <a:noFill/>
        </p:spPr>
        <p:txBody>
          <a:bodyPr wrap="none" lIns="73152" rIns="73152" tIns="36576" bIns="36576" anchor="t">
            <a:spAutoFit/>
          </a:bodyPr>
          <a:lstStyle/>
          <a:p>
            <a:r>
              <a:rPr sz="1050" b="0">
                <a:solidFill>
                  <a:srgbClr val="6C757D"/>
                </a:solidFill>
                <a:latin typeface="Pretendard"/>
              </a:rPr>
              <a:t>고래한방병원 벌크 주문을 지점별로 스캔하고 CJ 벌크 업로드 파일을 만듭니다.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115568"/>
            <a:ext cx="3886200" cy="182880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E0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115568"/>
            <a:ext cx="54864" cy="1828800"/>
          </a:xfrm>
          <a:prstGeom prst="rect">
            <a:avLst/>
          </a:prstGeom>
          <a:solidFill>
            <a:srgbClr val="3B5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" y="1252728"/>
            <a:ext cx="3566160" cy="228600"/>
          </a:xfrm>
          <a:prstGeom prst="rect">
            <a:avLst/>
          </a:prstGeom>
          <a:noFill/>
        </p:spPr>
        <p:txBody>
          <a:bodyPr wrap="none" lIns="73152" rIns="73152" tIns="36576" bIns="36576" anchor="t">
            <a:spAutoFit/>
          </a:bodyPr>
          <a:lstStyle/>
          <a:p>
            <a:r>
              <a:rPr sz="1200" b="1">
                <a:solidFill>
                  <a:srgbClr val="1E3A8A"/>
                </a:solidFill>
                <a:latin typeface="Pretendard"/>
              </a:rPr>
              <a:t>벌크 기준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" y="1591056"/>
            <a:ext cx="3474720" cy="292608"/>
          </a:xfrm>
          <a:prstGeom prst="rect">
            <a:avLst/>
          </a:prstGeom>
          <a:noFill/>
        </p:spPr>
        <p:txBody>
          <a:bodyPr wrap="none" lIns="73152" rIns="73152" tIns="36576" bIns="36576" anchor="t">
            <a:spAutoFit/>
          </a:bodyPr>
          <a:lstStyle/>
          <a:p>
            <a:r>
              <a:rPr sz="950" b="0">
                <a:solidFill>
                  <a:srgbClr val="343A40"/>
                </a:solidFill>
                <a:latin typeface="Pretendard"/>
              </a:rPr>
              <a:t>- 고래한방 + 한의원으로 택배 + 30팩 미만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1938528"/>
            <a:ext cx="3474720" cy="292608"/>
          </a:xfrm>
          <a:prstGeom prst="rect">
            <a:avLst/>
          </a:prstGeom>
          <a:noFill/>
        </p:spPr>
        <p:txBody>
          <a:bodyPr wrap="none" lIns="73152" rIns="73152" tIns="36576" bIns="36576" anchor="t">
            <a:spAutoFit/>
          </a:bodyPr>
          <a:lstStyle/>
          <a:p>
            <a:r>
              <a:rPr sz="950" b="0">
                <a:solidFill>
                  <a:srgbClr val="343A40"/>
                </a:solidFill>
                <a:latin typeface="Pretendard"/>
              </a:rPr>
              <a:t>- 30팩 이상은 별도 박스로 보고 벌크 CJ 양식에서 제외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" y="2286000"/>
            <a:ext cx="3474720" cy="292608"/>
          </a:xfrm>
          <a:prstGeom prst="rect">
            <a:avLst/>
          </a:prstGeom>
          <a:noFill/>
        </p:spPr>
        <p:txBody>
          <a:bodyPr wrap="none" lIns="73152" rIns="73152" tIns="36576" bIns="36576" anchor="t">
            <a:spAutoFit/>
          </a:bodyPr>
          <a:lstStyle/>
          <a:p>
            <a:r>
              <a:rPr sz="950" b="0">
                <a:solidFill>
                  <a:srgbClr val="343A40"/>
                </a:solidFill>
                <a:latin typeface="Pretendard"/>
              </a:rPr>
              <a:t>- 관저/판암/세종 모두 지점별로 처리합니다.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709160" y="1115568"/>
            <a:ext cx="3886200" cy="182880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E0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709160" y="1115568"/>
            <a:ext cx="54864" cy="1828800"/>
          </a:xfrm>
          <a:prstGeom prst="rect">
            <a:avLst/>
          </a:prstGeom>
          <a:solidFill>
            <a:srgbClr val="2F85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73752" y="1252728"/>
            <a:ext cx="3566160" cy="228600"/>
          </a:xfrm>
          <a:prstGeom prst="rect">
            <a:avLst/>
          </a:prstGeom>
          <a:noFill/>
        </p:spPr>
        <p:txBody>
          <a:bodyPr wrap="none" lIns="73152" rIns="73152" tIns="36576" bIns="36576" anchor="t">
            <a:spAutoFit/>
          </a:bodyPr>
          <a:lstStyle/>
          <a:p>
            <a:r>
              <a:rPr sz="1200" b="1">
                <a:solidFill>
                  <a:srgbClr val="1E3A8A"/>
                </a:solidFill>
                <a:latin typeface="Pretendard"/>
              </a:rPr>
              <a:t>작업 순서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65192" y="1591056"/>
            <a:ext cx="3474720" cy="292608"/>
          </a:xfrm>
          <a:prstGeom prst="rect">
            <a:avLst/>
          </a:prstGeom>
          <a:noFill/>
        </p:spPr>
        <p:txBody>
          <a:bodyPr wrap="none" lIns="73152" rIns="73152" tIns="36576" bIns="36576" anchor="t">
            <a:spAutoFit/>
          </a:bodyPr>
          <a:lstStyle/>
          <a:p>
            <a:r>
              <a:rPr sz="950" b="0">
                <a:solidFill>
                  <a:srgbClr val="343A40"/>
                </a:solidFill>
                <a:latin typeface="Pretendard"/>
              </a:rPr>
              <a:t>- 상단 조회기간 설정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65192" y="1938528"/>
            <a:ext cx="3474720" cy="292608"/>
          </a:xfrm>
          <a:prstGeom prst="rect">
            <a:avLst/>
          </a:prstGeom>
          <a:noFill/>
        </p:spPr>
        <p:txBody>
          <a:bodyPr wrap="none" lIns="73152" rIns="73152" tIns="36576" bIns="36576" anchor="t">
            <a:spAutoFit/>
          </a:bodyPr>
          <a:lstStyle/>
          <a:p>
            <a:r>
              <a:rPr sz="950" b="0">
                <a:solidFill>
                  <a:srgbClr val="343A40"/>
                </a:solidFill>
                <a:latin typeface="Pretendard"/>
              </a:rPr>
              <a:t>- 벌크 스캔 실행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65192" y="2286000"/>
            <a:ext cx="3474720" cy="292608"/>
          </a:xfrm>
          <a:prstGeom prst="rect">
            <a:avLst/>
          </a:prstGeom>
          <a:noFill/>
        </p:spPr>
        <p:txBody>
          <a:bodyPr wrap="none" lIns="73152" rIns="73152" tIns="36576" bIns="36576" anchor="t">
            <a:spAutoFit/>
          </a:bodyPr>
          <a:lstStyle/>
          <a:p>
            <a:r>
              <a:rPr sz="950" b="0">
                <a:solidFill>
                  <a:srgbClr val="343A40"/>
                </a:solidFill>
                <a:latin typeface="Pretendard"/>
              </a:rPr>
              <a:t>- 스캔 완료 후 벌크 CJ 파일 생성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65192" y="2633472"/>
            <a:ext cx="3474720" cy="292608"/>
          </a:xfrm>
          <a:prstGeom prst="rect">
            <a:avLst/>
          </a:prstGeom>
          <a:noFill/>
        </p:spPr>
        <p:txBody>
          <a:bodyPr wrap="none" lIns="73152" rIns="73152" tIns="36576" bIns="36576" anchor="t">
            <a:spAutoFit/>
          </a:bodyPr>
          <a:lstStyle/>
          <a:p>
            <a:r>
              <a:rPr sz="950" b="0">
                <a:solidFill>
                  <a:srgbClr val="343A40"/>
                </a:solidFill>
                <a:latin typeface="Pretendard"/>
              </a:rPr>
              <a:t>- CJ 시스템에 업로드 후 송장 처리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3566160"/>
            <a:ext cx="7772400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E0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85800" y="3566160"/>
            <a:ext cx="54864" cy="658368"/>
          </a:xfrm>
          <a:prstGeom prst="rect">
            <a:avLst/>
          </a:prstGeom>
          <a:solidFill>
            <a:srgbClr val="8564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0392" y="3703320"/>
            <a:ext cx="7452360" cy="228600"/>
          </a:xfrm>
          <a:prstGeom prst="rect">
            <a:avLst/>
          </a:prstGeom>
          <a:noFill/>
        </p:spPr>
        <p:txBody>
          <a:bodyPr wrap="none" lIns="73152" rIns="73152" tIns="36576" bIns="36576" anchor="t">
            <a:spAutoFit/>
          </a:bodyPr>
          <a:lstStyle/>
          <a:p>
            <a:r>
              <a:rPr sz="1200" b="1">
                <a:solidFill>
                  <a:srgbClr val="1E3A8A"/>
                </a:solidFill>
                <a:latin typeface="Pretendard"/>
              </a:rPr>
              <a:t>세종점 반영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0392" y="4005072"/>
            <a:ext cx="7452360" cy="155447"/>
          </a:xfrm>
          <a:prstGeom prst="rect">
            <a:avLst/>
          </a:prstGeom>
          <a:noFill/>
        </p:spPr>
        <p:txBody>
          <a:bodyPr wrap="none" lIns="73152" rIns="73152" tIns="36576" bIns="36576" anchor="t">
            <a:spAutoFit/>
          </a:bodyPr>
          <a:lstStyle/>
          <a:p>
            <a:r>
              <a:rPr sz="950" b="0">
                <a:solidFill>
                  <a:srgbClr val="343A40"/>
                </a:solidFill>
                <a:latin typeface="Pretendard"/>
              </a:rPr>
              <a:t>세종점도 입원/벌크 케이스에 반영됩니다. 단, 벌크 기준은 다른 지점과 동일하게 30팩 미만입니다.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3B5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1280160" cy="228600"/>
          </a:xfrm>
          <a:prstGeom prst="rect">
            <a:avLst/>
          </a:prstGeom>
          <a:noFill/>
        </p:spPr>
        <p:txBody>
          <a:bodyPr wrap="none" lIns="73152" rIns="73152" tIns="36576" bIns="36576" anchor="t">
            <a:spAutoFit/>
          </a:bodyPr>
          <a:lstStyle/>
          <a:p>
            <a:r>
              <a:rPr sz="900" b="1">
                <a:solidFill>
                  <a:srgbClr val="3B5BDB"/>
                </a:solidFill>
                <a:latin typeface="Pretendard"/>
              </a:rPr>
              <a:t>Check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30352"/>
            <a:ext cx="6217920" cy="411480"/>
          </a:xfrm>
          <a:prstGeom prst="rect">
            <a:avLst/>
          </a:prstGeom>
          <a:noFill/>
        </p:spPr>
        <p:txBody>
          <a:bodyPr wrap="none" lIns="73152" rIns="73152" tIns="36576" bIns="36576" anchor="t">
            <a:spAutoFit/>
          </a:bodyPr>
          <a:lstStyle/>
          <a:p>
            <a:r>
              <a:rPr sz="2200" b="1">
                <a:solidFill>
                  <a:srgbClr val="1E3A8A"/>
                </a:solidFill>
                <a:latin typeface="Pretendard"/>
              </a:rPr>
              <a:t>문제 발생 시 확인 순서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932688"/>
            <a:ext cx="7680960" cy="320040"/>
          </a:xfrm>
          <a:prstGeom prst="rect">
            <a:avLst/>
          </a:prstGeom>
          <a:noFill/>
        </p:spPr>
        <p:txBody>
          <a:bodyPr wrap="none" lIns="73152" rIns="73152" tIns="36576" bIns="36576" anchor="t">
            <a:spAutoFit/>
          </a:bodyPr>
          <a:lstStyle/>
          <a:p>
            <a:r>
              <a:rPr sz="1050" b="0">
                <a:solidFill>
                  <a:srgbClr val="6C757D"/>
                </a:solidFill>
                <a:latin typeface="Pretendard"/>
              </a:rPr>
              <a:t>가장 먼저 결과 폴더의 로그와 생성 파일을 확인합니다.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94360" y="1051560"/>
          <a:ext cx="7955280" cy="2880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2926080"/>
                <a:gridCol w="3200400"/>
              </a:tblGrid>
              <a:tr h="576072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Pretendard"/>
                        </a:rPr>
                        <a:t>증상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Pretendard"/>
                        </a:rPr>
                        <a:t>확인할 파일/위치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Pretendard"/>
                        </a:rPr>
                        <a:t>조치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</a:tr>
              <a:tr h="576072">
                <a:tc>
                  <a:txBody>
                    <a:bodyPr/>
                    <a:lstStyle/>
                    <a:p>
                      <a:pPr algn="ctr"/>
                      <a:r>
                        <a:rPr sz="830">
                          <a:solidFill>
                            <a:srgbClr val="343A40"/>
                          </a:solidFill>
                          <a:latin typeface="Pretendard"/>
                        </a:rPr>
                        <a:t>출력물이 빠짐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30">
                          <a:solidFill>
                            <a:srgbClr val="343A40"/>
                          </a:solidFill>
                          <a:latin typeface="Pretendard"/>
                        </a:rPr>
                        <a:t>인쇄요청목록.txt / 인쇄결과목록.txt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30">
                          <a:solidFill>
                            <a:srgbClr val="343A40"/>
                          </a:solidFill>
                          <a:latin typeface="Pretendard"/>
                        </a:rPr>
                        <a:t>대기열 포함 여부와 주문코드 확인 여부 확인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76072">
                <a:tc>
                  <a:txBody>
                    <a:bodyPr/>
                    <a:lstStyle/>
                    <a:p>
                      <a:pPr algn="ctr"/>
                      <a:r>
                        <a:rPr sz="830">
                          <a:solidFill>
                            <a:srgbClr val="343A40"/>
                          </a:solidFill>
                          <a:latin typeface="Pretendard"/>
                        </a:rPr>
                        <a:t>CJ 전화번호 이상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30">
                          <a:solidFill>
                            <a:srgbClr val="343A40"/>
                          </a:solidFill>
                          <a:latin typeface="Pretendard"/>
                        </a:rPr>
                        <a:t>대한통운 업로드 양식 L열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30">
                          <a:solidFill>
                            <a:srgbClr val="343A40"/>
                          </a:solidFill>
                          <a:latin typeface="Pretendard"/>
                        </a:rPr>
                        <a:t>한의원명/지점/주문자명 매핑 확인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</a:tr>
              <a:tr h="576072">
                <a:tc>
                  <a:txBody>
                    <a:bodyPr/>
                    <a:lstStyle/>
                    <a:p>
                      <a:pPr algn="ctr"/>
                      <a:r>
                        <a:rPr sz="830">
                          <a:solidFill>
                            <a:srgbClr val="343A40"/>
                          </a:solidFill>
                          <a:latin typeface="Pretendard"/>
                        </a:rPr>
                        <a:t>필터 결과가 적음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30">
                          <a:solidFill>
                            <a:srgbClr val="343A40"/>
                          </a:solidFill>
                          <a:latin typeface="Pretendard"/>
                        </a:rPr>
                        <a:t>필터 영역 검색대상/검색어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30">
                          <a:solidFill>
                            <a:srgbClr val="343A40"/>
                          </a:solidFill>
                          <a:latin typeface="Pretendard"/>
                        </a:rPr>
                        <a:t>콤마 구분과 검색대상 선택 확인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76072">
                <a:tc>
                  <a:txBody>
                    <a:bodyPr/>
                    <a:lstStyle/>
                    <a:p>
                      <a:pPr algn="ctr"/>
                      <a:r>
                        <a:rPr sz="830">
                          <a:solidFill>
                            <a:srgbClr val="343A40"/>
                          </a:solidFill>
                          <a:latin typeface="Pretendard"/>
                        </a:rPr>
                        <a:t>고래 지점 분류 이상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30">
                          <a:solidFill>
                            <a:srgbClr val="343A40"/>
                          </a:solidFill>
                          <a:latin typeface="Pretendard"/>
                        </a:rPr>
                        <a:t>주문자명, 보내는분/받는분 주소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30">
                          <a:solidFill>
                            <a:srgbClr val="343A40"/>
                          </a:solidFill>
                          <a:latin typeface="Pretendard"/>
                        </a:rPr>
                        <a:t>관저/판암/세종 키워드 또는 담당자명 확인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31520" y="4224528"/>
            <a:ext cx="7680960" cy="219456"/>
          </a:xfrm>
          <a:prstGeom prst="rect">
            <a:avLst/>
          </a:prstGeom>
          <a:noFill/>
        </p:spPr>
        <p:txBody>
          <a:bodyPr wrap="none" lIns="73152" rIns="73152" tIns="36576" bIns="36576" anchor="t">
            <a:spAutoFit/>
          </a:bodyPr>
          <a:lstStyle/>
          <a:p>
            <a:r>
              <a:rPr sz="950" b="0">
                <a:solidFill>
                  <a:srgbClr val="6C757D"/>
                </a:solidFill>
                <a:latin typeface="Pretendard"/>
              </a:rPr>
              <a:t>반복되는 문제는 결과 파일과 로그를 함께 남겨두면 다음 수정 시 원인을 빠르게 좁힐 수 있습니다.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3B5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658368"/>
            <a:ext cx="6949440" cy="292608"/>
          </a:xfrm>
          <a:prstGeom prst="rect">
            <a:avLst/>
          </a:prstGeom>
          <a:noFill/>
        </p:spPr>
        <p:txBody>
          <a:bodyPr wrap="none" lIns="73152" rIns="73152" tIns="36576" bIns="36576" anchor="t">
            <a:spAutoFit/>
          </a:bodyPr>
          <a:lstStyle/>
          <a:p>
            <a:r>
              <a:rPr sz="1200" b="1">
                <a:solidFill>
                  <a:srgbClr val="3B5BDB"/>
                </a:solidFill>
                <a:latin typeface="Pretendard"/>
              </a:rPr>
              <a:t>Quick Reference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987552"/>
            <a:ext cx="7132320" cy="548640"/>
          </a:xfrm>
          <a:prstGeom prst="rect">
            <a:avLst/>
          </a:prstGeom>
          <a:noFill/>
        </p:spPr>
        <p:txBody>
          <a:bodyPr wrap="none" lIns="73152" rIns="73152" tIns="36576" bIns="36576" anchor="t">
            <a:spAutoFit/>
          </a:bodyPr>
          <a:lstStyle/>
          <a:p>
            <a:r>
              <a:rPr sz="3000" b="1">
                <a:solidFill>
                  <a:srgbClr val="1E3A8A"/>
                </a:solidFill>
                <a:latin typeface="Pretendard"/>
              </a:rPr>
              <a:t>v12.50 핵심 변경 요약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847088"/>
            <a:ext cx="7498079" cy="38404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E0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1847088"/>
            <a:ext cx="54864" cy="384048"/>
          </a:xfrm>
          <a:prstGeom prst="rect">
            <a:avLst/>
          </a:prstGeom>
          <a:solidFill>
            <a:srgbClr val="3B5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7552" y="1984248"/>
            <a:ext cx="7178040" cy="228600"/>
          </a:xfrm>
          <a:prstGeom prst="rect">
            <a:avLst/>
          </a:prstGeom>
          <a:noFill/>
        </p:spPr>
        <p:txBody>
          <a:bodyPr wrap="none" lIns="73152" rIns="73152" tIns="36576" bIns="36576" anchor="t">
            <a:spAutoFit/>
          </a:bodyPr>
          <a:lstStyle/>
          <a:p>
            <a:r>
              <a:rPr sz="1200" b="1">
                <a:solidFill>
                  <a:srgbClr val="1E3A8A"/>
                </a:solidFill>
                <a:latin typeface="Pretendard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7552" y="2286000"/>
            <a:ext cx="7178040" cy="-118872"/>
          </a:xfrm>
          <a:prstGeom prst="rect">
            <a:avLst/>
          </a:prstGeom>
          <a:noFill/>
        </p:spPr>
        <p:txBody>
          <a:bodyPr wrap="none" lIns="73152" rIns="73152" tIns="36576" bIns="36576" anchor="t">
            <a:spAutoFit/>
          </a:bodyPr>
          <a:lstStyle/>
          <a:p>
            <a:r>
              <a:rPr sz="950" b="0">
                <a:solidFill>
                  <a:srgbClr val="343A40"/>
                </a:solidFill>
                <a:latin typeface="Pretendard"/>
              </a:rPr>
              <a:t>탭1 기본값: 엑셀/CJ/라벨/자동전환/주문내역서 저장 중심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2350008"/>
            <a:ext cx="7498079" cy="38404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E0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60" y="2350008"/>
            <a:ext cx="54864" cy="384048"/>
          </a:xfrm>
          <a:prstGeom prst="rect">
            <a:avLst/>
          </a:prstGeom>
          <a:solidFill>
            <a:srgbClr val="3B5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87552" y="2487168"/>
            <a:ext cx="7178040" cy="228600"/>
          </a:xfrm>
          <a:prstGeom prst="rect">
            <a:avLst/>
          </a:prstGeom>
          <a:noFill/>
        </p:spPr>
        <p:txBody>
          <a:bodyPr wrap="none" lIns="73152" rIns="73152" tIns="36576" bIns="36576" anchor="t">
            <a:spAutoFit/>
          </a:bodyPr>
          <a:lstStyle/>
          <a:p>
            <a:r>
              <a:rPr sz="1200" b="1">
                <a:solidFill>
                  <a:srgbClr val="1E3A8A"/>
                </a:solidFill>
                <a:latin typeface="Pretendard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7552" y="2788920"/>
            <a:ext cx="7178040" cy="-118872"/>
          </a:xfrm>
          <a:prstGeom prst="rect">
            <a:avLst/>
          </a:prstGeom>
          <a:noFill/>
        </p:spPr>
        <p:txBody>
          <a:bodyPr wrap="none" lIns="73152" rIns="73152" tIns="36576" bIns="36576" anchor="t">
            <a:spAutoFit/>
          </a:bodyPr>
          <a:lstStyle/>
          <a:p>
            <a:r>
              <a:rPr sz="950" b="0">
                <a:solidFill>
                  <a:srgbClr val="343A40"/>
                </a:solidFill>
                <a:latin typeface="Pretendard"/>
              </a:rPr>
              <a:t>검색 필터: 주문자명 · 환자명(복용자) · 둘 다 선택 가능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2852928"/>
            <a:ext cx="7498079" cy="38404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E0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2960" y="2852928"/>
            <a:ext cx="54864" cy="384048"/>
          </a:xfrm>
          <a:prstGeom prst="rect">
            <a:avLst/>
          </a:prstGeom>
          <a:solidFill>
            <a:srgbClr val="2F85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87552" y="2990088"/>
            <a:ext cx="7178040" cy="228600"/>
          </a:xfrm>
          <a:prstGeom prst="rect">
            <a:avLst/>
          </a:prstGeom>
          <a:noFill/>
        </p:spPr>
        <p:txBody>
          <a:bodyPr wrap="none" lIns="73152" rIns="73152" tIns="36576" bIns="36576" anchor="t">
            <a:spAutoFit/>
          </a:bodyPr>
          <a:lstStyle/>
          <a:p>
            <a:r>
              <a:rPr sz="1200" b="1">
                <a:solidFill>
                  <a:srgbClr val="1E3A8A"/>
                </a:solidFill>
                <a:latin typeface="Pretendard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87552" y="3291840"/>
            <a:ext cx="7178040" cy="-118872"/>
          </a:xfrm>
          <a:prstGeom prst="rect">
            <a:avLst/>
          </a:prstGeom>
          <a:noFill/>
        </p:spPr>
        <p:txBody>
          <a:bodyPr wrap="none" lIns="73152" rIns="73152" tIns="36576" bIns="36576" anchor="t">
            <a:spAutoFit/>
          </a:bodyPr>
          <a:lstStyle/>
          <a:p>
            <a:r>
              <a:rPr sz="950" b="0">
                <a:solidFill>
                  <a:srgbClr val="343A40"/>
                </a:solidFill>
                <a:latin typeface="Pretendard"/>
              </a:rPr>
              <a:t>CJ 양식: A열 주문날짜, 대표 전화번호 우선 적용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3355848"/>
            <a:ext cx="7498079" cy="38404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E0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22960" y="3355848"/>
            <a:ext cx="54864" cy="384048"/>
          </a:xfrm>
          <a:prstGeom prst="rect">
            <a:avLst/>
          </a:prstGeom>
          <a:solidFill>
            <a:srgbClr val="2F85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87552" y="3493008"/>
            <a:ext cx="7178040" cy="228600"/>
          </a:xfrm>
          <a:prstGeom prst="rect">
            <a:avLst/>
          </a:prstGeom>
          <a:noFill/>
        </p:spPr>
        <p:txBody>
          <a:bodyPr wrap="none" lIns="73152" rIns="73152" tIns="36576" bIns="36576" anchor="t">
            <a:spAutoFit/>
          </a:bodyPr>
          <a:lstStyle/>
          <a:p>
            <a:r>
              <a:rPr sz="1200" b="1">
                <a:solidFill>
                  <a:srgbClr val="1E3A8A"/>
                </a:solidFill>
                <a:latin typeface="Pretendard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87552" y="3794760"/>
            <a:ext cx="7178040" cy="-118872"/>
          </a:xfrm>
          <a:prstGeom prst="rect">
            <a:avLst/>
          </a:prstGeom>
          <a:noFill/>
        </p:spPr>
        <p:txBody>
          <a:bodyPr wrap="none" lIns="73152" rIns="73152" tIns="36576" bIns="36576" anchor="t">
            <a:spAutoFit/>
          </a:bodyPr>
          <a:lstStyle/>
          <a:p>
            <a:r>
              <a:rPr sz="950" b="0">
                <a:solidFill>
                  <a:srgbClr val="343A40"/>
                </a:solidFill>
                <a:latin typeface="Pretendard"/>
              </a:rPr>
              <a:t>고래 벌크: 관저/판암/세종 모두 30팩 미만 기준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60" y="3858768"/>
            <a:ext cx="7498079" cy="38404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E0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22960" y="3858768"/>
            <a:ext cx="54864" cy="384048"/>
          </a:xfrm>
          <a:prstGeom prst="rect">
            <a:avLst/>
          </a:prstGeom>
          <a:solidFill>
            <a:srgbClr val="8564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87552" y="3995928"/>
            <a:ext cx="7178040" cy="228600"/>
          </a:xfrm>
          <a:prstGeom prst="rect">
            <a:avLst/>
          </a:prstGeom>
          <a:noFill/>
        </p:spPr>
        <p:txBody>
          <a:bodyPr wrap="none" lIns="73152" rIns="73152" tIns="36576" bIns="36576" anchor="t">
            <a:spAutoFit/>
          </a:bodyPr>
          <a:lstStyle/>
          <a:p>
            <a:r>
              <a:rPr sz="1200" b="1">
                <a:solidFill>
                  <a:srgbClr val="1E3A8A"/>
                </a:solidFill>
                <a:latin typeface="Pretendard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87552" y="4297680"/>
            <a:ext cx="7178040" cy="-118872"/>
          </a:xfrm>
          <a:prstGeom prst="rect">
            <a:avLst/>
          </a:prstGeom>
          <a:noFill/>
        </p:spPr>
        <p:txBody>
          <a:bodyPr wrap="none" lIns="73152" rIns="73152" tIns="36576" bIns="36576" anchor="t">
            <a:spAutoFit/>
          </a:bodyPr>
          <a:lstStyle/>
          <a:p>
            <a:r>
              <a:rPr sz="950" b="0">
                <a:solidFill>
                  <a:srgbClr val="343A40"/>
                </a:solidFill>
                <a:latin typeface="Pretendard"/>
              </a:rPr>
              <a:t>인쇄 진단: 요청목록·결과목록으로 누락 추적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