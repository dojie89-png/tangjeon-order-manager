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0"/>
            <a:ext cx="3200400" cy="3200400"/>
          </a:xfrm>
          <a:prstGeom prst="ellipse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457200"/>
            <a:ext cx="2286000" cy="2286000"/>
          </a:xfrm>
          <a:prstGeom prst="ellipse">
            <a:avLst/>
          </a:prstGeom>
          <a:solidFill>
            <a:srgbClr val="DB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00000"/>
            <a:ext cx="5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B5BDB"/>
                </a:solidFill>
              </a:rPr>
              <a:t>약속처방 기능 사용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0000"/>
            <a:ext cx="7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85" b="0">
                <a:solidFill>
                  <a:srgbClr val="343A40"/>
                </a:solidFill>
              </a:rPr>
              <a:t>케이진 탕전주문</a:t>
            </a:r>
          </a:p>
          <a:p>
            <a:pPr algn="l"/>
            <a:r>
              <a:rPr sz="3385" b="0">
                <a:solidFill>
                  <a:srgbClr val="343A40"/>
                </a:solidFill>
              </a:rPr>
              <a:t>관리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0000"/>
            <a:ext cx="4114800" cy="254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00000"/>
            <a:ext cx="3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B5BDB"/>
                </a:solidFill>
              </a:rPr>
              <a:t>v13.53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K-gin bio Pharm Ltd.  ·  탕전주문 관리 시스템  ·  약속처방 기능 가이드 (v13.53 기준)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약속처방 기능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80000"/>
            <a:ext cx="84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2" b="0">
                <a:solidFill>
                  <a:srgbClr val="495057"/>
                </a:solidFill>
              </a:rPr>
              <a:t>기존 탕전주문 기능에 더해, 약속처방 주문도 동일한 프로그램에서 처리할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0000"/>
            <a:ext cx="370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0000"/>
            <a:ext cx="60000" cy="1200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040" y="158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5BDB"/>
                </a:solidFill>
              </a:rPr>
              <a:t>탭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40" y="175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B5BD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40" y="1750000"/>
            <a:ext cx="2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</a:rPr>
              <a:t>약속처방 송장번호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40" y="1980000"/>
            <a:ext cx="29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CJ 파일접수 엑셀 → 배송준비 주문에</a:t>
            </a:r>
          </a:p>
          <a:p>
            <a:pPr algn="l"/>
            <a:r>
              <a:rPr sz="900" b="0">
                <a:solidFill>
                  <a:srgbClr val="495057"/>
                </a:solidFill>
              </a:rPr>
              <a:t>자동으로 송장번호 입력 &amp; 배송중 전환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000" y="1500000"/>
            <a:ext cx="370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000" y="1500000"/>
            <a:ext cx="60000" cy="1200000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0000" y="1580000"/>
            <a:ext cx="5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F9E44"/>
                </a:solidFill>
              </a:rPr>
              <a:t>탭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0000" y="175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F9E44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0000" y="1750000"/>
            <a:ext cx="2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529"/>
                </a:solidFill>
              </a:rPr>
              <a:t>약속처방 배송완료 전환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0000" y="1980000"/>
            <a:ext cx="29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배송중 주문의 CJ 배송 현황을 자동 확인</a:t>
            </a:r>
          </a:p>
          <a:p>
            <a:pPr algn="l"/>
            <a:r>
              <a:rPr sz="900" b="0">
                <a:solidFill>
                  <a:srgbClr val="495057"/>
                </a:solidFill>
              </a:rPr>
              <a:t>→ 배송완료 건을 완료 상태로 전환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00000"/>
            <a:ext cx="8503920" cy="6000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0000" y="2810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3B5BDB"/>
                </a:solidFill>
              </a:rPr>
              <a:t>공통 전제 조건: 약속처방 관리자 페이지 로그인 정보가 프로그램에 저장되어 있어야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960000"/>
            <a:ext cx="8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</a:rPr>
              <a:t>• 기존: 탕전주문 (주문 수집 · 송장 입력 · 배송완료 전환)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80000"/>
            <a:ext cx="8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</a:rPr>
              <a:t>• 추가: 약속처방 (동일 탭에서 별도 섹션으로 운영)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[탭2] 약속처방 송장번호 입력 — 기능 설명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00000"/>
            <a:ext cx="8503920" cy="6000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1108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4" b="0">
                <a:solidFill>
                  <a:srgbClr val="3B5BDB"/>
                </a:solidFill>
              </a:rPr>
              <a:t>위치:  송장번호 입력 탭  &gt;  「약속처방 송장번호 입력」섹션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50000"/>
            <a:ext cx="27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50000"/>
            <a:ext cx="2700000" cy="60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040" y="1450000"/>
            <a:ext cx="360000" cy="36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0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40" y="188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B5BDB"/>
                </a:solidFill>
              </a:rPr>
              <a:t>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40" y="2080000"/>
            <a:ext cx="25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대한통운(CJ) 파일접수 엑셀에서 주문번호를 찾아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약속처방 주문에 자동으로 송장번호를 입력하고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주문 상태를 「배송중」으로 변경합니다.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2040" y="1350000"/>
            <a:ext cx="27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2040" y="1350000"/>
            <a:ext cx="2700000" cy="60000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92040" y="1450000"/>
            <a:ext cx="360000" cy="36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2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040" y="188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9E44"/>
                </a:solidFill>
              </a:rPr>
              <a:t>처리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040" y="2080000"/>
            <a:ext cx="25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CJ 엑셀 읽기  →  배송준비 주문 목록 수집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→  주문번호 매칭  →  송장번호 입력 &amp; 배송중 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4040" y="1350000"/>
            <a:ext cx="2700000" cy="14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4040" y="1350000"/>
            <a:ext cx="2700000" cy="60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4040" y="1450000"/>
            <a:ext cx="360000" cy="36000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4040" y="188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C00"/>
                </a:solidFill>
              </a:rPr>
              <a:t>전제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040" y="2080000"/>
            <a:ext cx="254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약속처방 주문이 「배송준비」상태여야 합니다.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(이미 배송중·완료 상태인 주문은 자동으로 건너뜁니다)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00000"/>
            <a:ext cx="8503920" cy="30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950000"/>
            <a:ext cx="8503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3A8A"/>
                </a:solidFill>
              </a:rPr>
              <a:t>  ☞  매칭 키:  CJ 엑셀의 「고객주문번호」= 약속처방 주문번호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[탭2] 약속처방 송장번호 입력 — 사용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080000"/>
            <a:ext cx="220000" cy="22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" y="108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조회 기간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000" y="126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상단 기간 입력란에서 조회할 날짜 범위를 설정합니다. (탕전주문과 공유)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1500000"/>
            <a:ext cx="220000" cy="22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1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" y="150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CJ 엑셀 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000" y="168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「약속처방 송장번호 입력」섹션에서 「찾아보기」버튼으로</a:t>
            </a:r>
          </a:p>
          <a:p>
            <a:pPr algn="l"/>
            <a:r>
              <a:rPr sz="842" b="0">
                <a:solidFill>
                  <a:srgbClr val="495057"/>
                </a:solidFill>
              </a:rPr>
              <a:t>대한통운 파일접수 엑셀을 선택합니다.</a:t>
            </a:r>
          </a:p>
          <a:p>
            <a:pPr algn="l"/>
            <a:r>
              <a:rPr sz="842" b="0">
                <a:solidFill>
                  <a:srgbClr val="495057"/>
                </a:solidFill>
              </a:rPr>
              <a:t>(엑셀에 「고객주문번호」·「운송장번호」컬럼이 반드시 있어야 합니다)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1960000"/>
            <a:ext cx="220000" cy="22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7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000" y="196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실행 버튼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" y="214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실행 버튼을 클릭하면 처리가 시작됩니다.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2380000"/>
            <a:ext cx="220000" cy="22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9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00" y="238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자동 처리 진행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000" y="256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크롬이 자동으로 열리고, 약속처방 관리자 사이트에 로그인 후 처리합니다.</a:t>
            </a:r>
          </a:p>
          <a:p>
            <a:pPr algn="l"/>
            <a:r>
              <a:rPr sz="842" b="0">
                <a:solidFill>
                  <a:srgbClr val="495057"/>
                </a:solidFill>
              </a:rPr>
              <a:t>로그창과 진행 바에서 처리 현황을 확인할 수 있습니다.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320040" y="2840000"/>
            <a:ext cx="220000" cy="22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5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00" y="284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완료 팝업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000" y="302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처리가 끝나면 완료 팝업이 표시됩니다.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0000"/>
            <a:ext cx="8503920" cy="30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340000"/>
            <a:ext cx="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1">
                <a:solidFill>
                  <a:srgbClr val="FFFFFF"/>
                </a:solidFill>
              </a:rPr>
              <a:t>주의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35000"/>
            <a:ext cx="8503920" cy="36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000" y="3340000"/>
            <a:ext cx="5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8C00"/>
                </a:solidFill>
              </a:rPr>
              <a:t>⚠ 주의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00" y="3345000"/>
            <a:ext cx="7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212529"/>
                </a:solidFill>
              </a:rPr>
              <a:t>• 약속처방 주문번호가 CJ 엑셀의 「고객주문번호」컬럼에 정확히 기재되어 있어야 매칭됩니다.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00" y="3500000"/>
            <a:ext cx="7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212529"/>
                </a:solidFill>
              </a:rPr>
              <a:t>• 「배송준비」상태 주문만 처리됩니다. 이미 배송중·완료인 주문은 자동으로 건너뜁니다.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[탭3] 약속처방 배송완료 전환 — 기능 설명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00000"/>
            <a:ext cx="8503920" cy="60000"/>
          </a:xfrm>
          <a:prstGeom prst="rect">
            <a:avLst/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1108000"/>
            <a:ext cx="8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4" b="0">
                <a:solidFill>
                  <a:srgbClr val="2F9E44"/>
                </a:solidFill>
              </a:rPr>
              <a:t>위치:  배송완료 전환 탭  &gt;  「약속처방 배송완료 전환」섹션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50000"/>
            <a:ext cx="2700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50000"/>
            <a:ext cx="2700000" cy="60000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040" y="1450000"/>
            <a:ext cx="360000" cy="36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0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40" y="187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9E44"/>
                </a:solidFill>
              </a:rPr>
              <a:t>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40" y="2070000"/>
            <a:ext cx="254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배송중 상태인 약속처방 주문의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CJ 배송 현황을 자동 확인한 후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배송완료된 건을 「완료」상태로 전환합니다.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2040" y="1350000"/>
            <a:ext cx="2700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2040" y="1350000"/>
            <a:ext cx="2700000" cy="60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92040" y="1450000"/>
            <a:ext cx="360000" cy="36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2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040" y="187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B5BDB"/>
                </a:solidFill>
              </a:rPr>
              <a:t>처리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040" y="2070000"/>
            <a:ext cx="254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배송중 주문 수집  →  CJ 배송 추적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→  「배송완료」확인  →  완료(4) 상태로 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4040" y="1350000"/>
            <a:ext cx="2700000" cy="1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4040" y="1350000"/>
            <a:ext cx="2700000" cy="60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4040" y="1450000"/>
            <a:ext cx="360000" cy="36000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0" y="1480000"/>
            <a:ext cx="34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4040" y="187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8C00"/>
                </a:solidFill>
              </a:rPr>
              <a:t>전제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040" y="2070000"/>
            <a:ext cx="2540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2" b="0">
                <a:solidFill>
                  <a:srgbClr val="495057"/>
                </a:solidFill>
              </a:rPr>
              <a:t>약속처방 주문이 「배송중」상태이고</a:t>
            </a:r>
          </a:p>
          <a:p>
            <a:pPr algn="ctr"/>
            <a:r>
              <a:rPr sz="842" b="0">
                <a:solidFill>
                  <a:srgbClr val="495057"/>
                </a:solidFill>
              </a:rPr>
              <a:t>송장번호가 입력되어 있어야 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50000"/>
            <a:ext cx="8503920" cy="30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80000"/>
            <a:ext cx="30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68E96"/>
                </a:solidFill>
              </a:rPr>
              <a:t>로그창 결과 기호</a:t>
            </a:r>
          </a:p>
        </p:txBody>
      </p:sp>
      <p:sp>
        <p:nvSpPr>
          <p:cNvPr id="28" name="Oval 27"/>
          <p:cNvSpPr/>
          <p:nvPr/>
        </p:nvSpPr>
        <p:spPr>
          <a:xfrm>
            <a:off x="320040" y="2980000"/>
            <a:ext cx="200000" cy="20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040" y="2995000"/>
            <a:ext cx="1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040" y="298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5BDB"/>
                </a:solidFill>
              </a:rPr>
              <a:t>완료 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040" y="3140000"/>
            <a:ext cx="1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→ 배송완료 확인 후 완료 상태로 전환됨</a:t>
            </a:r>
          </a:p>
        </p:txBody>
      </p:sp>
      <p:sp>
        <p:nvSpPr>
          <p:cNvPr id="32" name="Oval 31"/>
          <p:cNvSpPr/>
          <p:nvPr/>
        </p:nvSpPr>
        <p:spPr>
          <a:xfrm>
            <a:off x="3020040" y="2980000"/>
            <a:ext cx="200000" cy="200000"/>
          </a:xfrm>
          <a:prstGeom prst="ellipse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0040" y="2995000"/>
            <a:ext cx="1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 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0040" y="298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95057"/>
                </a:solidFill>
              </a:rPr>
              <a:t>배송중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0040" y="3140000"/>
            <a:ext cx="1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→ 아직 배송 중 (전환 없음)</a:t>
            </a:r>
          </a:p>
        </p:txBody>
      </p:sp>
      <p:sp>
        <p:nvSpPr>
          <p:cNvPr id="36" name="Oval 35"/>
          <p:cNvSpPr/>
          <p:nvPr/>
        </p:nvSpPr>
        <p:spPr>
          <a:xfrm>
            <a:off x="5720040" y="2980000"/>
            <a:ext cx="200000" cy="200000"/>
          </a:xfrm>
          <a:prstGeom prst="ellipse">
            <a:avLst/>
          </a:prstGeom>
          <a:solidFill>
            <a:srgbClr val="E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0040" y="2995000"/>
            <a:ext cx="1800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0040" y="298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3030"/>
                </a:solidFill>
              </a:rPr>
              <a:t>실패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50040" y="3140000"/>
            <a:ext cx="1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95057"/>
                </a:solidFill>
              </a:rPr>
              <a:t>→ 오류 발생 (로그 내용 확인)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[탭3] 약속처방 배송완료 전환 — 사용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080000"/>
            <a:ext cx="220000" cy="22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00" y="108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조회 기간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000" y="126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상단 기간 입력란에서 조회할 날짜 범위를 설정합니다.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1500000"/>
            <a:ext cx="220000" cy="22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1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" y="150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실행 버튼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000" y="168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「약속처방 배송완료 전환」섹션의 실행 버튼을 클릭합니다.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" y="1920000"/>
            <a:ext cx="220000" cy="22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3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000" y="192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자동 처리 진행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00" y="210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프로그램이 자동으로:</a:t>
            </a:r>
          </a:p>
          <a:p>
            <a:pPr algn="l"/>
            <a:r>
              <a:rPr sz="842" b="0">
                <a:solidFill>
                  <a:srgbClr val="495057"/>
                </a:solidFill>
              </a:rPr>
              <a:t>배송중 주문 목록 수집  →  CJ 배송 추적  →  배송완료 건 완료 처리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2380000"/>
            <a:ext cx="220000" cy="22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9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000" y="238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결과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000" y="256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로그창에서 처리 결과를 확인합니다.</a:t>
            </a:r>
          </a:p>
          <a:p>
            <a:pPr algn="l"/>
            <a:r>
              <a:rPr sz="842" b="0">
                <a:solidFill>
                  <a:srgbClr val="495057"/>
                </a:solidFill>
              </a:rPr>
              <a:t>✓ 완료 전환 / — 배송중 / ✗ 실패</a:t>
            </a:r>
          </a:p>
        </p:txBody>
      </p:sp>
      <p:sp>
        <p:nvSpPr>
          <p:cNvPr id="22" name="Oval 21"/>
          <p:cNvSpPr/>
          <p:nvPr/>
        </p:nvSpPr>
        <p:spPr>
          <a:xfrm>
            <a:off x="320040" y="2840000"/>
            <a:ext cx="220000" cy="22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55000"/>
            <a:ext cx="2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00" y="284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529"/>
                </a:solidFill>
              </a:rPr>
              <a:t>완료 팝업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000" y="3020000"/>
            <a:ext cx="73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495057"/>
                </a:solidFill>
              </a:rPr>
              <a:t>처리가 끝나면 완료 팝업이 표시됩니다.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0000"/>
            <a:ext cx="8503920" cy="30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335000"/>
            <a:ext cx="8503920" cy="34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000" y="3340000"/>
            <a:ext cx="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08C00"/>
                </a:solidFill>
              </a:rPr>
              <a:t>⚠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00" y="3345000"/>
            <a:ext cx="7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212529"/>
                </a:solidFill>
              </a:rPr>
              <a:t>• 「배송중」상태이고 송장번호가 입력된 주문만 처리됩니다.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00" y="3500000"/>
            <a:ext cx="77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212529"/>
                </a:solidFill>
              </a:rPr>
              <a:t>• CJ 배송 추적 결과에 「배송완료」문구가 있을 때만 완료 상태로 전환됩니다.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43A40"/>
                </a:solidFill>
              </a:rPr>
              <a:t>탭2 · 탭3 공통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8503920" cy="127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80060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68E96"/>
                </a:solidFill>
              </a:rPr>
              <a:t>K-gin bio Pharm Ltd. · 약속처방 주문 관리 · v13.53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50000"/>
            <a:ext cx="3900000" cy="11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50000"/>
            <a:ext cx="60000" cy="115000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0040" y="1575000"/>
            <a:ext cx="300000" cy="300000"/>
          </a:xfrm>
          <a:prstGeom prst="ellipse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40" y="1595000"/>
            <a:ext cx="2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40" y="1280000"/>
            <a:ext cx="3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</a:rPr>
              <a:t>조회 기간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040" y="151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상단 기간 입력란을 탕전주문·약속처방이 함께 사용합니다.</a:t>
            </a:r>
          </a:p>
          <a:p>
            <a:pPr algn="l"/>
            <a:r>
              <a:rPr sz="900" b="0">
                <a:solidFill>
                  <a:srgbClr val="495057"/>
                </a:solidFill>
              </a:rPr>
              <a:t>기간 변경 시 양쪽 모두에 적용됩니다.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4000" y="1150000"/>
            <a:ext cx="3900000" cy="11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4000" y="1150000"/>
            <a:ext cx="60000" cy="1150000"/>
          </a:xfrm>
          <a:prstGeom prst="rect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04000" y="1575000"/>
            <a:ext cx="300000" cy="300000"/>
          </a:xfrm>
          <a:prstGeom prst="ellipse">
            <a:avLst/>
          </a:prstGeom>
          <a:solidFill>
            <a:srgbClr val="2F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9000" y="1595000"/>
            <a:ext cx="2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4000" y="1280000"/>
            <a:ext cx="3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</a:rPr>
              <a:t>로그창 · 진행 바 공유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4000" y="151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탕전주문·약속처방 공용으로, 마지막 실행 결과가 표시됩니다.</a:t>
            </a:r>
          </a:p>
          <a:p>
            <a:pPr algn="l"/>
            <a:r>
              <a:rPr sz="900" b="0">
                <a:solidFill>
                  <a:srgbClr val="495057"/>
                </a:solidFill>
              </a:rPr>
              <a:t>이전 실행 결과는 새 실행 시 초기화됩니다.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30000"/>
            <a:ext cx="3900000" cy="11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430000"/>
            <a:ext cx="60000" cy="1150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040" y="2855000"/>
            <a:ext cx="300000" cy="300000"/>
          </a:xfrm>
          <a:prstGeom prst="ellipse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040" y="2875000"/>
            <a:ext cx="2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040" y="2560000"/>
            <a:ext cx="3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</a:rPr>
              <a:t>실행 중 취소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040" y="279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실행 버튼 옆 취소 버튼을 클릭하면 현재 작업을 중단할 수 있습니다.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4000" y="2430000"/>
            <a:ext cx="3900000" cy="11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04000" y="2430000"/>
            <a:ext cx="60000" cy="1150000"/>
          </a:xfrm>
          <a:prstGeom prst="rect">
            <a:avLst/>
          </a:prstGeom>
          <a:solidFill>
            <a:srgbClr val="E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04000" y="2855000"/>
            <a:ext cx="300000" cy="300000"/>
          </a:xfrm>
          <a:prstGeom prst="ellipse">
            <a:avLst/>
          </a:prstGeom>
          <a:solidFill>
            <a:srgbClr val="E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9000" y="2875000"/>
            <a:ext cx="29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4000" y="2560000"/>
            <a:ext cx="34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</a:rPr>
              <a:t>동시 실행 불가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4000" y="279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95057"/>
                </a:solidFill>
              </a:rPr>
              <a:t>다른 탭의 작업이 실행 중일 때는 대기해야 합니다.</a:t>
            </a:r>
          </a:p>
          <a:p>
            <a:pPr algn="l"/>
            <a:r>
              <a:rPr sz="900" b="0">
                <a:solidFill>
                  <a:srgbClr val="495057"/>
                </a:solidFill>
              </a:rPr>
              <a:t>한 번에 하나의 작업만 실행 가능합니다.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80000"/>
            <a:ext cx="8503920" cy="300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730000"/>
            <a:ext cx="8503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2" b="0">
                <a:solidFill>
                  <a:srgbClr val="868E96"/>
                </a:solidFill>
              </a:rPr>
              <a:t>  자세한 사용 방법은 앞 슬라이드를 참조하세요.  |  문의: 케이진 바이오팜 IT 담당자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