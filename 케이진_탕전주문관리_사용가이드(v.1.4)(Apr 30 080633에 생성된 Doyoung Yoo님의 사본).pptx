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28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43600" y="0"/>
            <a:ext cx="3200400" cy="3200400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4209"/>
            <a:ext cx="1280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3B5BDB"/>
                </a:solidFill>
                <a:latin typeface="Pretendard Medium" panose="02000603000000020004" pitchFamily="50" charset="-127"/>
              </a:rPr>
              <a:t>사용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77722"/>
            <a:ext cx="7772400" cy="1107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dirty="0" err="1">
                <a:solidFill>
                  <a:srgbClr val="343A40"/>
                </a:solidFill>
                <a:latin typeface="Pretendard Medium" panose="02000603000000020004" pitchFamily="50" charset="-127"/>
              </a:rPr>
              <a:t>케이진</a:t>
            </a:r>
            <a:r>
              <a:rPr sz="3600" b="1" dirty="0">
                <a:solidFill>
                  <a:srgbClr val="343A40"/>
                </a:solidFill>
                <a:latin typeface="Pretendard Medium" panose="02000603000000020004" pitchFamily="50" charset="-127"/>
              </a:rPr>
              <a:t> </a:t>
            </a:r>
            <a:r>
              <a:rPr sz="3600" b="1" dirty="0" err="1">
                <a:solidFill>
                  <a:srgbClr val="343A40"/>
                </a:solidFill>
                <a:latin typeface="Pretendard Medium" panose="02000603000000020004" pitchFamily="50" charset="-127"/>
              </a:rPr>
              <a:t>탕전주문</a:t>
            </a:r>
            <a:r>
              <a:rPr sz="3600" b="1" dirty="0">
                <a:solidFill>
                  <a:srgbClr val="343A40"/>
                </a:solidFill>
                <a:latin typeface="Pretendard Medium" panose="02000603000000020004" pitchFamily="50" charset="-127"/>
              </a:rPr>
              <a:t>
</a:t>
            </a:r>
            <a:r>
              <a:rPr sz="3600" b="1" dirty="0" err="1">
                <a:solidFill>
                  <a:srgbClr val="343A40"/>
                </a:solidFill>
                <a:latin typeface="Pretendard Medium" panose="02000603000000020004" pitchFamily="50" charset="-127"/>
              </a:rPr>
              <a:t>관리</a:t>
            </a:r>
            <a:r>
              <a:rPr sz="3600" b="1" dirty="0">
                <a:solidFill>
                  <a:srgbClr val="343A40"/>
                </a:solidFill>
                <a:latin typeface="Pretendard Medium" panose="02000603000000020004" pitchFamily="50" charset="-127"/>
              </a:rPr>
              <a:t> </a:t>
            </a:r>
            <a:r>
              <a:rPr sz="3600" b="1" dirty="0" err="1">
                <a:solidFill>
                  <a:srgbClr val="343A40"/>
                </a:solidFill>
                <a:latin typeface="Pretendard Medium" panose="02000603000000020004" pitchFamily="50" charset="-127"/>
              </a:rPr>
              <a:t>프로그램</a:t>
            </a:r>
            <a:endParaRPr sz="3600" b="1" dirty="0">
              <a:solidFill>
                <a:srgbClr val="343A40"/>
              </a:solidFill>
              <a:latin typeface="Pretendard Medium" panose="02000603000000020004" pitchFamily="50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4114800" cy="254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3B5BDB"/>
                </a:solidFill>
                <a:latin typeface="Pretendard Medium" panose="02000603000000020004" pitchFamily="50" charset="-127"/>
              </a:rPr>
              <a:t>v.1.4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7707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retendard Medium" panose="02000603000000020004" pitchFamily="50" charset="-127"/>
              </a:rPr>
              <a:t>K-gin bio Pharm Ltd. · 탕전주문 관리 시스템 (프로그램 버전 12.50 기준 / 260430)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25880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6273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 Medium" panose="02000603000000020004" pitchFamily="50" charset="-127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91028"/>
            <a:ext cx="26517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 Medium" panose="02000603000000020004" pitchFamily="50" charset="-127"/>
              </a:rPr>
              <a:t>시작하기 전에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06720"/>
            <a:ext cx="26517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 panose="02000603000000020004" pitchFamily="50" charset="-127"/>
              </a:rPr>
              <a:t>준비사항 &amp; 실행 전 확인사항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25880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1325880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1466273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 Medium" panose="02000603000000020004" pitchFamily="50" charset="-127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39" y="1491028"/>
            <a:ext cx="26517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 Medium" panose="02000603000000020004" pitchFamily="50" charset="-127"/>
              </a:rPr>
              <a:t>탭 1 — 주문 수집 &amp; 자동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1806720"/>
            <a:ext cx="26517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 panose="02000603000000020004" pitchFamily="50" charset="-127"/>
              </a:rPr>
              <a:t>날짜/상태/검색 필터 · 파일 저장 · 인쇄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395728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395728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536121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 Medium" panose="02000603000000020004" pitchFamily="50" charset="-127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560876"/>
            <a:ext cx="26517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 Medium" panose="02000603000000020004" pitchFamily="50" charset="-127"/>
              </a:rPr>
              <a:t>탭 2 — 송장번호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876568"/>
            <a:ext cx="26517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 panose="02000603000000020004" pitchFamily="50" charset="-127"/>
              </a:rPr>
              <a:t>CJ 배송 엑셀 연동 &amp; 자동 입력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395728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59" y="2395728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59" y="2536121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 Medium" panose="02000603000000020004" pitchFamily="50" charset="-127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39" y="2560876"/>
            <a:ext cx="26517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 Medium" panose="02000603000000020004" pitchFamily="50" charset="-127"/>
              </a:rPr>
              <a:t>탭 2 — 벌크 발송처리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2876568"/>
            <a:ext cx="26517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 panose="02000603000000020004" pitchFamily="50" charset="-127"/>
              </a:rPr>
              <a:t>고래한방 입원/벌크 예외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465576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465576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605969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 Medium" panose="02000603000000020004" pitchFamily="50" charset="-127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630724"/>
            <a:ext cx="26517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 Medium" panose="02000603000000020004" pitchFamily="50" charset="-127"/>
              </a:rPr>
              <a:t>탭 3 — 배송완료 자동전환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946416"/>
            <a:ext cx="26517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 panose="02000603000000020004" pitchFamily="50" charset="-127"/>
              </a:rPr>
              <a:t>CJ 추적 → 완료 상태 자동 변경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3465576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80559" y="3465576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09159" y="3605969"/>
            <a:ext cx="502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 Medium" panose="02000603000000020004" pitchFamily="50" charset="-127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39" y="3630724"/>
            <a:ext cx="26517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 Medium" panose="02000603000000020004" pitchFamily="50" charset="-127"/>
              </a:rPr>
              <a:t>오류 확인 &amp; 운영 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39" y="3946416"/>
            <a:ext cx="26517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 panose="02000603000000020004" pitchFamily="50" charset="-127"/>
              </a:rPr>
              <a:t>출력 진단 로그 · 자주 발생하는 오류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43A40"/>
                </a:solidFill>
                <a:latin typeface="Pretendard Medium" panose="02000603000000020004" pitchFamily="50" charset="-127"/>
              </a:rPr>
              <a:t>v1.4 </a:t>
            </a:r>
            <a:r>
              <a:rPr sz="2800" b="1" dirty="0" err="1">
                <a:solidFill>
                  <a:srgbClr val="343A40"/>
                </a:solidFill>
                <a:latin typeface="Pretendard Medium" panose="02000603000000020004" pitchFamily="50" charset="-127"/>
              </a:rPr>
              <a:t>업데이트</a:t>
            </a:r>
            <a:r>
              <a:rPr sz="2800" b="1" dirty="0">
                <a:solidFill>
                  <a:srgbClr val="343A40"/>
                </a:solidFill>
                <a:latin typeface="Pretendard Medium" panose="02000603000000020004" pitchFamily="50" charset="-127"/>
              </a:rPr>
              <a:t> </a:t>
            </a:r>
            <a:r>
              <a:rPr sz="2800" b="1" dirty="0" err="1">
                <a:solidFill>
                  <a:srgbClr val="343A40"/>
                </a:solidFill>
                <a:latin typeface="Pretendard Medium" panose="02000603000000020004" pitchFamily="50" charset="-127"/>
              </a:rPr>
              <a:t>요약</a:t>
            </a:r>
            <a:endParaRPr sz="2800" b="1" dirty="0">
              <a:solidFill>
                <a:srgbClr val="343A40"/>
              </a:solidFill>
              <a:latin typeface="Pretendard Medium" panose="02000603000000020004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24712"/>
            <a:ext cx="8321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v1.2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배포본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이후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>
                <a:solidFill>
                  <a:srgbClr val="495057"/>
                </a:solidFill>
                <a:latin typeface="Pretendard Medium" panose="02000603000000020004" pitchFamily="50" charset="-127"/>
              </a:rPr>
              <a:t>실제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사용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흐름에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영향을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주는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변경사항입니다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.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자세한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사용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방법은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오른쪽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페이지를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25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참고하세요</a:t>
            </a:r>
            <a:r>
              <a:rPr sz="125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27632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801368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900557"/>
            <a:ext cx="329184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 Medium" panose="02000603000000020004" pitchFamily="50" charset="-127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37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dirty="0">
                <a:solidFill>
                  <a:srgbClr val="212529"/>
                </a:solidFill>
                <a:latin typeface="Pretendard Medium" panose="02000603000000020004" pitchFamily="50" charset="-127"/>
              </a:rPr>
              <a:t>탭1 </a:t>
            </a:r>
            <a:r>
              <a:rPr sz="1150" b="1" dirty="0" err="1">
                <a:solidFill>
                  <a:srgbClr val="212529"/>
                </a:solidFill>
                <a:latin typeface="Pretendard Medium" panose="02000603000000020004" pitchFamily="50" charset="-127"/>
              </a:rPr>
              <a:t>기본</a:t>
            </a:r>
            <a:r>
              <a:rPr sz="1150" b="1" dirty="0">
                <a:solidFill>
                  <a:srgbClr val="212529"/>
                </a:solidFill>
                <a:latin typeface="Pretendard Medium" panose="02000603000000020004" pitchFamily="50" charset="-127"/>
              </a:rPr>
              <a:t> </a:t>
            </a:r>
            <a:r>
              <a:rPr sz="1150" b="1" dirty="0" err="1">
                <a:solidFill>
                  <a:srgbClr val="212529"/>
                </a:solidFill>
                <a:latin typeface="Pretendard Medium" panose="02000603000000020004" pitchFamily="50" charset="-127"/>
              </a:rPr>
              <a:t>선택</a:t>
            </a:r>
            <a:r>
              <a:rPr sz="1150" b="1" dirty="0">
                <a:solidFill>
                  <a:srgbClr val="212529"/>
                </a:solidFill>
                <a:latin typeface="Pretendard Medium" panose="02000603000000020004" pitchFamily="50" charset="-127"/>
              </a:rPr>
              <a:t> </a:t>
            </a:r>
            <a:r>
              <a:rPr sz="1150" b="1" dirty="0" err="1">
                <a:solidFill>
                  <a:srgbClr val="212529"/>
                </a:solidFill>
                <a:latin typeface="Pretendard Medium" panose="02000603000000020004" pitchFamily="50" charset="-127"/>
              </a:rPr>
              <a:t>옵션</a:t>
            </a:r>
            <a:r>
              <a:rPr sz="1150" b="1" dirty="0">
                <a:solidFill>
                  <a:srgbClr val="212529"/>
                </a:solidFill>
                <a:latin typeface="Pretendard Medium" panose="02000603000000020004" pitchFamily="50" charset="-127"/>
              </a:rPr>
              <a:t> </a:t>
            </a:r>
            <a:r>
              <a:rPr sz="1150" b="1" dirty="0" err="1">
                <a:solidFill>
                  <a:srgbClr val="212529"/>
                </a:solidFill>
                <a:latin typeface="Pretendard Medium" panose="02000603000000020004" pitchFamily="50" charset="-127"/>
              </a:rPr>
              <a:t>변경</a:t>
            </a:r>
            <a:endParaRPr sz="1150" b="1" dirty="0">
              <a:solidFill>
                <a:srgbClr val="212529"/>
              </a:solidFill>
              <a:latin typeface="Pretendard Medium" panose="020006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9848" y="1958772"/>
            <a:ext cx="2919145" cy="252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엑셀저장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, CJ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업로드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양식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,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라벨인쇄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,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자동전환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2종,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주문내역서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저장이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기본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선택됩니다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790829"/>
            <a:ext cx="6858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 Medium" panose="02000603000000020004" pitchFamily="50" charset="-127"/>
              </a:rPr>
              <a:t>7p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2312" y="1627632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82312" y="1627632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83480" y="1801368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83480" y="1900557"/>
            <a:ext cx="329184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737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12529"/>
                </a:solidFill>
                <a:latin typeface="Pretendard Medium" panose="02000603000000020004" pitchFamily="50" charset="-127"/>
              </a:rPr>
              <a:t>검색 필터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958772"/>
            <a:ext cx="2971800" cy="252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495057"/>
                </a:solidFill>
                <a:latin typeface="Pretendard Medium" panose="02000603000000020004" pitchFamily="50" charset="-127"/>
              </a:rPr>
              <a:t>주문자명/환자명/주문자+환자를 선택하고, 콤마로 여러 명을 검색할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1790829"/>
            <a:ext cx="6858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 Medium" panose="02000603000000020004" pitchFamily="50" charset="-127"/>
              </a:rPr>
              <a:t>6p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615184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2615184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2648" y="2788920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2888109"/>
            <a:ext cx="329184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272491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dirty="0" err="1">
                <a:solidFill>
                  <a:srgbClr val="212529"/>
                </a:solidFill>
                <a:latin typeface="Pretendard Medium" panose="02000603000000020004" pitchFamily="50" charset="-127"/>
              </a:rPr>
              <a:t>한의원</a:t>
            </a:r>
            <a:r>
              <a:rPr sz="1150" b="1" dirty="0">
                <a:solidFill>
                  <a:srgbClr val="212529"/>
                </a:solidFill>
                <a:latin typeface="Pretendard Medium" panose="02000603000000020004" pitchFamily="50" charset="-127"/>
              </a:rPr>
              <a:t> </a:t>
            </a:r>
            <a:r>
              <a:rPr sz="1150" b="1" dirty="0" err="1">
                <a:solidFill>
                  <a:srgbClr val="212529"/>
                </a:solidFill>
                <a:latin typeface="Pretendard Medium" panose="02000603000000020004" pitchFamily="50" charset="-127"/>
              </a:rPr>
              <a:t>필터명</a:t>
            </a:r>
            <a:r>
              <a:rPr sz="1150" b="1" dirty="0">
                <a:solidFill>
                  <a:srgbClr val="212529"/>
                </a:solidFill>
                <a:latin typeface="Pretendard Medium" panose="02000603000000020004" pitchFamily="50" charset="-127"/>
              </a:rPr>
              <a:t> </a:t>
            </a:r>
            <a:r>
              <a:rPr sz="1150" b="1" dirty="0" err="1">
                <a:solidFill>
                  <a:srgbClr val="212529"/>
                </a:solidFill>
                <a:latin typeface="Pretendard Medium" panose="02000603000000020004" pitchFamily="50" charset="-127"/>
              </a:rPr>
              <a:t>정리</a:t>
            </a:r>
            <a:endParaRPr sz="1150" b="1" dirty="0">
              <a:solidFill>
                <a:srgbClr val="212529"/>
              </a:solidFill>
              <a:latin typeface="Pretendard Medium" panose="0200060300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9848" y="2946324"/>
            <a:ext cx="2971800" cy="252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필한방병원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명칭을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사이트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기준으로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정리하고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,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고래한방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지점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구분은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819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유지합니다</a:t>
            </a:r>
            <a:r>
              <a:rPr sz="819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2778381"/>
            <a:ext cx="6858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 Medium" panose="02000603000000020004" pitchFamily="50" charset="-127"/>
              </a:rPr>
              <a:t>6p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2312" y="2615184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82312" y="2615184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983480" y="2788920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2888109"/>
            <a:ext cx="329184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272491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12529"/>
                </a:solidFill>
                <a:latin typeface="Pretendard Medium" panose="02000603000000020004" pitchFamily="50" charset="-127"/>
              </a:rPr>
              <a:t>대한통운 업로드 양식 변경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2946324"/>
            <a:ext cx="2971800" cy="252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495057"/>
                </a:solidFill>
                <a:latin typeface="Pretendard Medium" panose="02000603000000020004" pitchFamily="50" charset="-127"/>
              </a:rPr>
              <a:t>A열 주문날짜 추가, 한의원 대표 전화번호 우선 반영, 고래 지점 번호 반영을 적용합니다.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2778381"/>
            <a:ext cx="6858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 Medium" panose="02000603000000020004" pitchFamily="50" charset="-127"/>
              </a:rPr>
              <a:t>8p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3602736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1480" y="3602736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12648" y="3776472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" y="3875661"/>
            <a:ext cx="329184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3715418"/>
            <a:ext cx="256032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벌크</a:t>
            </a:r>
            <a:r>
              <a:rPr lang="en-US" sz="1150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150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주문내역 발송</a:t>
            </a:r>
            <a:r>
              <a:rPr sz="1150" b="1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처리</a:t>
            </a:r>
            <a:r>
              <a:rPr lang="en-US" sz="1150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150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기능 추가</a:t>
            </a:r>
            <a:endParaRPr sz="1150" b="1" dirty="0">
              <a:solidFill>
                <a:srgbClr val="212529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69848" y="3933876"/>
            <a:ext cx="2971800" cy="252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819" b="0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지점별 </a:t>
            </a:r>
            <a:r>
              <a:rPr lang="ko-KR" altLang="en-US" sz="819" b="0" dirty="0" err="1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벌크</a:t>
            </a:r>
            <a:r>
              <a:rPr lang="ko-KR" altLang="en-US" sz="819" b="0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주문내역 스캔 후</a:t>
            </a:r>
            <a:r>
              <a:rPr lang="en-US" altLang="ko-KR" sz="819" b="0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19" b="0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주문 수량에 맞춰 일괄 운송장 번호 적용 및 발송 처리</a:t>
            </a:r>
            <a:endParaRPr sz="819" b="0" dirty="0">
              <a:solidFill>
                <a:srgbClr val="495057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611880" y="3765933"/>
            <a:ext cx="6858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 Medium" panose="02000603000000020004" pitchFamily="50" charset="-127"/>
              </a:rPr>
              <a:t>12p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82312" y="3602736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82312" y="3602736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983480" y="3776472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83480" y="3875661"/>
            <a:ext cx="329184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371246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12529"/>
                </a:solidFill>
                <a:latin typeface="Pretendard Medium" panose="02000603000000020004" pitchFamily="50" charset="-127"/>
              </a:rPr>
              <a:t>자동 인쇄 기능 보완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3933876"/>
            <a:ext cx="2971800" cy="252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495057"/>
                </a:solidFill>
                <a:latin typeface="Pretendard Medium" panose="02000603000000020004" pitchFamily="50" charset="-127"/>
              </a:rPr>
              <a:t>프린터 선택 기능과 출력 누락 확인용 인쇄요청/결과 목록 저장을 추가했습니다.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82712" y="3765933"/>
            <a:ext cx="6858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 Medium" panose="02000603000000020004" pitchFamily="50" charset="-127"/>
              </a:rPr>
              <a:t>10p·16p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4498848"/>
            <a:ext cx="8183879" cy="320040"/>
          </a:xfrm>
          <a:prstGeom prst="roundRect">
            <a:avLst/>
          </a:prstGeom>
          <a:solidFill>
            <a:srgbClr val="FFF3BF"/>
          </a:solidFill>
          <a:ln w="762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4561462"/>
            <a:ext cx="790956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5F4B00"/>
                </a:solidFill>
                <a:latin typeface="Pretendard Medium" panose="02000603000000020004" pitchFamily="50" charset="-127"/>
              </a:rPr>
              <a:t>본문에는 NEW 표기를 남기지 않고, 최신 사용법 기준으로 자연스럽게 정리했습니다.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실행 전 확인사항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1704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87909"/>
            <a:ext cx="36576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21923"/>
            <a:ext cx="78638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 Medium" panose="02000603000000020004" pitchFamily="50" charset="-127"/>
              </a:rPr>
              <a:t>Chrome 브라우저가 설치되어 있어야 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152"/>
            <a:ext cx="78638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 Medium" panose="02000603000000020004" pitchFamily="50" charset="-127"/>
              </a:rPr>
              <a:t>프로그램 실행 시 Chrome이 자동으로 열립니다.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007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20040" y="18562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973709"/>
            <a:ext cx="36576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07723"/>
            <a:ext cx="78638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 Medium" panose="02000603000000020004" pitchFamily="50" charset="-127"/>
              </a:rPr>
              <a:t>인터넷 연결 상태를 확인합니다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02952"/>
            <a:ext cx="78638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 Medium" panose="02000603000000020004" pitchFamily="50" charset="-127"/>
              </a:rPr>
              <a:t>사이트 접속과 파일 다운로드가 모두 네트워크에 영향을 받습니다.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865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0040" y="25420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659509"/>
            <a:ext cx="36576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493523"/>
            <a:ext cx="78638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 Medium" panose="02000603000000020004" pitchFamily="50" charset="-127"/>
              </a:rPr>
              <a:t>Chrome 창을 임의로 닫지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88752"/>
            <a:ext cx="78638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 Medium" panose="02000603000000020004" pitchFamily="50" charset="-127"/>
              </a:rPr>
              <a:t>작업 완료 알림이 뜰 때까지 자동화 창을 유지해주세요.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723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20040" y="32278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345309"/>
            <a:ext cx="36576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179323"/>
            <a:ext cx="78638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 Medium" panose="02000603000000020004" pitchFamily="50" charset="-127"/>
              </a:rPr>
              <a:t>한 탭 실행 중에는 다른 탭을 실행하지 않습니다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74552"/>
            <a:ext cx="78638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 Medium" panose="02000603000000020004" pitchFamily="50" charset="-127"/>
              </a:rPr>
              <a:t>실행 중 버튼이 잠기면 현재 작업이 끝난 뒤 다시 시도합니다.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581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0040" y="4041648"/>
            <a:ext cx="8503920" cy="50292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220512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 Medium" panose="02000603000000020004" pitchFamily="50" charset="-127"/>
              </a:rPr>
              <a:t>주의: Chrome 창을 직접 닫으면 오류가 발생할 수 있습니다. 작업이 완료될 때까지 기다려주세요.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828483" y="2101088"/>
            <a:ext cx="3487485" cy="45719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54778"/>
            <a:ext cx="685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Medium" panose="02000603000000020004" pitchFamily="50" charset="-127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주문 수집 &amp; 자동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 panose="02000603000000020004" pitchFamily="50" charset="-127"/>
              </a:rPr>
              <a:t>지정한 날짜/상태의 주문을 사이트에서 자동 수집하고, 엑셀·CJ업로드 양식·라벨·PDF·출력 요청까지 한 번에 처리합니다.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25951"/>
            <a:ext cx="502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Medium" panose="02000603000000020004" pitchFamily="50" charset="-127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76264"/>
            <a:ext cx="9601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12529"/>
                </a:solidFill>
                <a:latin typeface="Pretendard Medium" panose="02000603000000020004" pitchFamily="50" charset="-127"/>
              </a:rPr>
              <a:t>조건 설정</a:t>
            </a:r>
          </a:p>
        </p:txBody>
      </p:sp>
      <p:sp>
        <p:nvSpPr>
          <p:cNvPr id="13" name="Oval 12"/>
          <p:cNvSpPr/>
          <p:nvPr/>
        </p:nvSpPr>
        <p:spPr>
          <a:xfrm>
            <a:off x="178308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3080" y="2025951"/>
            <a:ext cx="502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Medium" panose="02000603000000020004" pitchFamily="50" charset="-127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76264"/>
            <a:ext cx="9601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12529"/>
                </a:solidFill>
                <a:latin typeface="Pretendard Medium" panose="02000603000000020004" pitchFamily="50" charset="-127"/>
              </a:rPr>
              <a:t>주문 수집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7520" y="2025951"/>
            <a:ext cx="502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Medium" panose="02000603000000020004" pitchFamily="50" charset="-127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576264"/>
            <a:ext cx="9601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12529"/>
                </a:solidFill>
                <a:latin typeface="Pretendard Medium" panose="02000603000000020004" pitchFamily="50" charset="-127"/>
              </a:rPr>
              <a:t>파일 생성</a:t>
            </a:r>
          </a:p>
        </p:txBody>
      </p:sp>
      <p:sp>
        <p:nvSpPr>
          <p:cNvPr id="21" name="Oval 20"/>
          <p:cNvSpPr/>
          <p:nvPr/>
        </p:nvSpPr>
        <p:spPr>
          <a:xfrm>
            <a:off x="425196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2025951"/>
            <a:ext cx="502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Medium" panose="02000603000000020004" pitchFamily="50" charset="-127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576264"/>
            <a:ext cx="9601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12529"/>
                </a:solidFill>
                <a:latin typeface="Pretendard Medium" panose="02000603000000020004" pitchFamily="50" charset="-127"/>
              </a:rPr>
              <a:t>저장/출력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325880"/>
            <a:ext cx="2377440" cy="22402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0" y="2275740"/>
            <a:ext cx="20116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실행 완료 팝업 캡처 영역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584684"/>
            <a:ext cx="2011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 Medium" panose="02000603000000020004" pitchFamily="50" charset="-127"/>
              </a:rPr>
              <a:t>완료/오류 팝업 화면 삽입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977639"/>
            <a:ext cx="5166360" cy="50292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164198"/>
            <a:ext cx="4892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1E3A8A"/>
                </a:solidFill>
                <a:latin typeface="Pretendard Medium" panose="02000603000000020004" pitchFamily="50" charset="-127"/>
              </a:rPr>
              <a:t>기본</a:t>
            </a:r>
            <a:r>
              <a:rPr sz="1200" b="0" dirty="0">
                <a:solidFill>
                  <a:srgbClr val="1E3A8A"/>
                </a:solidFill>
                <a:latin typeface="Pretendard Medium" panose="02000603000000020004" pitchFamily="50" charset="-127"/>
              </a:rPr>
              <a:t> </a:t>
            </a:r>
            <a:r>
              <a:rPr sz="1200" b="0" dirty="0" err="1">
                <a:solidFill>
                  <a:srgbClr val="1E3A8A"/>
                </a:solidFill>
                <a:latin typeface="Pretendard Medium" panose="02000603000000020004" pitchFamily="50" charset="-127"/>
              </a:rPr>
              <a:t>선택</a:t>
            </a:r>
            <a:r>
              <a:rPr sz="1200" b="0" dirty="0">
                <a:solidFill>
                  <a:srgbClr val="1E3A8A"/>
                </a:solidFill>
                <a:latin typeface="Pretendard Medium" panose="02000603000000020004" pitchFamily="50" charset="-127"/>
              </a:rPr>
              <a:t>: </a:t>
            </a:r>
            <a:r>
              <a:rPr sz="1200" b="0" dirty="0" err="1">
                <a:solidFill>
                  <a:srgbClr val="1E3A8A"/>
                </a:solidFill>
                <a:latin typeface="Pretendard Medium" panose="02000603000000020004" pitchFamily="50" charset="-127"/>
              </a:rPr>
              <a:t>엑셀저장</a:t>
            </a:r>
            <a:r>
              <a:rPr sz="1200" b="0" dirty="0">
                <a:solidFill>
                  <a:srgbClr val="1E3A8A"/>
                </a:solidFill>
                <a:latin typeface="Pretendard Medium" panose="02000603000000020004" pitchFamily="50" charset="-127"/>
              </a:rPr>
              <a:t>, CJ </a:t>
            </a:r>
            <a:r>
              <a:rPr sz="1200" b="0" dirty="0" err="1">
                <a:solidFill>
                  <a:srgbClr val="1E3A8A"/>
                </a:solidFill>
                <a:latin typeface="Pretendard Medium" panose="02000603000000020004" pitchFamily="50" charset="-127"/>
              </a:rPr>
              <a:t>업로드</a:t>
            </a:r>
            <a:r>
              <a:rPr sz="1200" b="0" dirty="0">
                <a:solidFill>
                  <a:srgbClr val="1E3A8A"/>
                </a:solidFill>
                <a:latin typeface="Pretendard Medium" panose="02000603000000020004" pitchFamily="50" charset="-127"/>
              </a:rPr>
              <a:t> </a:t>
            </a:r>
            <a:r>
              <a:rPr sz="1200" b="0" dirty="0" err="1">
                <a:solidFill>
                  <a:srgbClr val="1E3A8A"/>
                </a:solidFill>
                <a:latin typeface="Pretendard Medium" panose="02000603000000020004" pitchFamily="50" charset="-127"/>
              </a:rPr>
              <a:t>양식</a:t>
            </a:r>
            <a:r>
              <a:rPr sz="1200" b="0" dirty="0">
                <a:solidFill>
                  <a:srgbClr val="1E3A8A"/>
                </a:solidFill>
                <a:latin typeface="Pretendard Medium" panose="02000603000000020004" pitchFamily="50" charset="-127"/>
              </a:rPr>
              <a:t>, </a:t>
            </a:r>
            <a:r>
              <a:rPr sz="1200" b="0" dirty="0" err="1">
                <a:solidFill>
                  <a:srgbClr val="1E3A8A"/>
                </a:solidFill>
                <a:latin typeface="Pretendard Medium" panose="02000603000000020004" pitchFamily="50" charset="-127"/>
              </a:rPr>
              <a:t>라벨인쇄</a:t>
            </a:r>
            <a:r>
              <a:rPr sz="1200" b="0" dirty="0">
                <a:solidFill>
                  <a:srgbClr val="1E3A8A"/>
                </a:solidFill>
                <a:latin typeface="Pretendard Medium" panose="02000603000000020004" pitchFamily="50" charset="-127"/>
              </a:rPr>
              <a:t>, </a:t>
            </a:r>
            <a:r>
              <a:rPr sz="1200" b="0" dirty="0" err="1">
                <a:solidFill>
                  <a:srgbClr val="1E3A8A"/>
                </a:solidFill>
                <a:latin typeface="Pretendard Medium" panose="02000603000000020004" pitchFamily="50" charset="-127"/>
              </a:rPr>
              <a:t>자동전환</a:t>
            </a:r>
            <a:r>
              <a:rPr sz="1200" b="0" dirty="0">
                <a:solidFill>
                  <a:srgbClr val="1E3A8A"/>
                </a:solidFill>
                <a:latin typeface="Pretendard Medium" panose="02000603000000020004" pitchFamily="50" charset="-127"/>
              </a:rPr>
              <a:t> 2종, </a:t>
            </a:r>
            <a:r>
              <a:rPr sz="1200" b="0" dirty="0" err="1">
                <a:solidFill>
                  <a:srgbClr val="1E3A8A"/>
                </a:solidFill>
                <a:latin typeface="Pretendard Medium" panose="02000603000000020004" pitchFamily="50" charset="-127"/>
              </a:rPr>
              <a:t>주문내역서</a:t>
            </a:r>
            <a:r>
              <a:rPr sz="1200" b="0" dirty="0">
                <a:solidFill>
                  <a:srgbClr val="1E3A8A"/>
                </a:solidFill>
                <a:latin typeface="Pretendard Medium" panose="02000603000000020004" pitchFamily="50" charset="-127"/>
              </a:rPr>
              <a:t> </a:t>
            </a:r>
            <a:r>
              <a:rPr sz="1200" b="0" dirty="0" err="1">
                <a:solidFill>
                  <a:srgbClr val="1E3A8A"/>
                </a:solidFill>
                <a:latin typeface="Pretendard Medium" panose="02000603000000020004" pitchFamily="50" charset="-127"/>
              </a:rPr>
              <a:t>저장</a:t>
            </a:r>
            <a:endParaRPr sz="1200" b="0" dirty="0">
              <a:solidFill>
                <a:srgbClr val="1E3A8A"/>
              </a:solidFill>
              <a:latin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54778"/>
            <a:ext cx="685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Medium" panose="02000603000000020004" pitchFamily="50" charset="-127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날짜·상태·검색 필터 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188720"/>
            <a:ext cx="2423160" cy="28346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2435760"/>
            <a:ext cx="20574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탭1 상단 설정 영역 캡처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744704"/>
            <a:ext cx="20574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 Medium" panose="02000603000000020004" pitchFamily="50" charset="-127"/>
              </a:rPr>
              <a:t>날짜/상태/검색대상 콤보 포함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188720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64008" cy="7132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318742"/>
            <a:ext cx="47091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날짜 /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651996"/>
            <a:ext cx="47091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날짜는 필수, 시간은 선택입니다. 시간을 넣으면 해당 시각 이후/이전 주문만 수집합니다.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029968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029968"/>
            <a:ext cx="64008" cy="7132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2159990"/>
            <a:ext cx="47091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상태 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2412454"/>
            <a:ext cx="470916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접수대기가 기본 선택입니다. 필요하면 입금대기, 발송, 완료 등 복수 상태를 함께 선택합니다.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871216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871216"/>
            <a:ext cx="64008" cy="71323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3001238"/>
            <a:ext cx="47091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한의원 목록 콤보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253702"/>
            <a:ext cx="470916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고래한방은 사이트명은 같아도 주소/주문자 기준으로 관저·판암·세종 지점을 분류합니다. 필한방병원은 사이트명 기준으로 표시합니다.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712463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712463"/>
            <a:ext cx="64008" cy="71323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3842485"/>
            <a:ext cx="47091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검색대상 콤보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094949"/>
            <a:ext cx="470916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주문자명, 환자명(복용자), 주문자명+환자명 중 선택합니다. 이름은 콤마로 여러 명을 한 번에 검색할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54778"/>
            <a:ext cx="685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Medium" panose="02000603000000020004" pitchFamily="50" charset="-127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파일 저장 옵션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188720"/>
          <a:ext cx="57149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</a:rPr>
                        <a:t>옵션</a:t>
                      </a:r>
                    </a:p>
                  </a:txBody>
                  <a:tcPr marL="73152" marR="73152" marT="36576" marB="36576"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</a:rPr>
                        <a:t>설명</a:t>
                      </a:r>
                    </a:p>
                  </a:txBody>
                  <a:tcPr marL="73152" marR="73152" marT="36576" marB="36576">
                    <a:solidFill>
                      <a:srgbClr val="3B5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주문 엑셀 저장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수집된 주문 전체를 통합 엑셀로 저장합니다.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대한통운 파일업로드 양식 생성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CJ 업로드용 파일 생성. A열에 주문날짜가 추가되고 한의원 대표번호가 발신번호로 반영됩니다.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탕전 라벨 인쇄용 엑셀 생성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라벨 출력에 필요한 항목만 별도 생성합니다. 고래 판암점 라벨코드 열을 포함합니다.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PDF 저장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주문내역서/조제지시서/복용법 PDF를 선택 저장합니다. 기본은 주문내역서 저장입니다.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자동 전환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입원건 입금대기 전환, 취소요청건 환불취소 전환이 기본 선택됩니다.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8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벌크/예외 처리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고래한방 입원건, 30팩 이상 별도 박스 건은 CJ 업로드/벌크 처리에서 제외 또는 분리됩니다.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1188720"/>
            <a:ext cx="1920240" cy="324612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641500"/>
            <a:ext cx="15544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파일 옵션 영역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50444"/>
            <a:ext cx="15544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 Medium" panose="02000603000000020004" pitchFamily="50" charset="-127"/>
              </a:rPr>
              <a:t>체크박스 기본값 확인용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54778"/>
            <a:ext cx="685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Medium" panose="02000603000000020004" pitchFamily="50" charset="-127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대한통운 파일업로드 양식 다운로드 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8503920" cy="12344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35660"/>
            <a:ext cx="81381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CJ 업로드 양식 엑셀 캡처 삽입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4604"/>
            <a:ext cx="81381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 Medium" panose="02000603000000020004" pitchFamily="50" charset="-127"/>
              </a:rPr>
              <a:t>A열 주문날짜 / 발신번호 / 고객주문번호가 보이도록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10440"/>
            <a:ext cx="80467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 panose="02000603000000020004" pitchFamily="50" charset="-127"/>
              </a:rPr>
              <a:t>A열에 주문날짜가 추가됩니다. 시간은 제외하고 년-월-일만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3632"/>
            <a:ext cx="80467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 panose="02000603000000020004" pitchFamily="50" charset="-127"/>
              </a:rPr>
              <a:t>발신 전화번호는 주문에 들어온 값보다 한의원 대표번호를 우선 반영합니다.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96824"/>
            <a:ext cx="80467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 panose="02000603000000020004" pitchFamily="50" charset="-127"/>
              </a:rPr>
              <a:t>고래한방은 관저·판암·세종 지점 구분 후 해당 지점 번호를 사용합니다.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90016"/>
            <a:ext cx="80467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 panose="02000603000000020004" pitchFamily="50" charset="-127"/>
              </a:rPr>
              <a:t>벌크 주문 중 30팩 이상은 별도 박스 대상이므로 CJ 업로드 양식에서 제외됩니다.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54778"/>
            <a:ext cx="685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Medium" panose="02000603000000020004" pitchFamily="50" charset="-127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탕전 라벨 인쇄용 엑셀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6263640" cy="21488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74572"/>
            <a:ext cx="58978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탕전 라벨 인쇄용 엑셀 캡처 삽입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83516"/>
            <a:ext cx="58978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 Medium" panose="02000603000000020004" pitchFamily="50" charset="-127"/>
              </a:rPr>
              <a:t>한의원별 라벨 컬럼이 보이도록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3400"/>
            <a:ext cx="795527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 panose="02000603000000020004" pitchFamily="50" charset="-127"/>
              </a:rPr>
              <a:t>각 한의원 라벨 출력에 필요한 항목만 추출합니다.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3440"/>
            <a:ext cx="795527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 panose="02000603000000020004" pitchFamily="50" charset="-127"/>
              </a:rPr>
              <a:t>고래한방_판암점은 독자 처방명 반영을 위해 라벨코드 열을 포함합니다.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170432"/>
            <a:ext cx="1691640" cy="21488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2074572"/>
            <a:ext cx="13258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라벨 출력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83516"/>
            <a:ext cx="13258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 Medium" panose="02000603000000020004" pitchFamily="50" charset="-127"/>
              </a:rPr>
              <a:t>필요 시 삽입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54778"/>
            <a:ext cx="685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Medium" panose="02000603000000020004" pitchFamily="50" charset="-127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자동 인쇄 옵션 &amp; 출력 진단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273022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탕전주문내역서 자동 인쇄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642852"/>
            <a:ext cx="36576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체크 시 수집 완료 후 주문내역서 인쇄 요청을 보냅니다.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0574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2187422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조제지시서 자동 인쇄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57252"/>
            <a:ext cx="36576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체크 시 조제지시서 인쇄 요청을 보냅니다.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9718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3101822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출력 순서 옵션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390862"/>
            <a:ext cx="36576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한의원별 묶음 출력, 입원 건 마지막 별도 출력 옵션을 사용할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143000"/>
            <a:ext cx="3794760" cy="242316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2184300"/>
            <a:ext cx="34290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자동 인쇄 옵션 영역 캡처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500939"/>
            <a:ext cx="34290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868E96"/>
                </a:solidFill>
                <a:latin typeface="Pretendard Medium" panose="02000603000000020004" pitchFamily="50" charset="-127"/>
              </a:rPr>
              <a:t>프린터 선택 콤보/체크박스/정렬 옵션 캡처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794760"/>
            <a:ext cx="3794760" cy="566928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3805574"/>
            <a:ext cx="352044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 Medium" panose="02000603000000020004" pitchFamily="50" charset="-127"/>
              </a:rPr>
              <a:t>출력 요청 로그는 실제 종이 출력 완료가 아니라 브라우저 인쇄 요청 기준입니다. 누락 의심 시 인쇄요청목록/인쇄결과목록을 확인합니다.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218688"/>
            <a:ext cx="3794760" cy="384048"/>
          </a:xfrm>
          <a:prstGeom prst="roundRect">
            <a:avLst/>
          </a:prstGeom>
          <a:solidFill>
            <a:srgbClr val="EFF4FF"/>
          </a:solidFill>
          <a:ln w="7620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3243331"/>
            <a:ext cx="35204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E3A8A"/>
                </a:solidFill>
                <a:latin typeface="Pretendard Medium" panose="02000603000000020004" pitchFamily="50" charset="-127"/>
              </a:rPr>
              <a:t>프린터 선택: PC에 설치된 프린터 중 자동 인쇄에 사용할 프린터를 지정할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54778"/>
            <a:ext cx="685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Medium" panose="02000603000000020004" pitchFamily="50" charset="-127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송장번호 자동 입력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 panose="02000603000000020004" pitchFamily="50" charset="-127"/>
              </a:rPr>
              <a:t>CJ 배송 상세내역 엑셀 파일을 업로드하면, 해당 주문에 송장번호를 자동 입력하고 상태를 발송으로 전환합니다.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093083"/>
            <a:ext cx="43891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Medium" panose="02000603000000020004" pitchFamily="50" charset="-127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2642726"/>
            <a:ext cx="96012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 Medium" panose="02000603000000020004" pitchFamily="50" charset="-127"/>
              </a:rPr>
              <a:t>CJ 상세내역 다운로드</a:t>
            </a:r>
          </a:p>
        </p:txBody>
      </p:sp>
      <p:sp>
        <p:nvSpPr>
          <p:cNvPr id="12" name="Oval 11"/>
          <p:cNvSpPr/>
          <p:nvPr/>
        </p:nvSpPr>
        <p:spPr>
          <a:xfrm>
            <a:off x="1572768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2093083"/>
            <a:ext cx="43891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Medium" panose="02000603000000020004" pitchFamily="50" charset="-127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715823"/>
            <a:ext cx="9601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 Medium" panose="02000603000000020004" pitchFamily="50" charset="-127"/>
              </a:rPr>
              <a:t>날짜 범위 설정</a:t>
            </a:r>
          </a:p>
        </p:txBody>
      </p:sp>
      <p:sp>
        <p:nvSpPr>
          <p:cNvPr id="15" name="Oval 14"/>
          <p:cNvSpPr/>
          <p:nvPr/>
        </p:nvSpPr>
        <p:spPr>
          <a:xfrm>
            <a:off x="2642615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42615" y="2093083"/>
            <a:ext cx="43891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Medium" panose="02000603000000020004" pitchFamily="50" charset="-127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3" y="2715823"/>
            <a:ext cx="9601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 Medium" panose="02000603000000020004" pitchFamily="50" charset="-127"/>
              </a:rPr>
              <a:t>파일 선택</a:t>
            </a:r>
          </a:p>
        </p:txBody>
      </p:sp>
      <p:sp>
        <p:nvSpPr>
          <p:cNvPr id="18" name="Oval 17"/>
          <p:cNvSpPr/>
          <p:nvPr/>
        </p:nvSpPr>
        <p:spPr>
          <a:xfrm>
            <a:off x="3712463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12463" y="2093083"/>
            <a:ext cx="43891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Medium" panose="02000603000000020004" pitchFamily="50" charset="-127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1" y="2715823"/>
            <a:ext cx="9601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 Medium" panose="02000603000000020004" pitchFamily="50" charset="-127"/>
              </a:rPr>
              <a:t>실행 클릭</a:t>
            </a:r>
          </a:p>
        </p:txBody>
      </p:sp>
      <p:sp>
        <p:nvSpPr>
          <p:cNvPr id="21" name="Oval 20"/>
          <p:cNvSpPr/>
          <p:nvPr/>
        </p:nvSpPr>
        <p:spPr>
          <a:xfrm>
            <a:off x="4782312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82312" y="2093083"/>
            <a:ext cx="43891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Medium" panose="02000603000000020004" pitchFamily="50" charset="-127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715823"/>
            <a:ext cx="9601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 Medium" panose="02000603000000020004" pitchFamily="50" charset="-127"/>
              </a:rPr>
              <a:t>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1143000"/>
            <a:ext cx="2423160" cy="29260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2435760"/>
            <a:ext cx="20574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탭2 송장 입력 화면 캡처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744704"/>
            <a:ext cx="20574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 Medium" panose="02000603000000020004" pitchFamily="50" charset="-127"/>
              </a:rPr>
              <a:t>파일 선택/실행 영역 포함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977639"/>
            <a:ext cx="5349240" cy="50292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056476"/>
            <a:ext cx="507492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 Medium" panose="02000603000000020004" pitchFamily="50" charset="-127"/>
              </a:rPr>
              <a:t>주의: 기존 송장번호와 업로드 파일 번호가 다르면 오류가 날 수 있습니다. 파일을 다시 다운로드해 확인하세요.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54778"/>
            <a:ext cx="685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Medium" panose="02000603000000020004" pitchFamily="50" charset="-127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벌크 주문 발송처리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42334"/>
            <a:ext cx="54406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고래한방</a:t>
            </a:r>
            <a:r>
              <a:rPr sz="130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입원</a:t>
            </a:r>
            <a:r>
              <a:rPr sz="130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/</a:t>
            </a:r>
            <a:r>
              <a:rPr sz="130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벌크</a:t>
            </a:r>
            <a:r>
              <a:rPr sz="130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주문은</a:t>
            </a:r>
            <a:r>
              <a:rPr sz="130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일반</a:t>
            </a:r>
            <a:r>
              <a:rPr sz="130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택배</a:t>
            </a:r>
            <a:r>
              <a:rPr sz="130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업로드와</a:t>
            </a:r>
            <a:r>
              <a:rPr sz="130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분리해서</a:t>
            </a:r>
            <a:r>
              <a:rPr sz="130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 panose="02000603000000020004" pitchFamily="50" charset="-127"/>
              </a:rPr>
              <a:t>관리합니다</a:t>
            </a:r>
            <a:r>
              <a:rPr sz="1300" b="0" dirty="0">
                <a:solidFill>
                  <a:srgbClr val="495057"/>
                </a:solidFill>
                <a:latin typeface="Pretendard Medium" panose="02000603000000020004" pitchFamily="50" charset="-127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783080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64008" cy="93268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913102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75293"/>
            <a:ext cx="233172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고래한방병원 주문 중 한의원으로 택배 발송되는 벌크/입원 관련 주문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783080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54680" y="1783080"/>
            <a:ext cx="64008" cy="932688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1913102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지점 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275293"/>
            <a:ext cx="233172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주소/주문자 기준으로 관저점, 판암점, 세종점을 구분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907792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907792"/>
            <a:ext cx="64008" cy="932688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3037814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30팩 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00005"/>
            <a:ext cx="233172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별도 박스 대상이므로 대한통운 파일 업로드 양식에서 제외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2907792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54680" y="2907792"/>
            <a:ext cx="64008" cy="932688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19272" y="3037814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확인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3400005"/>
            <a:ext cx="233172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주문 확인 단계에서 세종점 입원 제외 케이스까지 함께 체크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508760"/>
            <a:ext cx="2331720" cy="26974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2687220"/>
            <a:ext cx="19659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벌크 처리 화면/엑셀 캡처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996164"/>
            <a:ext cx="19659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 Medium" panose="02000603000000020004" pitchFamily="50" charset="-127"/>
              </a:rPr>
              <a:t>필요한 실제 화면으로 교체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54778"/>
            <a:ext cx="6858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Medium" panose="02000603000000020004" pitchFamily="50" charset="-127"/>
              </a:rPr>
              <a:t>Tab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배송완료 자동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49377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 panose="02000603000000020004" pitchFamily="50" charset="-127"/>
              </a:rPr>
              <a:t>발송 상태인 주문의 CJ 배송 추적을 확인하여 배송완료된 주문을 자동으로 완료 상태로 전환합니다.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1828800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946277"/>
            <a:ext cx="36576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0291"/>
            <a:ext cx="78638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 Medium" panose="02000603000000020004" pitchFamily="50" charset="-127"/>
              </a:rPr>
              <a:t>발송 상태 주문 목록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75520"/>
            <a:ext cx="78638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 Medium" panose="02000603000000020004" pitchFamily="50" charset="-127"/>
              </a:rPr>
              <a:t>선택한 날짜 범위의 발송 주문을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59152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20040" y="2487168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2604645"/>
            <a:ext cx="36576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38659"/>
            <a:ext cx="78638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 Medium" panose="02000603000000020004" pitchFamily="50" charset="-127"/>
              </a:rPr>
              <a:t>CJ 송장 추적 페이지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33888"/>
            <a:ext cx="78638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 Medium" panose="02000603000000020004" pitchFamily="50" charset="-127"/>
              </a:rPr>
              <a:t>송장별 배송 상태를 자동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1752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20040" y="3145536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263013"/>
            <a:ext cx="36576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 Medium" panose="02000603000000020004" pitchFamily="50" charset="-127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097027"/>
            <a:ext cx="78638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 Medium" panose="02000603000000020004" pitchFamily="50" charset="-127"/>
              </a:rPr>
              <a:t>배송완료 확인 시 완료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92256"/>
            <a:ext cx="78638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 Medium" panose="02000603000000020004" pitchFamily="50" charset="-127"/>
              </a:rPr>
              <a:t>배송 중인 주문은 건너뜀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75888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897880" y="1143000"/>
            <a:ext cx="2514600" cy="29260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2435760"/>
            <a:ext cx="214884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 Medium" panose="02000603000000020004" pitchFamily="50" charset="-127"/>
              </a:rPr>
              <a:t>탭3 화면 캡처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744704"/>
            <a:ext cx="214884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 Medium" panose="02000603000000020004" pitchFamily="50" charset="-127"/>
              </a:rPr>
              <a:t>배송완료 전환 화면 삽입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160520"/>
            <a:ext cx="5212080" cy="438912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207353"/>
            <a:ext cx="49377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 Medium" panose="02000603000000020004" pitchFamily="50" charset="-127"/>
              </a:rPr>
              <a:t>처리 건수가 많으면 시간이 걸릴 수 있습니다. 완료 알림이 뜰 때까지 기다려주세요.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날짜 &amp; 시간 입력 형식 안내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7680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</a:rPr>
                        <a:t>항목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</a:rPr>
                        <a:t>사용 가능한 형식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</a:rPr>
                        <a:t>예시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YYYYMMDD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20260430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날짜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YYYY-MM-DD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2026-04-30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YYYY/MM/DD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2026/04/30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HHMM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1430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HH:MM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14:30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34840"/>
            <a:ext cx="7680960" cy="41148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567984"/>
            <a:ext cx="74066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 Medium" panose="02000603000000020004" pitchFamily="50" charset="-127"/>
              </a:rPr>
              <a:t>시간 입력은 선택사항입니다. 시간을 입력하면 해당 시간 이후 / 이전 주문만 수집됩니다.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실행 중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76787"/>
            <a:ext cx="34747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03131"/>
                </a:solidFill>
                <a:latin typeface="Pretendard Medium" panose="02000603000000020004" pitchFamily="50" charset="-127"/>
              </a:rPr>
              <a:t>하지 말아야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9152"/>
            <a:ext cx="3383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 Medium" panose="02000603000000020004" pitchFamily="50" charset="-127"/>
              </a:rPr>
              <a:t>Chrome 창 임의로 닫기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79504"/>
            <a:ext cx="3383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 Medium" panose="02000603000000020004" pitchFamily="50" charset="-127"/>
              </a:rPr>
              <a:t>실행 중 다른 탭 실행 시도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09856"/>
            <a:ext cx="3383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 Medium" panose="02000603000000020004" pitchFamily="50" charset="-127"/>
              </a:rPr>
              <a:t>컴퓨터 절전모드 / 화면보호기 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176787"/>
            <a:ext cx="34747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F9E44"/>
                </a:solidFill>
                <a:latin typeface="Pretendard Medium" panose="02000603000000020004" pitchFamily="50" charset="-127"/>
              </a:rPr>
              <a:t>해도 되는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649152"/>
            <a:ext cx="3383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 Medium" panose="02000603000000020004" pitchFamily="50" charset="-127"/>
              </a:rPr>
              <a:t>진행 중 다른 프로그램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79504"/>
            <a:ext cx="3383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 Medium" panose="02000603000000020004" pitchFamily="50" charset="-127"/>
              </a:rPr>
              <a:t>로그 창 스크롤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09856"/>
            <a:ext cx="33832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>
                <a:latin typeface="Pretendard Medium" panose="02000603000000020004" pitchFamily="50" charset="-127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 Medium" panose="02000603000000020004" pitchFamily="50" charset="-127"/>
              </a:rPr>
              <a:t>취소 버튼으로 중단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143000"/>
            <a:ext cx="12700" cy="233172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0040" y="3977639"/>
            <a:ext cx="8503920" cy="54864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179363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 Medium" panose="02000603000000020004" pitchFamily="50" charset="-127"/>
              </a:rPr>
              <a:t>실행 중 오류가 발생하면 로그 창에서 내용을 확인하고, 프로그램을 재시작한 뒤 다시 시도해주세요.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자주 발생하는 오류 &amp; 해결법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85039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98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</a:rPr>
                        <a:t>증상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</a:rPr>
                        <a:t>원인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</a:rPr>
                        <a:t>해결 방법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Chrome이 안 열림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ChromeDriver 또는 Chrome 버전 문제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Chrome 최신 업데이트 후 재시도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수집됐는데 파일이 없음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저장 옵션 미체크 또는 저장 경로 확인 필요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파일 저장 옵션과 결과 폴더 확인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필터 결과가 이상함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사이트명/지점명 또는 검색대상 선택 불일치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한의원 콤보, 검색대상, 콤마 입력값 확인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출력 로그는 있는데 종이가 없음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로그는 출력 요청 기준이며 프린터 완료 기준이 아님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인쇄요청목록/인쇄결과목록과 프린터 대기열 확인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CJ 업로드 전화번호 이상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한의원 대표번호 매핑 또는 지점 분류 확인 필요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대표번호/고래 지점 분류 확인 후 재생성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88"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탭 실행 버튼 안 눌림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다른 탭 작업 실행 중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 Medium" panose="02000603000000020004" pitchFamily="50" charset="-127"/>
                        </a:rPr>
                        <a:t>현재 작업 완료 후 다시 실행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 Medium" panose="02000603000000020004" pitchFamily="50" charset="-127"/>
              </a:rPr>
              <a:t>화면 캡처 교체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5188"/>
            <a:ext cx="850392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 Medium" panose="02000603000000020004" pitchFamily="50" charset="-127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81381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 panose="02000603000000020004" pitchFamily="50" charset="-127"/>
              </a:rPr>
              <a:t>아래 화면은 직접 캡처 후 각 슬라이드의 점선 영역에 삽입하면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64008" cy="5303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821662"/>
            <a:ext cx="2240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슬라이드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63477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실행 완료 팝업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691640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691640"/>
            <a:ext cx="64008" cy="5303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64992" y="1821662"/>
            <a:ext cx="2240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슬라이드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063477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탭1 상단 설정 영역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691640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64008" cy="5303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3912" y="1821662"/>
            <a:ext cx="2240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슬라이드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063477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파일 옵션 체크박스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40487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2404872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" y="2534894"/>
            <a:ext cx="2240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슬라이드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2776709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CJ 업로드 양식 엑셀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40487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0" y="2404872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64992" y="2534894"/>
            <a:ext cx="2240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슬라이드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2776709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탕전 라벨 엑셀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40487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89320" y="2404872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53912" y="2534894"/>
            <a:ext cx="2240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슬라이드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2776709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자동 인쇄 옵션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11810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1480" y="3118104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" y="3248126"/>
            <a:ext cx="2240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슬라이드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3489941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탭2 송장 입력 화면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11810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0" y="3118104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64992" y="3248126"/>
            <a:ext cx="2240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슬라이드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3489941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벌크 처리 화면/엑셀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311810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89320" y="3118104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53912" y="3248126"/>
            <a:ext cx="22402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 Medium" panose="02000603000000020004" pitchFamily="50" charset="-127"/>
              </a:rPr>
              <a:t>슬라이드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3489941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 Medium" panose="02000603000000020004" pitchFamily="50" charset="-127"/>
              </a:rPr>
              <a:t>탭3 배송완료 전환 화면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187952"/>
            <a:ext cx="8092440" cy="45720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343956"/>
            <a:ext cx="78181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 Medium" panose="02000603000000020004" pitchFamily="50" charset="-127"/>
              </a:rPr>
              <a:t>캡처를 넣을 때는 점선 박스를 삭제하거나 뒤로 보내고, 기존 위치와 크기에 맞춰 이미지를 배치하면 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212080" y="1211580"/>
            <a:ext cx="3931920" cy="3931920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417320"/>
            <a:ext cx="1005840" cy="10058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 Medium" panose="02000603000000020004" pitchFamily="50" charset="-127"/>
              </a:rPr>
              <a:t>문의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11279"/>
            <a:ext cx="55778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343A40"/>
                </a:solidFill>
                <a:latin typeface="Pretendard Medium" panose="02000603000000020004" pitchFamily="50" charset="-127"/>
              </a:rPr>
              <a:t>문의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65212"/>
            <a:ext cx="5669280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>
                <a:solidFill>
                  <a:srgbClr val="495057"/>
                </a:solidFill>
                <a:latin typeface="Pretendard Medium" panose="02000603000000020004" pitchFamily="50" charset="-127"/>
              </a:rPr>
              <a:t>프로그램 오류나 개선사항은
담당자에게 문의해주세요.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7707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retendard Medium" panose="02000603000000020004" pitchFamily="50" charset="-127"/>
              </a:rPr>
              <a:t>K-gin bio Pharm Ltd. · 탕전주문 관리 시스템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1638</Words>
  <Application>Microsoft Office PowerPoint</Application>
  <PresentationFormat>화면 슬라이드 쇼(16:9)</PresentationFormat>
  <Paragraphs>273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Pretendard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yh890819@naver.com</cp:lastModifiedBy>
  <cp:revision>2</cp:revision>
  <dcterms:created xsi:type="dcterms:W3CDTF">2013-01-27T09:14:16Z</dcterms:created>
  <dcterms:modified xsi:type="dcterms:W3CDTF">2026-04-30T08:16:00Z</dcterms:modified>
  <cp:category/>
</cp:coreProperties>
</file>