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3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2" r:id="rId1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42" d="100"/>
          <a:sy n="142" d="100"/>
        </p:scale>
        <p:origin x="71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943600" y="0"/>
            <a:ext cx="3200400" cy="3200400"/>
          </a:xfrm>
          <a:prstGeom prst="ellipse">
            <a:avLst/>
          </a:prstGeom>
          <a:solidFill>
            <a:srgbClr val="EF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858000" y="457200"/>
            <a:ext cx="2286000" cy="2286000"/>
          </a:xfrm>
          <a:prstGeom prst="ellipse">
            <a:avLst/>
          </a:prstGeom>
          <a:solidFill>
            <a:srgbClr val="DB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3B5BDB"/>
                </a:solidFill>
                <a:latin typeface="Pretendard SemiBold"/>
              </a:rPr>
              <a:t>사용 가이드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777240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600" b="0" dirty="0" err="1">
                <a:solidFill>
                  <a:srgbClr val="343A40"/>
                </a:solidFill>
                <a:latin typeface="Pretendard SemiBold"/>
              </a:rPr>
              <a:t>케이진</a:t>
            </a:r>
            <a:r>
              <a:rPr sz="3600" b="0" dirty="0">
                <a:solidFill>
                  <a:srgbClr val="343A40"/>
                </a:solidFill>
                <a:latin typeface="Pretendard SemiBold"/>
              </a:rPr>
              <a:t> </a:t>
            </a:r>
            <a:r>
              <a:rPr sz="3600" b="0" dirty="0" err="1">
                <a:solidFill>
                  <a:srgbClr val="343A40"/>
                </a:solidFill>
                <a:latin typeface="Pretendard SemiBold"/>
              </a:rPr>
              <a:t>탕전주문</a:t>
            </a:r>
            <a:r>
              <a:rPr sz="3600" b="0" dirty="0">
                <a:solidFill>
                  <a:srgbClr val="343A40"/>
                </a:solidFill>
                <a:latin typeface="Pretendard SemiBold"/>
              </a:rPr>
              <a:t>
</a:t>
            </a:r>
            <a:r>
              <a:rPr sz="3600" b="0" dirty="0" err="1">
                <a:solidFill>
                  <a:srgbClr val="343A40"/>
                </a:solidFill>
                <a:latin typeface="Pretendard SemiBold"/>
              </a:rPr>
              <a:t>관리</a:t>
            </a:r>
            <a:r>
              <a:rPr sz="3600" b="0" dirty="0">
                <a:solidFill>
                  <a:srgbClr val="343A40"/>
                </a:solidFill>
                <a:latin typeface="Pretendard SemiBold"/>
              </a:rPr>
              <a:t> </a:t>
            </a:r>
            <a:r>
              <a:rPr sz="3600" b="0" dirty="0" err="1">
                <a:solidFill>
                  <a:srgbClr val="343A40"/>
                </a:solidFill>
                <a:latin typeface="Pretendard SemiBold"/>
              </a:rPr>
              <a:t>프로그램</a:t>
            </a:r>
            <a:endParaRPr sz="3600" b="0" dirty="0">
              <a:solidFill>
                <a:srgbClr val="343A40"/>
              </a:solidFill>
              <a:latin typeface="Pretendard SemiBold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2920" y="3200400"/>
            <a:ext cx="4114800" cy="25400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333756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>
                <a:solidFill>
                  <a:srgbClr val="3B5BDB"/>
                </a:solidFill>
                <a:latin typeface="Pretendard SemiBold"/>
              </a:rPr>
              <a:t>v.1.4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75488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Pretendard Light"/>
              </a:rPr>
              <a:t>K-gin bio Pharm Ltd. · 탕전주문 관리 시스템 (프로그램 버전 12.50 기준 / 260430)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45720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0">
                <a:solidFill>
                  <a:srgbClr val="343A40"/>
                </a:solidFill>
                <a:latin typeface="Pretendard SemiBold"/>
              </a:rPr>
              <a:t>목차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05840"/>
            <a:ext cx="8503920" cy="127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4800600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868E96"/>
                </a:solidFill>
                <a:latin typeface="Pretendard Light"/>
              </a:rPr>
              <a:t>K-gin bio Pharm Ltd. · 탕전주문 관리 시스템 · v1.4 / 프로그램 12.50 기준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325880"/>
            <a:ext cx="370332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325880"/>
            <a:ext cx="64008" cy="841248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490472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>
                <a:solidFill>
                  <a:srgbClr val="3B5BDB"/>
                </a:solidFill>
                <a:latin typeface="Pretendard SemiBol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481328"/>
            <a:ext cx="265176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212529"/>
                </a:solidFill>
                <a:latin typeface="Pretendard SemiBold"/>
              </a:rPr>
              <a:t>시작하기 전에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783080"/>
            <a:ext cx="26517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495057"/>
                </a:solidFill>
                <a:latin typeface="Pretendard Medium"/>
              </a:rPr>
              <a:t>준비사항 &amp; 실행 전 확인사항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1325880"/>
            <a:ext cx="370332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80559" y="1325880"/>
            <a:ext cx="64008" cy="841248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09159" y="1490472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>
                <a:solidFill>
                  <a:srgbClr val="3B5BDB"/>
                </a:solidFill>
                <a:latin typeface="Pretendard SemiBol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39" y="1481328"/>
            <a:ext cx="265176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212529"/>
                </a:solidFill>
                <a:latin typeface="Pretendard SemiBold"/>
              </a:rPr>
              <a:t>탭 1 — 주문 수집 &amp; 자동 처리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39" y="1783080"/>
            <a:ext cx="26517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495057"/>
                </a:solidFill>
                <a:latin typeface="Pretendard Medium"/>
              </a:rPr>
              <a:t>날짜/상태/검색 필터 · 파일 저장 · 인쇄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2395728"/>
            <a:ext cx="370332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20040" y="2395728"/>
            <a:ext cx="64008" cy="841248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2560320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>
                <a:solidFill>
                  <a:srgbClr val="3B5BDB"/>
                </a:solidFill>
                <a:latin typeface="Pretendard SemiBol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2551176"/>
            <a:ext cx="265176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212529"/>
                </a:solidFill>
                <a:latin typeface="Pretendard SemiBold"/>
              </a:rPr>
              <a:t>탭 2 — 송장번호 입력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2852928"/>
            <a:ext cx="26517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495057"/>
                </a:solidFill>
                <a:latin typeface="Pretendard Medium"/>
              </a:rPr>
              <a:t>CJ 배송 엑셀 연동 &amp; 자동 입력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59" y="2395728"/>
            <a:ext cx="370332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480559" y="2395728"/>
            <a:ext cx="64008" cy="841248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09159" y="2560320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>
                <a:solidFill>
                  <a:srgbClr val="3B5BDB"/>
                </a:solidFill>
                <a:latin typeface="Pretendard SemiBold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39" y="2551176"/>
            <a:ext cx="265176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212529"/>
                </a:solidFill>
                <a:latin typeface="Pretendard SemiBold"/>
              </a:rPr>
              <a:t>탭 2 — 벌크 발송처리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9239" y="2852928"/>
            <a:ext cx="26517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495057"/>
                </a:solidFill>
                <a:latin typeface="Pretendard Medium"/>
              </a:rPr>
              <a:t>고래한방 입원/벌크 예외 처리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3465576"/>
            <a:ext cx="370332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20040" y="3465576"/>
            <a:ext cx="64008" cy="841248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640" y="363016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>
                <a:solidFill>
                  <a:srgbClr val="3B5BDB"/>
                </a:solidFill>
                <a:latin typeface="Pretendard SemiBold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3621024"/>
            <a:ext cx="265176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212529"/>
                </a:solidFill>
                <a:latin typeface="Pretendard SemiBold"/>
              </a:rPr>
              <a:t>탭 3 — 배송완료 자동전환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3922776"/>
            <a:ext cx="26517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495057"/>
                </a:solidFill>
                <a:latin typeface="Pretendard Medium"/>
              </a:rPr>
              <a:t>CJ 추적 → 완료 상태 자동 변경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80559" y="3465576"/>
            <a:ext cx="370332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480559" y="3465576"/>
            <a:ext cx="64008" cy="841248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709159" y="363016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>
                <a:solidFill>
                  <a:srgbClr val="3B5BDB"/>
                </a:solidFill>
                <a:latin typeface="Pretendard SemiBold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49239" y="3621024"/>
            <a:ext cx="265176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212529"/>
                </a:solidFill>
                <a:latin typeface="Pretendard SemiBold"/>
              </a:rPr>
              <a:t>오류 확인 &amp; 운영 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49239" y="3922776"/>
            <a:ext cx="26517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495057"/>
                </a:solidFill>
                <a:latin typeface="Pretendard Medium"/>
              </a:rPr>
              <a:t>출력 진단 로그 · 자주 발생하는 오류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45720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0" dirty="0">
                <a:solidFill>
                  <a:srgbClr val="343A40"/>
                </a:solidFill>
                <a:latin typeface="Pretendard SemiBold"/>
              </a:rPr>
              <a:t>v1.4 </a:t>
            </a:r>
            <a:r>
              <a:rPr sz="2800" b="0" dirty="0" err="1">
                <a:solidFill>
                  <a:srgbClr val="343A40"/>
                </a:solidFill>
                <a:latin typeface="Pretendard SemiBold"/>
              </a:rPr>
              <a:t>업데이트</a:t>
            </a:r>
            <a:r>
              <a:rPr sz="2800" b="0" dirty="0">
                <a:solidFill>
                  <a:srgbClr val="343A40"/>
                </a:solidFill>
                <a:latin typeface="Pretendard SemiBold"/>
              </a:rPr>
              <a:t> </a:t>
            </a:r>
            <a:r>
              <a:rPr sz="2800" b="0" dirty="0" err="1">
                <a:solidFill>
                  <a:srgbClr val="343A40"/>
                </a:solidFill>
                <a:latin typeface="Pretendard SemiBold"/>
              </a:rPr>
              <a:t>요약</a:t>
            </a:r>
            <a:endParaRPr sz="2800" b="0" dirty="0">
              <a:solidFill>
                <a:srgbClr val="343A40"/>
              </a:solidFill>
              <a:latin typeface="Pretendard SemiBold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20040" y="1005840"/>
            <a:ext cx="8503920" cy="127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4800600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868E96"/>
                </a:solidFill>
                <a:latin typeface="Pretendard Light"/>
              </a:rPr>
              <a:t>K-gin bio Pharm Ltd. · 탕전주문 관리 시스템 · v1.4 / 프로그램 12.50 기준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124712"/>
            <a:ext cx="8321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495057"/>
                </a:solidFill>
                <a:latin typeface="Pretendard Light"/>
              </a:rPr>
              <a:t>v1.2 배포본 이후 실제 사용 흐름에 영향을 주는 변경사항입니다. 자세한 사용 방법은 오른쪽 페이지를 참고하세요.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627632"/>
            <a:ext cx="406908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1480" y="1627632"/>
            <a:ext cx="64008" cy="786384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12648" y="1801368"/>
            <a:ext cx="329184" cy="329184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0" dirty="0">
                <a:solidFill>
                  <a:srgbClr val="FFFFFF"/>
                </a:solidFill>
                <a:latin typeface="Pretendard SemiBol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173736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212529"/>
                </a:solidFill>
                <a:latin typeface="Pretendard SemiBold"/>
              </a:rPr>
              <a:t>탭1 기본 선택 옵션 변경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1961722"/>
            <a:ext cx="2814818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dirty="0" err="1">
                <a:solidFill>
                  <a:srgbClr val="495057"/>
                </a:solidFill>
                <a:latin typeface="Pretendard Light"/>
              </a:rPr>
              <a:t>엑셀저장</a:t>
            </a:r>
            <a:r>
              <a:rPr sz="800" b="0" dirty="0">
                <a:solidFill>
                  <a:srgbClr val="495057"/>
                </a:solidFill>
                <a:latin typeface="Pretendard Light"/>
              </a:rPr>
              <a:t>, CJ </a:t>
            </a:r>
            <a:r>
              <a:rPr sz="800" b="0" dirty="0" err="1">
                <a:solidFill>
                  <a:srgbClr val="495057"/>
                </a:solidFill>
                <a:latin typeface="Pretendard Light"/>
              </a:rPr>
              <a:t>업로드</a:t>
            </a:r>
            <a:r>
              <a:rPr sz="800" b="0" dirty="0">
                <a:solidFill>
                  <a:srgbClr val="495057"/>
                </a:solidFill>
                <a:latin typeface="Pretendard Light"/>
              </a:rPr>
              <a:t> </a:t>
            </a:r>
            <a:r>
              <a:rPr sz="800" b="0" dirty="0" err="1">
                <a:solidFill>
                  <a:srgbClr val="495057"/>
                </a:solidFill>
                <a:latin typeface="Pretendard Light"/>
              </a:rPr>
              <a:t>양식</a:t>
            </a:r>
            <a:r>
              <a:rPr sz="800" b="0" dirty="0">
                <a:solidFill>
                  <a:srgbClr val="495057"/>
                </a:solidFill>
                <a:latin typeface="Pretendard Light"/>
              </a:rPr>
              <a:t>, </a:t>
            </a:r>
            <a:r>
              <a:rPr sz="800" b="0" dirty="0" err="1">
                <a:solidFill>
                  <a:srgbClr val="495057"/>
                </a:solidFill>
                <a:latin typeface="Pretendard Light"/>
              </a:rPr>
              <a:t>라벨인쇄</a:t>
            </a:r>
            <a:r>
              <a:rPr sz="800" b="0" dirty="0">
                <a:solidFill>
                  <a:srgbClr val="495057"/>
                </a:solidFill>
                <a:latin typeface="Pretendard Light"/>
              </a:rPr>
              <a:t>, </a:t>
            </a:r>
            <a:r>
              <a:rPr sz="800" b="0" dirty="0" err="1">
                <a:solidFill>
                  <a:srgbClr val="495057"/>
                </a:solidFill>
                <a:latin typeface="Pretendard Light"/>
              </a:rPr>
              <a:t>자동전환</a:t>
            </a:r>
            <a:r>
              <a:rPr sz="800" b="0" dirty="0">
                <a:solidFill>
                  <a:srgbClr val="495057"/>
                </a:solidFill>
                <a:latin typeface="Pretendard Light"/>
              </a:rPr>
              <a:t> 2종, </a:t>
            </a:r>
            <a:r>
              <a:rPr sz="800" b="0" dirty="0" err="1">
                <a:solidFill>
                  <a:srgbClr val="495057"/>
                </a:solidFill>
                <a:latin typeface="Pretendard Light"/>
              </a:rPr>
              <a:t>주문내역서</a:t>
            </a:r>
            <a:r>
              <a:rPr sz="800" b="0" dirty="0">
                <a:solidFill>
                  <a:srgbClr val="495057"/>
                </a:solidFill>
                <a:latin typeface="Pretendard Light"/>
              </a:rPr>
              <a:t> </a:t>
            </a:r>
            <a:r>
              <a:rPr sz="800" b="0" dirty="0" err="1">
                <a:solidFill>
                  <a:srgbClr val="495057"/>
                </a:solidFill>
                <a:latin typeface="Pretendard Light"/>
              </a:rPr>
              <a:t>저장이</a:t>
            </a:r>
            <a:r>
              <a:rPr sz="800" b="0" dirty="0">
                <a:solidFill>
                  <a:srgbClr val="495057"/>
                </a:solidFill>
                <a:latin typeface="Pretendard Light"/>
              </a:rPr>
              <a:t> </a:t>
            </a:r>
            <a:r>
              <a:rPr sz="800" b="0" dirty="0" err="1">
                <a:solidFill>
                  <a:srgbClr val="495057"/>
                </a:solidFill>
                <a:latin typeface="Pretendard Light"/>
              </a:rPr>
              <a:t>기본</a:t>
            </a:r>
            <a:r>
              <a:rPr sz="800" b="0" dirty="0">
                <a:solidFill>
                  <a:srgbClr val="495057"/>
                </a:solidFill>
                <a:latin typeface="Pretendard Light"/>
              </a:rPr>
              <a:t> </a:t>
            </a:r>
            <a:r>
              <a:rPr sz="800" b="0" dirty="0" err="1">
                <a:solidFill>
                  <a:srgbClr val="495057"/>
                </a:solidFill>
                <a:latin typeface="Pretendard Light"/>
              </a:rPr>
              <a:t>선택됩니다</a:t>
            </a:r>
            <a:r>
              <a:rPr sz="800" b="0" dirty="0">
                <a:solidFill>
                  <a:srgbClr val="495057"/>
                </a:solidFill>
                <a:latin typeface="Pretendard Light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1773936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>
                <a:solidFill>
                  <a:srgbClr val="1E3A8A"/>
                </a:solidFill>
                <a:latin typeface="Pretendard SemiBold"/>
              </a:rPr>
              <a:t>7p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82312" y="1627632"/>
            <a:ext cx="406908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782312" y="1627632"/>
            <a:ext cx="64008" cy="786384"/>
          </a:xfrm>
          <a:prstGeom prst="rect">
            <a:avLst/>
          </a:prstGeom>
          <a:solidFill>
            <a:srgbClr val="2F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983480" y="1801368"/>
            <a:ext cx="329184" cy="329184"/>
          </a:xfrm>
          <a:prstGeom prst="ellipse">
            <a:avLst/>
          </a:prstGeom>
          <a:solidFill>
            <a:srgbClr val="2F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0">
                <a:solidFill>
                  <a:srgbClr val="FFFFFF"/>
                </a:solidFill>
                <a:latin typeface="Pretendard SemiBold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173736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212529"/>
                </a:solidFill>
                <a:latin typeface="Pretendard SemiBold"/>
              </a:rPr>
              <a:t>검색 필터 개선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0680" y="1961722"/>
            <a:ext cx="2801194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dirty="0" err="1">
                <a:solidFill>
                  <a:srgbClr val="495057"/>
                </a:solidFill>
                <a:latin typeface="Pretendard Light"/>
              </a:rPr>
              <a:t>주문자명</a:t>
            </a:r>
            <a:r>
              <a:rPr sz="800" b="0" dirty="0">
                <a:solidFill>
                  <a:srgbClr val="495057"/>
                </a:solidFill>
                <a:latin typeface="Pretendard Light"/>
              </a:rPr>
              <a:t>/</a:t>
            </a:r>
            <a:r>
              <a:rPr sz="800" b="0" dirty="0" err="1">
                <a:solidFill>
                  <a:srgbClr val="495057"/>
                </a:solidFill>
                <a:latin typeface="Pretendard Light"/>
              </a:rPr>
              <a:t>환자명</a:t>
            </a:r>
            <a:r>
              <a:rPr sz="800" b="0" dirty="0">
                <a:solidFill>
                  <a:srgbClr val="495057"/>
                </a:solidFill>
                <a:latin typeface="Pretendard Light"/>
              </a:rPr>
              <a:t>/</a:t>
            </a:r>
            <a:r>
              <a:rPr sz="800" b="0" dirty="0" err="1">
                <a:solidFill>
                  <a:srgbClr val="495057"/>
                </a:solidFill>
                <a:latin typeface="Pretendard Light"/>
              </a:rPr>
              <a:t>주문자+환자를</a:t>
            </a:r>
            <a:r>
              <a:rPr sz="800" b="0" dirty="0">
                <a:solidFill>
                  <a:srgbClr val="495057"/>
                </a:solidFill>
                <a:latin typeface="Pretendard Light"/>
              </a:rPr>
              <a:t> </a:t>
            </a:r>
            <a:r>
              <a:rPr sz="800" b="0" dirty="0" err="1">
                <a:solidFill>
                  <a:srgbClr val="495057"/>
                </a:solidFill>
                <a:latin typeface="Pretendard Light"/>
              </a:rPr>
              <a:t>선택하고</a:t>
            </a:r>
            <a:r>
              <a:rPr sz="800" b="0" dirty="0">
                <a:solidFill>
                  <a:srgbClr val="495057"/>
                </a:solidFill>
                <a:latin typeface="Pretendard Light"/>
              </a:rPr>
              <a:t>, </a:t>
            </a:r>
            <a:r>
              <a:rPr sz="800" b="0" dirty="0" err="1">
                <a:solidFill>
                  <a:srgbClr val="495057"/>
                </a:solidFill>
                <a:latin typeface="Pretendard Light"/>
              </a:rPr>
              <a:t>콤마로</a:t>
            </a:r>
            <a:r>
              <a:rPr sz="800" b="0" dirty="0">
                <a:solidFill>
                  <a:srgbClr val="495057"/>
                </a:solidFill>
                <a:latin typeface="Pretendard Light"/>
              </a:rPr>
              <a:t> </a:t>
            </a:r>
            <a:r>
              <a:rPr sz="800" b="0" dirty="0" err="1">
                <a:solidFill>
                  <a:srgbClr val="495057"/>
                </a:solidFill>
                <a:latin typeface="Pretendard Light"/>
              </a:rPr>
              <a:t>여러</a:t>
            </a:r>
            <a:r>
              <a:rPr sz="800" b="0" dirty="0">
                <a:solidFill>
                  <a:srgbClr val="495057"/>
                </a:solidFill>
                <a:latin typeface="Pretendard Light"/>
              </a:rPr>
              <a:t> </a:t>
            </a:r>
            <a:r>
              <a:rPr sz="800" b="0" dirty="0" err="1">
                <a:solidFill>
                  <a:srgbClr val="495057"/>
                </a:solidFill>
                <a:latin typeface="Pretendard Light"/>
              </a:rPr>
              <a:t>명을</a:t>
            </a:r>
            <a:r>
              <a:rPr sz="800" b="0" dirty="0">
                <a:solidFill>
                  <a:srgbClr val="495057"/>
                </a:solidFill>
                <a:latin typeface="Pretendard Light"/>
              </a:rPr>
              <a:t> </a:t>
            </a:r>
            <a:r>
              <a:rPr sz="800" b="0" dirty="0" err="1">
                <a:solidFill>
                  <a:srgbClr val="495057"/>
                </a:solidFill>
                <a:latin typeface="Pretendard Light"/>
              </a:rPr>
              <a:t>검색할</a:t>
            </a:r>
            <a:r>
              <a:rPr sz="800" b="0" dirty="0">
                <a:solidFill>
                  <a:srgbClr val="495057"/>
                </a:solidFill>
                <a:latin typeface="Pretendard Light"/>
              </a:rPr>
              <a:t> 수 </a:t>
            </a:r>
            <a:r>
              <a:rPr sz="800" b="0" dirty="0" err="1">
                <a:solidFill>
                  <a:srgbClr val="495057"/>
                </a:solidFill>
                <a:latin typeface="Pretendard Light"/>
              </a:rPr>
              <a:t>있습니다</a:t>
            </a:r>
            <a:r>
              <a:rPr sz="800" b="0" dirty="0">
                <a:solidFill>
                  <a:srgbClr val="495057"/>
                </a:solidFill>
                <a:latin typeface="Pretendard Light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82712" y="1773936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>
                <a:solidFill>
                  <a:srgbClr val="1E3A8A"/>
                </a:solidFill>
                <a:latin typeface="Pretendard SemiBold"/>
              </a:rPr>
              <a:t>6p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2615184"/>
            <a:ext cx="406908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11480" y="2615184"/>
            <a:ext cx="64008" cy="786384"/>
          </a:xfrm>
          <a:prstGeom prst="rect">
            <a:avLst/>
          </a:prstGeom>
          <a:solidFill>
            <a:srgbClr val="2F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12648" y="2788920"/>
            <a:ext cx="329184" cy="329184"/>
          </a:xfrm>
          <a:prstGeom prst="ellipse">
            <a:avLst/>
          </a:prstGeom>
          <a:solidFill>
            <a:srgbClr val="2F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0">
                <a:solidFill>
                  <a:srgbClr val="FFFFFF"/>
                </a:solidFill>
                <a:latin typeface="Pretendard SemiBol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" y="2724912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dirty="0" err="1">
                <a:solidFill>
                  <a:srgbClr val="212529"/>
                </a:solidFill>
                <a:latin typeface="Pretendard SemiBold"/>
              </a:rPr>
              <a:t>한의원</a:t>
            </a:r>
            <a:r>
              <a:rPr sz="1200" b="0" dirty="0">
                <a:solidFill>
                  <a:srgbClr val="212529"/>
                </a:solidFill>
                <a:latin typeface="Pretendard SemiBold"/>
              </a:rPr>
              <a:t> </a:t>
            </a:r>
            <a:r>
              <a:rPr sz="1200" b="0" dirty="0" err="1">
                <a:solidFill>
                  <a:srgbClr val="212529"/>
                </a:solidFill>
                <a:latin typeface="Pretendard SemiBold"/>
              </a:rPr>
              <a:t>필터명</a:t>
            </a:r>
            <a:r>
              <a:rPr sz="1200" b="0" dirty="0">
                <a:solidFill>
                  <a:srgbClr val="212529"/>
                </a:solidFill>
                <a:latin typeface="Pretendard SemiBold"/>
              </a:rPr>
              <a:t> </a:t>
            </a:r>
            <a:r>
              <a:rPr sz="1200" b="0" dirty="0" err="1">
                <a:solidFill>
                  <a:srgbClr val="212529"/>
                </a:solidFill>
                <a:latin typeface="Pretendard SemiBold"/>
              </a:rPr>
              <a:t>정리</a:t>
            </a:r>
            <a:endParaRPr sz="1200" b="0" dirty="0">
              <a:solidFill>
                <a:srgbClr val="212529"/>
              </a:solidFill>
              <a:latin typeface="Pretendard SemiBold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69848" y="2949274"/>
            <a:ext cx="2673669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dirty="0" err="1">
                <a:solidFill>
                  <a:srgbClr val="495057"/>
                </a:solidFill>
                <a:latin typeface="Pretendard Light"/>
              </a:rPr>
              <a:t>필한방병원</a:t>
            </a:r>
            <a:r>
              <a:rPr sz="800" b="0" dirty="0">
                <a:solidFill>
                  <a:srgbClr val="495057"/>
                </a:solidFill>
                <a:latin typeface="Pretendard Light"/>
              </a:rPr>
              <a:t> </a:t>
            </a:r>
            <a:r>
              <a:rPr sz="800" b="0" dirty="0" err="1">
                <a:solidFill>
                  <a:srgbClr val="495057"/>
                </a:solidFill>
                <a:latin typeface="Pretendard Light"/>
              </a:rPr>
              <a:t>명칭을</a:t>
            </a:r>
            <a:r>
              <a:rPr sz="800" b="0" dirty="0">
                <a:solidFill>
                  <a:srgbClr val="495057"/>
                </a:solidFill>
                <a:latin typeface="Pretendard Light"/>
              </a:rPr>
              <a:t> </a:t>
            </a:r>
            <a:r>
              <a:rPr sz="800" b="0" dirty="0" err="1">
                <a:solidFill>
                  <a:srgbClr val="495057"/>
                </a:solidFill>
                <a:latin typeface="Pretendard Light"/>
              </a:rPr>
              <a:t>사이트</a:t>
            </a:r>
            <a:r>
              <a:rPr sz="800" b="0" dirty="0">
                <a:solidFill>
                  <a:srgbClr val="495057"/>
                </a:solidFill>
                <a:latin typeface="Pretendard Light"/>
              </a:rPr>
              <a:t> </a:t>
            </a:r>
            <a:r>
              <a:rPr sz="800" b="0" dirty="0" err="1">
                <a:solidFill>
                  <a:srgbClr val="495057"/>
                </a:solidFill>
                <a:latin typeface="Pretendard Light"/>
              </a:rPr>
              <a:t>기준으로</a:t>
            </a:r>
            <a:r>
              <a:rPr sz="800" b="0" dirty="0">
                <a:solidFill>
                  <a:srgbClr val="495057"/>
                </a:solidFill>
                <a:latin typeface="Pretendard Light"/>
              </a:rPr>
              <a:t> </a:t>
            </a:r>
            <a:r>
              <a:rPr sz="800" b="0" dirty="0" err="1">
                <a:solidFill>
                  <a:srgbClr val="495057"/>
                </a:solidFill>
                <a:latin typeface="Pretendard Light"/>
              </a:rPr>
              <a:t>정리하고</a:t>
            </a:r>
            <a:r>
              <a:rPr sz="800" b="0" dirty="0">
                <a:solidFill>
                  <a:srgbClr val="495057"/>
                </a:solidFill>
                <a:latin typeface="Pretendard Light"/>
              </a:rPr>
              <a:t>, </a:t>
            </a:r>
            <a:r>
              <a:rPr sz="800" b="0" dirty="0" err="1">
                <a:solidFill>
                  <a:srgbClr val="495057"/>
                </a:solidFill>
                <a:latin typeface="Pretendard Light"/>
              </a:rPr>
              <a:t>고래한방</a:t>
            </a:r>
            <a:r>
              <a:rPr sz="800" b="0" dirty="0">
                <a:solidFill>
                  <a:srgbClr val="495057"/>
                </a:solidFill>
                <a:latin typeface="Pretendard Light"/>
              </a:rPr>
              <a:t> </a:t>
            </a:r>
            <a:r>
              <a:rPr sz="800" b="0" dirty="0" err="1">
                <a:solidFill>
                  <a:srgbClr val="495057"/>
                </a:solidFill>
                <a:latin typeface="Pretendard Light"/>
              </a:rPr>
              <a:t>지점</a:t>
            </a:r>
            <a:r>
              <a:rPr sz="800" b="0" dirty="0">
                <a:solidFill>
                  <a:srgbClr val="495057"/>
                </a:solidFill>
                <a:latin typeface="Pretendard Light"/>
              </a:rPr>
              <a:t> </a:t>
            </a:r>
            <a:r>
              <a:rPr sz="800" b="0" dirty="0" err="1">
                <a:solidFill>
                  <a:srgbClr val="495057"/>
                </a:solidFill>
                <a:latin typeface="Pretendard Light"/>
              </a:rPr>
              <a:t>구분은</a:t>
            </a:r>
            <a:r>
              <a:rPr sz="800" b="0" dirty="0">
                <a:solidFill>
                  <a:srgbClr val="495057"/>
                </a:solidFill>
                <a:latin typeface="Pretendard Light"/>
              </a:rPr>
              <a:t> </a:t>
            </a:r>
            <a:r>
              <a:rPr sz="800" b="0" dirty="0" err="1">
                <a:solidFill>
                  <a:srgbClr val="495057"/>
                </a:solidFill>
                <a:latin typeface="Pretendard Light"/>
              </a:rPr>
              <a:t>유지합니다</a:t>
            </a:r>
            <a:r>
              <a:rPr sz="800" b="0" dirty="0">
                <a:solidFill>
                  <a:srgbClr val="495057"/>
                </a:solidFill>
                <a:latin typeface="Pretendard Light"/>
              </a:rPr>
              <a:t>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11880" y="2761488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>
                <a:solidFill>
                  <a:srgbClr val="1E3A8A"/>
                </a:solidFill>
                <a:latin typeface="Pretendard SemiBold"/>
              </a:rPr>
              <a:t>6p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82312" y="2615184"/>
            <a:ext cx="406908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782312" y="2615184"/>
            <a:ext cx="64008" cy="786384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4983480" y="2788920"/>
            <a:ext cx="329184" cy="329184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0">
                <a:solidFill>
                  <a:srgbClr val="FFFFFF"/>
                </a:solidFill>
                <a:latin typeface="Pretendard SemiBold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2724912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212529"/>
                </a:solidFill>
                <a:latin typeface="Pretendard SemiBold"/>
              </a:rPr>
              <a:t>대한통운 업로드 양식 변경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40680" y="2962656"/>
            <a:ext cx="29718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495057"/>
                </a:solidFill>
                <a:latin typeface="Pretendard Light"/>
              </a:rPr>
              <a:t>A열 주문날짜 추가, 한의원 대표 전화번호 우선 반영, 고래 지점 번호 반영을 적용합니다.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82712" y="2761488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>
                <a:solidFill>
                  <a:srgbClr val="1E3A8A"/>
                </a:solidFill>
                <a:latin typeface="Pretendard SemiBold"/>
              </a:rPr>
              <a:t>8p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11480" y="3602736"/>
            <a:ext cx="406908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11480" y="3602736"/>
            <a:ext cx="64008" cy="786384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612648" y="3776472"/>
            <a:ext cx="329184" cy="329184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0">
                <a:solidFill>
                  <a:srgbClr val="FFFFFF"/>
                </a:solidFill>
                <a:latin typeface="Pretendard SemiBold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9848" y="3749040"/>
            <a:ext cx="256032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00" b="0" dirty="0" err="1">
                <a:latin typeface="Pretendard Medium"/>
              </a:rPr>
              <a:t>벌크</a:t>
            </a:r>
            <a:r>
              <a:rPr sz="1200" b="0" dirty="0">
                <a:latin typeface="Pretendard Medium"/>
              </a:rPr>
              <a:t> </a:t>
            </a:r>
            <a:r>
              <a:rPr sz="1200" b="0" dirty="0" err="1">
                <a:latin typeface="Pretendard Medium"/>
              </a:rPr>
              <a:t>주문내역</a:t>
            </a:r>
            <a:r>
              <a:rPr sz="1200" b="0" dirty="0">
                <a:latin typeface="Pretendard Medium"/>
              </a:rPr>
              <a:t> </a:t>
            </a:r>
            <a:r>
              <a:rPr sz="1200" b="0" dirty="0" err="1">
                <a:latin typeface="Pretendard Medium"/>
              </a:rPr>
              <a:t>발송처리</a:t>
            </a:r>
            <a:r>
              <a:rPr sz="1200" b="0" dirty="0">
                <a:latin typeface="Pretendard Medium"/>
              </a:rPr>
              <a:t> </a:t>
            </a:r>
            <a:r>
              <a:rPr sz="1200" b="0" dirty="0" err="1">
                <a:latin typeface="Pretendard Medium"/>
              </a:rPr>
              <a:t>기능</a:t>
            </a:r>
            <a:r>
              <a:rPr sz="1200" b="0" dirty="0">
                <a:latin typeface="Pretendard Medium"/>
              </a:rPr>
              <a:t> </a:t>
            </a:r>
            <a:r>
              <a:rPr sz="1200" b="0" dirty="0" err="1">
                <a:latin typeface="Pretendard Medium"/>
              </a:rPr>
              <a:t>추가</a:t>
            </a:r>
            <a:endParaRPr sz="1200" b="0" dirty="0">
              <a:latin typeface="Pretendard Medium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069848" y="3978641"/>
            <a:ext cx="2862072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>
              <a:defRPr sz="800" b="0">
                <a:solidFill>
                  <a:srgbClr val="495057"/>
                </a:solidFill>
                <a:latin typeface="Pretendard Light"/>
              </a:defRPr>
            </a:lvl1pPr>
          </a:lstStyle>
          <a:p>
            <a:r>
              <a:rPr dirty="0" err="1"/>
              <a:t>지점별</a:t>
            </a:r>
            <a:r>
              <a:rPr dirty="0"/>
              <a:t> </a:t>
            </a:r>
            <a:r>
              <a:rPr dirty="0" err="1"/>
              <a:t>벌크</a:t>
            </a:r>
            <a:r>
              <a:rPr dirty="0"/>
              <a:t> </a:t>
            </a:r>
            <a:r>
              <a:rPr dirty="0" err="1"/>
              <a:t>주문내역을</a:t>
            </a:r>
            <a:r>
              <a:rPr dirty="0"/>
              <a:t> </a:t>
            </a:r>
            <a:r>
              <a:rPr dirty="0" err="1"/>
              <a:t>스캔한</a:t>
            </a:r>
            <a:r>
              <a:rPr dirty="0"/>
              <a:t> 뒤, </a:t>
            </a:r>
            <a:r>
              <a:rPr dirty="0" err="1"/>
              <a:t>주문수량에</a:t>
            </a:r>
            <a:r>
              <a:rPr dirty="0"/>
              <a:t> </a:t>
            </a:r>
            <a:r>
              <a:rPr dirty="0" err="1"/>
              <a:t>맞춰</a:t>
            </a:r>
            <a:r>
              <a:rPr dirty="0"/>
              <a:t> </a:t>
            </a:r>
            <a:r>
              <a:rPr dirty="0" err="1"/>
              <a:t>운송장</a:t>
            </a:r>
            <a:r>
              <a:rPr dirty="0"/>
              <a:t> </a:t>
            </a:r>
            <a:r>
              <a:rPr dirty="0" err="1"/>
              <a:t>번호를</a:t>
            </a:r>
            <a:r>
              <a:rPr dirty="0"/>
              <a:t> </a:t>
            </a:r>
            <a:r>
              <a:rPr dirty="0" err="1"/>
              <a:t>일괄</a:t>
            </a:r>
            <a:r>
              <a:rPr dirty="0"/>
              <a:t> </a:t>
            </a:r>
            <a:r>
              <a:rPr dirty="0" err="1"/>
              <a:t>적용하고</a:t>
            </a:r>
            <a:r>
              <a:rPr dirty="0"/>
              <a:t> </a:t>
            </a:r>
            <a:r>
              <a:rPr dirty="0" err="1"/>
              <a:t>발송</a:t>
            </a:r>
            <a:r>
              <a:rPr dirty="0"/>
              <a:t> </a:t>
            </a:r>
            <a:r>
              <a:rPr dirty="0" err="1"/>
              <a:t>처리합니다</a:t>
            </a:r>
            <a:r>
              <a:rPr dirty="0"/>
              <a:t>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11880" y="3749040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>
                <a:solidFill>
                  <a:srgbClr val="1E3A8A"/>
                </a:solidFill>
                <a:latin typeface="Pretendard SemiBold"/>
              </a:rPr>
              <a:t>12p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782312" y="3602736"/>
            <a:ext cx="406908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4782312" y="3602736"/>
            <a:ext cx="64008" cy="786384"/>
          </a:xfrm>
          <a:prstGeom prst="rect">
            <a:avLst/>
          </a:prstGeom>
          <a:solidFill>
            <a:srgbClr val="2F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4983480" y="3776472"/>
            <a:ext cx="329184" cy="329184"/>
          </a:xfrm>
          <a:prstGeom prst="ellipse">
            <a:avLst/>
          </a:prstGeom>
          <a:solidFill>
            <a:srgbClr val="2F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0">
                <a:solidFill>
                  <a:srgbClr val="FFFFFF"/>
                </a:solidFill>
                <a:latin typeface="Pretendard SemiBold"/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3712464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212529"/>
                </a:solidFill>
                <a:latin typeface="Pretendard SemiBold"/>
              </a:rPr>
              <a:t>자동 인쇄 기능 보완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40680" y="3936826"/>
            <a:ext cx="256032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dirty="0" err="1">
                <a:solidFill>
                  <a:srgbClr val="495057"/>
                </a:solidFill>
                <a:latin typeface="Pretendard Light"/>
              </a:rPr>
              <a:t>프린터</a:t>
            </a:r>
            <a:r>
              <a:rPr sz="800" b="0" dirty="0">
                <a:solidFill>
                  <a:srgbClr val="495057"/>
                </a:solidFill>
                <a:latin typeface="Pretendard Light"/>
              </a:rPr>
              <a:t> </a:t>
            </a:r>
            <a:r>
              <a:rPr sz="800" b="0" dirty="0" err="1">
                <a:solidFill>
                  <a:srgbClr val="495057"/>
                </a:solidFill>
                <a:latin typeface="Pretendard Light"/>
              </a:rPr>
              <a:t>선택</a:t>
            </a:r>
            <a:r>
              <a:rPr sz="800" b="0" dirty="0">
                <a:solidFill>
                  <a:srgbClr val="495057"/>
                </a:solidFill>
                <a:latin typeface="Pretendard Light"/>
              </a:rPr>
              <a:t> </a:t>
            </a:r>
            <a:r>
              <a:rPr sz="800" b="0" dirty="0" err="1">
                <a:solidFill>
                  <a:srgbClr val="495057"/>
                </a:solidFill>
                <a:latin typeface="Pretendard Light"/>
              </a:rPr>
              <a:t>기능과</a:t>
            </a:r>
            <a:r>
              <a:rPr sz="800" b="0" dirty="0">
                <a:solidFill>
                  <a:srgbClr val="495057"/>
                </a:solidFill>
                <a:latin typeface="Pretendard Light"/>
              </a:rPr>
              <a:t> </a:t>
            </a:r>
            <a:r>
              <a:rPr sz="800" b="0" dirty="0" err="1">
                <a:solidFill>
                  <a:srgbClr val="495057"/>
                </a:solidFill>
                <a:latin typeface="Pretendard Light"/>
              </a:rPr>
              <a:t>출력</a:t>
            </a:r>
            <a:r>
              <a:rPr sz="800" b="0" dirty="0">
                <a:solidFill>
                  <a:srgbClr val="495057"/>
                </a:solidFill>
                <a:latin typeface="Pretendard Light"/>
              </a:rPr>
              <a:t> </a:t>
            </a:r>
            <a:r>
              <a:rPr sz="800" b="0" dirty="0" err="1">
                <a:solidFill>
                  <a:srgbClr val="495057"/>
                </a:solidFill>
                <a:latin typeface="Pretendard Light"/>
              </a:rPr>
              <a:t>누락</a:t>
            </a:r>
            <a:r>
              <a:rPr sz="800" b="0" dirty="0">
                <a:solidFill>
                  <a:srgbClr val="495057"/>
                </a:solidFill>
                <a:latin typeface="Pretendard Light"/>
              </a:rPr>
              <a:t> </a:t>
            </a:r>
            <a:r>
              <a:rPr sz="800" b="0" dirty="0" err="1">
                <a:solidFill>
                  <a:srgbClr val="495057"/>
                </a:solidFill>
                <a:latin typeface="Pretendard Light"/>
              </a:rPr>
              <a:t>확인용</a:t>
            </a:r>
            <a:r>
              <a:rPr sz="800" b="0" dirty="0">
                <a:solidFill>
                  <a:srgbClr val="495057"/>
                </a:solidFill>
                <a:latin typeface="Pretendard Light"/>
              </a:rPr>
              <a:t> </a:t>
            </a:r>
            <a:r>
              <a:rPr sz="800" b="0" dirty="0" err="1">
                <a:solidFill>
                  <a:srgbClr val="495057"/>
                </a:solidFill>
                <a:latin typeface="Pretendard Light"/>
              </a:rPr>
              <a:t>인쇄요청</a:t>
            </a:r>
            <a:r>
              <a:rPr sz="800" b="0" dirty="0">
                <a:solidFill>
                  <a:srgbClr val="495057"/>
                </a:solidFill>
                <a:latin typeface="Pretendard Light"/>
              </a:rPr>
              <a:t>/</a:t>
            </a:r>
            <a:r>
              <a:rPr sz="800" b="0" dirty="0" err="1">
                <a:solidFill>
                  <a:srgbClr val="495057"/>
                </a:solidFill>
                <a:latin typeface="Pretendard Light"/>
              </a:rPr>
              <a:t>결과</a:t>
            </a:r>
            <a:r>
              <a:rPr sz="800" b="0" dirty="0">
                <a:solidFill>
                  <a:srgbClr val="495057"/>
                </a:solidFill>
                <a:latin typeface="Pretendard Light"/>
              </a:rPr>
              <a:t> </a:t>
            </a:r>
            <a:r>
              <a:rPr sz="800" b="0" dirty="0" err="1">
                <a:solidFill>
                  <a:srgbClr val="495057"/>
                </a:solidFill>
                <a:latin typeface="Pretendard Light"/>
              </a:rPr>
              <a:t>목록</a:t>
            </a:r>
            <a:r>
              <a:rPr sz="800" b="0" dirty="0">
                <a:solidFill>
                  <a:srgbClr val="495057"/>
                </a:solidFill>
                <a:latin typeface="Pretendard Light"/>
              </a:rPr>
              <a:t> </a:t>
            </a:r>
            <a:r>
              <a:rPr sz="800" b="0" dirty="0" err="1">
                <a:solidFill>
                  <a:srgbClr val="495057"/>
                </a:solidFill>
                <a:latin typeface="Pretendard Light"/>
              </a:rPr>
              <a:t>저장을</a:t>
            </a:r>
            <a:r>
              <a:rPr sz="800" b="0" dirty="0">
                <a:solidFill>
                  <a:srgbClr val="495057"/>
                </a:solidFill>
                <a:latin typeface="Pretendard Light"/>
              </a:rPr>
              <a:t> </a:t>
            </a:r>
            <a:r>
              <a:rPr sz="800" b="0" dirty="0" err="1">
                <a:solidFill>
                  <a:srgbClr val="495057"/>
                </a:solidFill>
                <a:latin typeface="Pretendard Light"/>
              </a:rPr>
              <a:t>추가했습니다</a:t>
            </a:r>
            <a:r>
              <a:rPr sz="800" b="0" dirty="0">
                <a:solidFill>
                  <a:srgbClr val="495057"/>
                </a:solidFill>
                <a:latin typeface="Pretendard Light"/>
              </a:rPr>
              <a:t>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82712" y="3749040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>
                <a:solidFill>
                  <a:srgbClr val="1E3A8A"/>
                </a:solidFill>
                <a:latin typeface="Pretendard SemiBold"/>
              </a:rPr>
              <a:t>10p·16p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11480" y="4498848"/>
            <a:ext cx="8183879" cy="247964"/>
          </a:xfrm>
          <a:prstGeom prst="roundRect">
            <a:avLst/>
          </a:prstGeom>
          <a:solidFill>
            <a:srgbClr val="FFF3BF"/>
          </a:solidFill>
          <a:ln w="7620">
            <a:solidFill>
              <a:srgbClr val="FFE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48640" y="4562856"/>
            <a:ext cx="7909560" cy="1097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dirty="0" err="1">
                <a:solidFill>
                  <a:srgbClr val="5F4B00"/>
                </a:solidFill>
                <a:latin typeface="Pretendard Light"/>
              </a:rPr>
              <a:t>본문에는</a:t>
            </a:r>
            <a:r>
              <a:rPr sz="900" b="0" dirty="0">
                <a:solidFill>
                  <a:srgbClr val="5F4B00"/>
                </a:solidFill>
                <a:latin typeface="Pretendard Light"/>
              </a:rPr>
              <a:t> NEW </a:t>
            </a:r>
            <a:r>
              <a:rPr sz="900" b="0" dirty="0" err="1">
                <a:solidFill>
                  <a:srgbClr val="5F4B00"/>
                </a:solidFill>
                <a:latin typeface="Pretendard Light"/>
              </a:rPr>
              <a:t>표기를</a:t>
            </a:r>
            <a:r>
              <a:rPr sz="900" b="0" dirty="0">
                <a:solidFill>
                  <a:srgbClr val="5F4B00"/>
                </a:solidFill>
                <a:latin typeface="Pretendard Light"/>
              </a:rPr>
              <a:t> </a:t>
            </a:r>
            <a:r>
              <a:rPr sz="900" b="0" dirty="0" err="1">
                <a:solidFill>
                  <a:srgbClr val="5F4B00"/>
                </a:solidFill>
                <a:latin typeface="Pretendard Light"/>
              </a:rPr>
              <a:t>남기지</a:t>
            </a:r>
            <a:r>
              <a:rPr sz="900" b="0" dirty="0">
                <a:solidFill>
                  <a:srgbClr val="5F4B00"/>
                </a:solidFill>
                <a:latin typeface="Pretendard Light"/>
              </a:rPr>
              <a:t> </a:t>
            </a:r>
            <a:r>
              <a:rPr sz="900" b="0" dirty="0" err="1">
                <a:solidFill>
                  <a:srgbClr val="5F4B00"/>
                </a:solidFill>
                <a:latin typeface="Pretendard Light"/>
              </a:rPr>
              <a:t>않고</a:t>
            </a:r>
            <a:r>
              <a:rPr sz="900" b="0" dirty="0">
                <a:solidFill>
                  <a:srgbClr val="5F4B00"/>
                </a:solidFill>
                <a:latin typeface="Pretendard Light"/>
              </a:rPr>
              <a:t>, </a:t>
            </a:r>
            <a:r>
              <a:rPr sz="900" b="0" dirty="0" err="1">
                <a:solidFill>
                  <a:srgbClr val="5F4B00"/>
                </a:solidFill>
                <a:latin typeface="Pretendard Light"/>
              </a:rPr>
              <a:t>최신</a:t>
            </a:r>
            <a:r>
              <a:rPr sz="900" b="0" dirty="0">
                <a:solidFill>
                  <a:srgbClr val="5F4B00"/>
                </a:solidFill>
                <a:latin typeface="Pretendard Light"/>
              </a:rPr>
              <a:t> </a:t>
            </a:r>
            <a:r>
              <a:rPr sz="900" b="0" dirty="0" err="1">
                <a:solidFill>
                  <a:srgbClr val="5F4B00"/>
                </a:solidFill>
                <a:latin typeface="Pretendard Light"/>
              </a:rPr>
              <a:t>사용법</a:t>
            </a:r>
            <a:r>
              <a:rPr sz="900" b="0" dirty="0">
                <a:solidFill>
                  <a:srgbClr val="5F4B00"/>
                </a:solidFill>
                <a:latin typeface="Pretendard Light"/>
              </a:rPr>
              <a:t> </a:t>
            </a:r>
            <a:r>
              <a:rPr sz="900" b="0" dirty="0" err="1">
                <a:solidFill>
                  <a:srgbClr val="5F4B00"/>
                </a:solidFill>
                <a:latin typeface="Pretendard Light"/>
              </a:rPr>
              <a:t>기준으로</a:t>
            </a:r>
            <a:r>
              <a:rPr sz="900" b="0" dirty="0">
                <a:solidFill>
                  <a:srgbClr val="5F4B00"/>
                </a:solidFill>
                <a:latin typeface="Pretendard Light"/>
              </a:rPr>
              <a:t> </a:t>
            </a:r>
            <a:r>
              <a:rPr sz="900" b="0" dirty="0" err="1">
                <a:solidFill>
                  <a:srgbClr val="5F4B00"/>
                </a:solidFill>
                <a:latin typeface="Pretendard Light"/>
              </a:rPr>
              <a:t>자연스럽게</a:t>
            </a:r>
            <a:r>
              <a:rPr sz="900" b="0" dirty="0">
                <a:solidFill>
                  <a:srgbClr val="5F4B00"/>
                </a:solidFill>
                <a:latin typeface="Pretendard Light"/>
              </a:rPr>
              <a:t> </a:t>
            </a:r>
            <a:r>
              <a:rPr sz="900" b="0" dirty="0" err="1">
                <a:solidFill>
                  <a:srgbClr val="5F4B00"/>
                </a:solidFill>
                <a:latin typeface="Pretendard Light"/>
              </a:rPr>
              <a:t>정리했습니다</a:t>
            </a:r>
            <a:r>
              <a:rPr sz="900" b="0" dirty="0">
                <a:solidFill>
                  <a:srgbClr val="5F4B00"/>
                </a:solidFill>
                <a:latin typeface="Pretendard Light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493216"/>
            <a:ext cx="841248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0" dirty="0" err="1">
                <a:solidFill>
                  <a:srgbClr val="343A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실행</a:t>
            </a:r>
            <a:r>
              <a:rPr sz="2800" b="0" dirty="0">
                <a:solidFill>
                  <a:srgbClr val="343A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전 </a:t>
            </a:r>
            <a:r>
              <a:rPr sz="2800" b="0" dirty="0" err="1">
                <a:solidFill>
                  <a:srgbClr val="343A4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확인사항</a:t>
            </a:r>
            <a:endParaRPr sz="2800" b="0" dirty="0">
              <a:solidFill>
                <a:srgbClr val="343A40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20040" y="1005840"/>
            <a:ext cx="8503920" cy="127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4800600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868E96"/>
                </a:solidFill>
                <a:latin typeface="Pretendard Light"/>
              </a:rPr>
              <a:t>K-gin bio Pharm Ltd. · 탕전주문 관리 시스템 · v1.4 / 프로그램 12.50 기준</a:t>
            </a:r>
          </a:p>
        </p:txBody>
      </p:sp>
      <p:sp>
        <p:nvSpPr>
          <p:cNvPr id="6" name="Oval 5"/>
          <p:cNvSpPr/>
          <p:nvPr/>
        </p:nvSpPr>
        <p:spPr>
          <a:xfrm>
            <a:off x="320040" y="1170432"/>
            <a:ext cx="365760" cy="365760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0">
                <a:solidFill>
                  <a:srgbClr val="FFFFFF"/>
                </a:solidFill>
                <a:latin typeface="Pretendard SemiBol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129618"/>
            <a:ext cx="786384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 dirty="0">
                <a:solidFill>
                  <a:srgbClr val="212529"/>
                </a:solidFill>
                <a:latin typeface="Pretendard SemiBold"/>
              </a:rPr>
              <a:t>Chrome </a:t>
            </a:r>
            <a:r>
              <a:rPr sz="1600" b="0" dirty="0" err="1">
                <a:solidFill>
                  <a:srgbClr val="212529"/>
                </a:solidFill>
                <a:latin typeface="Pretendard SemiBold"/>
              </a:rPr>
              <a:t>브라우저가</a:t>
            </a:r>
            <a:r>
              <a:rPr sz="1600" b="0" dirty="0">
                <a:solidFill>
                  <a:srgbClr val="212529"/>
                </a:solidFill>
                <a:latin typeface="Pretendard SemiBold"/>
              </a:rPr>
              <a:t> </a:t>
            </a:r>
            <a:r>
              <a:rPr sz="1600" b="0" dirty="0" err="1">
                <a:solidFill>
                  <a:srgbClr val="212529"/>
                </a:solidFill>
                <a:latin typeface="Pretendard SemiBold"/>
              </a:rPr>
              <a:t>설치되어</a:t>
            </a:r>
            <a:r>
              <a:rPr sz="1600" b="0" dirty="0">
                <a:solidFill>
                  <a:srgbClr val="212529"/>
                </a:solidFill>
                <a:latin typeface="Pretendard SemiBold"/>
              </a:rPr>
              <a:t> </a:t>
            </a:r>
            <a:r>
              <a:rPr sz="1600" b="0" dirty="0" err="1">
                <a:solidFill>
                  <a:srgbClr val="212529"/>
                </a:solidFill>
                <a:latin typeface="Pretendard SemiBold"/>
              </a:rPr>
              <a:t>있어야</a:t>
            </a:r>
            <a:r>
              <a:rPr sz="1600" b="0" dirty="0">
                <a:solidFill>
                  <a:srgbClr val="212529"/>
                </a:solidFill>
                <a:latin typeface="Pretendard SemiBold"/>
              </a:rPr>
              <a:t> </a:t>
            </a:r>
            <a:r>
              <a:rPr sz="1600" b="0" dirty="0" err="1">
                <a:solidFill>
                  <a:srgbClr val="212529"/>
                </a:solidFill>
                <a:latin typeface="Pretendard SemiBold"/>
              </a:rPr>
              <a:t>합니다</a:t>
            </a:r>
            <a:endParaRPr sz="1600" b="0" dirty="0">
              <a:solidFill>
                <a:srgbClr val="212529"/>
              </a:solidFill>
              <a:latin typeface="Pretendard SemiBold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1420999"/>
            <a:ext cx="786384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dirty="0" err="1">
                <a:solidFill>
                  <a:srgbClr val="495057"/>
                </a:solidFill>
                <a:latin typeface="Pretendard Medium"/>
              </a:rPr>
              <a:t>프로그램</a:t>
            </a:r>
            <a:r>
              <a:rPr sz="1200" b="0" dirty="0">
                <a:solidFill>
                  <a:srgbClr val="495057"/>
                </a:solidFill>
                <a:latin typeface="Pretendard Medium"/>
              </a:rPr>
              <a:t> </a:t>
            </a:r>
            <a:r>
              <a:rPr sz="1200" b="0" dirty="0" err="1">
                <a:solidFill>
                  <a:srgbClr val="495057"/>
                </a:solidFill>
                <a:latin typeface="Pretendard Medium"/>
              </a:rPr>
              <a:t>실행</a:t>
            </a:r>
            <a:r>
              <a:rPr sz="1200" b="0" dirty="0">
                <a:solidFill>
                  <a:srgbClr val="495057"/>
                </a:solidFill>
                <a:latin typeface="Pretendard Medium"/>
              </a:rPr>
              <a:t> 시 Chrome이 </a:t>
            </a:r>
            <a:r>
              <a:rPr sz="1200" b="0" dirty="0" err="1">
                <a:solidFill>
                  <a:srgbClr val="495057"/>
                </a:solidFill>
                <a:latin typeface="Pretendard Medium"/>
              </a:rPr>
              <a:t>자동으로</a:t>
            </a:r>
            <a:r>
              <a:rPr sz="1200" b="0" dirty="0">
                <a:solidFill>
                  <a:srgbClr val="495057"/>
                </a:solidFill>
                <a:latin typeface="Pretendard Medium"/>
              </a:rPr>
              <a:t> </a:t>
            </a:r>
            <a:r>
              <a:rPr sz="1200" b="0" dirty="0" err="1">
                <a:solidFill>
                  <a:srgbClr val="495057"/>
                </a:solidFill>
                <a:latin typeface="Pretendard Medium"/>
              </a:rPr>
              <a:t>열립니다</a:t>
            </a:r>
            <a:r>
              <a:rPr sz="1200" b="0" dirty="0">
                <a:solidFill>
                  <a:srgbClr val="495057"/>
                </a:solidFill>
                <a:latin typeface="Pretendard Medium"/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700784"/>
            <a:ext cx="8503920" cy="127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20040" y="1856232"/>
            <a:ext cx="365760" cy="365760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0">
                <a:solidFill>
                  <a:srgbClr val="FFFFFF"/>
                </a:solidFill>
                <a:latin typeface="Pretendard SemiBol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815418"/>
            <a:ext cx="786384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212529"/>
                </a:solidFill>
                <a:latin typeface="Pretendard SemiBold"/>
              </a:rPr>
              <a:t>인터넷 연결 상태를 확인합니다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106799"/>
            <a:ext cx="786384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495057"/>
                </a:solidFill>
                <a:latin typeface="Pretendard Medium"/>
              </a:rPr>
              <a:t>사이트 접속과 파일 다운로드가 모두 네트워크에 영향을 받습니다.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386584"/>
            <a:ext cx="8503920" cy="127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20040" y="2542032"/>
            <a:ext cx="365760" cy="365760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0">
                <a:solidFill>
                  <a:srgbClr val="FFFFFF"/>
                </a:solidFill>
                <a:latin typeface="Pretendard SemiBold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2501218"/>
            <a:ext cx="786384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212529"/>
                </a:solidFill>
                <a:latin typeface="Pretendard SemiBold"/>
              </a:rPr>
              <a:t>Chrome 창을 임의로 닫지 않습니다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2792599"/>
            <a:ext cx="786384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495057"/>
                </a:solidFill>
                <a:latin typeface="Pretendard Medium"/>
              </a:rPr>
              <a:t>작업 완료 알림이 뜰 때까지 자동화 창을 유지해주세요.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072384"/>
            <a:ext cx="8503920" cy="127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320040" y="3227832"/>
            <a:ext cx="365760" cy="365760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0">
                <a:solidFill>
                  <a:srgbClr val="FFFFFF"/>
                </a:solidFill>
                <a:latin typeface="Pretendard SemiBol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187018"/>
            <a:ext cx="786384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212529"/>
                </a:solidFill>
                <a:latin typeface="Pretendard SemiBold"/>
              </a:rPr>
              <a:t>한 탭 실행 중에는 다른 탭을 실행하지 않습니다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478399"/>
            <a:ext cx="786384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495057"/>
                </a:solidFill>
                <a:latin typeface="Pretendard Medium"/>
              </a:rPr>
              <a:t>실행 중 버튼이 잠기면 현재 작업이 끝난 뒤 다시 시도합니다.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758184"/>
            <a:ext cx="8503920" cy="127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20040" y="4041648"/>
            <a:ext cx="8503920" cy="502920"/>
          </a:xfrm>
          <a:prstGeom prst="roundRect">
            <a:avLst/>
          </a:prstGeom>
          <a:solidFill>
            <a:srgbClr val="FFF3BF"/>
          </a:solidFill>
          <a:ln w="9525">
            <a:solidFill>
              <a:srgbClr val="CF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4123944"/>
            <a:ext cx="8229600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dirty="0" err="1">
                <a:solidFill>
                  <a:srgbClr val="5F4B00"/>
                </a:solidFill>
                <a:latin typeface="Pretendard Medium"/>
              </a:rPr>
              <a:t>주의</a:t>
            </a:r>
            <a:r>
              <a:rPr sz="1300" b="0" dirty="0">
                <a:solidFill>
                  <a:srgbClr val="5F4B00"/>
                </a:solidFill>
                <a:latin typeface="Pretendard Medium"/>
              </a:rPr>
              <a:t>: Chrome </a:t>
            </a:r>
            <a:r>
              <a:rPr sz="1300" b="0" dirty="0" err="1">
                <a:solidFill>
                  <a:srgbClr val="5F4B00"/>
                </a:solidFill>
                <a:latin typeface="Pretendard Medium"/>
              </a:rPr>
              <a:t>창을</a:t>
            </a:r>
            <a:r>
              <a:rPr sz="1300" b="0" dirty="0">
                <a:solidFill>
                  <a:srgbClr val="5F4B00"/>
                </a:solidFill>
                <a:latin typeface="Pretendard Medium"/>
              </a:rPr>
              <a:t> </a:t>
            </a:r>
            <a:r>
              <a:rPr sz="1300" b="0" dirty="0" err="1">
                <a:solidFill>
                  <a:srgbClr val="5F4B00"/>
                </a:solidFill>
                <a:latin typeface="Pretendard Medium"/>
              </a:rPr>
              <a:t>직접</a:t>
            </a:r>
            <a:r>
              <a:rPr sz="1300" b="0" dirty="0">
                <a:solidFill>
                  <a:srgbClr val="5F4B00"/>
                </a:solidFill>
                <a:latin typeface="Pretendard Medium"/>
              </a:rPr>
              <a:t> </a:t>
            </a:r>
            <a:r>
              <a:rPr sz="1300" b="0" dirty="0" err="1">
                <a:solidFill>
                  <a:srgbClr val="5F4B00"/>
                </a:solidFill>
                <a:latin typeface="Pretendard Medium"/>
              </a:rPr>
              <a:t>닫으면</a:t>
            </a:r>
            <a:r>
              <a:rPr sz="1300" b="0" dirty="0">
                <a:solidFill>
                  <a:srgbClr val="5F4B00"/>
                </a:solidFill>
                <a:latin typeface="Pretendard Medium"/>
              </a:rPr>
              <a:t> </a:t>
            </a:r>
            <a:r>
              <a:rPr sz="1300" b="0" dirty="0" err="1">
                <a:solidFill>
                  <a:srgbClr val="5F4B00"/>
                </a:solidFill>
                <a:latin typeface="Pretendard Medium"/>
              </a:rPr>
              <a:t>오류가</a:t>
            </a:r>
            <a:r>
              <a:rPr sz="1300" b="0" dirty="0">
                <a:solidFill>
                  <a:srgbClr val="5F4B00"/>
                </a:solidFill>
                <a:latin typeface="Pretendard Medium"/>
              </a:rPr>
              <a:t> </a:t>
            </a:r>
            <a:r>
              <a:rPr sz="1300" b="0" dirty="0" err="1">
                <a:solidFill>
                  <a:srgbClr val="5F4B00"/>
                </a:solidFill>
                <a:latin typeface="Pretendard Medium"/>
              </a:rPr>
              <a:t>발생할</a:t>
            </a:r>
            <a:r>
              <a:rPr sz="1300" b="0" dirty="0">
                <a:solidFill>
                  <a:srgbClr val="5F4B00"/>
                </a:solidFill>
                <a:latin typeface="Pretendard Medium"/>
              </a:rPr>
              <a:t> 수 </a:t>
            </a:r>
            <a:r>
              <a:rPr sz="1300" b="0" dirty="0" err="1">
                <a:solidFill>
                  <a:srgbClr val="5F4B00"/>
                </a:solidFill>
                <a:latin typeface="Pretendard Medium"/>
              </a:rPr>
              <a:t>있습니다</a:t>
            </a:r>
            <a:r>
              <a:rPr sz="1300" b="0" dirty="0">
                <a:solidFill>
                  <a:srgbClr val="5F4B00"/>
                </a:solidFill>
                <a:latin typeface="Pretendard Medium"/>
              </a:rPr>
              <a:t>. </a:t>
            </a:r>
            <a:r>
              <a:rPr sz="1300" b="0" dirty="0" err="1">
                <a:solidFill>
                  <a:srgbClr val="5F4B00"/>
                </a:solidFill>
                <a:latin typeface="Pretendard Medium"/>
              </a:rPr>
              <a:t>작업이</a:t>
            </a:r>
            <a:r>
              <a:rPr sz="1300" b="0" dirty="0">
                <a:solidFill>
                  <a:srgbClr val="5F4B00"/>
                </a:solidFill>
                <a:latin typeface="Pretendard Medium"/>
              </a:rPr>
              <a:t> </a:t>
            </a:r>
            <a:r>
              <a:rPr sz="1300" b="0" dirty="0" err="1">
                <a:solidFill>
                  <a:srgbClr val="5F4B00"/>
                </a:solidFill>
                <a:latin typeface="Pretendard Medium"/>
              </a:rPr>
              <a:t>완료될</a:t>
            </a:r>
            <a:r>
              <a:rPr sz="1300" b="0" dirty="0">
                <a:solidFill>
                  <a:srgbClr val="5F4B00"/>
                </a:solidFill>
                <a:latin typeface="Pretendard Medium"/>
              </a:rPr>
              <a:t> </a:t>
            </a:r>
            <a:r>
              <a:rPr sz="1300" b="0" dirty="0" err="1">
                <a:solidFill>
                  <a:srgbClr val="5F4B00"/>
                </a:solidFill>
                <a:latin typeface="Pretendard Medium"/>
              </a:rPr>
              <a:t>때까지</a:t>
            </a:r>
            <a:r>
              <a:rPr sz="1300" b="0" dirty="0">
                <a:solidFill>
                  <a:srgbClr val="5F4B00"/>
                </a:solidFill>
                <a:latin typeface="Pretendard Medium"/>
              </a:rPr>
              <a:t> </a:t>
            </a:r>
            <a:r>
              <a:rPr sz="1300" b="0" dirty="0" err="1">
                <a:solidFill>
                  <a:srgbClr val="5F4B00"/>
                </a:solidFill>
                <a:latin typeface="Pretendard Medium"/>
              </a:rPr>
              <a:t>기다려주세요</a:t>
            </a:r>
            <a:r>
              <a:rPr sz="1300" b="0" dirty="0">
                <a:solidFill>
                  <a:srgbClr val="5F4B00"/>
                </a:solidFill>
                <a:latin typeface="Pretendard Medium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109728"/>
            <a:ext cx="685800" cy="256032"/>
          </a:xfrm>
          <a:prstGeom prst="round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32588"/>
            <a:ext cx="68580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Pretendard SemiBold"/>
              </a:rPr>
              <a:t>Tab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5720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0">
                <a:solidFill>
                  <a:srgbClr val="343A40"/>
                </a:solidFill>
                <a:latin typeface="Pretendard SemiBold"/>
              </a:rPr>
              <a:t>주문 수집 &amp; 자동 처리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8503920" cy="127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4800600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868E96"/>
                </a:solidFill>
                <a:latin typeface="Pretendard Light"/>
              </a:rPr>
              <a:t>K-gin bio Pharm Ltd. · 탕전주문 관리 시스템 · v1.4 / 프로그램 12.50 기준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143000"/>
            <a:ext cx="5212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495057"/>
                </a:solidFill>
                <a:latin typeface="Pretendard Medium"/>
              </a:rPr>
              <a:t>지정한 날짜/상태의 주문을 사이트에서 자동 수집하고, 엑셀·CJ업로드 양식·라벨·PDF·출력 요청까지 한 번에 처리합니다.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E0D8EFB8-5380-7BB8-73C2-6EB8B9D23F03}"/>
              </a:ext>
            </a:extLst>
          </p:cNvPr>
          <p:cNvGrpSpPr/>
          <p:nvPr/>
        </p:nvGrpSpPr>
        <p:grpSpPr>
          <a:xfrm>
            <a:off x="320040" y="2169607"/>
            <a:ext cx="4663440" cy="914400"/>
            <a:chOff x="320040" y="2169607"/>
            <a:chExt cx="4663440" cy="914400"/>
          </a:xfrm>
        </p:grpSpPr>
        <p:sp>
          <p:nvSpPr>
            <p:cNvPr id="20" name="Rectangle 19"/>
            <p:cNvSpPr/>
            <p:nvPr/>
          </p:nvSpPr>
          <p:spPr>
            <a:xfrm flipV="1">
              <a:off x="820808" y="2394141"/>
              <a:ext cx="3522592" cy="47753"/>
            </a:xfrm>
            <a:prstGeom prst="rect">
              <a:avLst/>
            </a:prstGeom>
            <a:solidFill>
              <a:srgbClr val="DEE2E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Oval 8"/>
            <p:cNvSpPr/>
            <p:nvPr/>
          </p:nvSpPr>
          <p:spPr>
            <a:xfrm>
              <a:off x="548640" y="2169607"/>
              <a:ext cx="502920" cy="502920"/>
            </a:xfrm>
            <a:prstGeom prst="ellipse">
              <a:avLst/>
            </a:prstGeom>
            <a:solidFill>
              <a:srgbClr val="3B5BD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1200" b="0">
                  <a:solidFill>
                    <a:srgbClr val="FFFFFF"/>
                  </a:solidFill>
                  <a:latin typeface="Pretendard SemiBold"/>
                </a:rPr>
                <a:t>1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20040" y="2827975"/>
              <a:ext cx="960120" cy="2560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100" b="0">
                  <a:solidFill>
                    <a:srgbClr val="212529"/>
                  </a:solidFill>
                  <a:latin typeface="Pretendard SemiBold"/>
                </a:rPr>
                <a:t>조건 설정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1783080" y="2169607"/>
              <a:ext cx="502920" cy="502920"/>
            </a:xfrm>
            <a:prstGeom prst="ellipse">
              <a:avLst/>
            </a:prstGeom>
            <a:solidFill>
              <a:srgbClr val="3B5BD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1200" b="0">
                  <a:solidFill>
                    <a:srgbClr val="FFFFFF"/>
                  </a:solidFill>
                  <a:latin typeface="Pretendard SemiBold"/>
                </a:rPr>
                <a:t>2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554480" y="2827975"/>
              <a:ext cx="960120" cy="2560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100" b="0">
                  <a:solidFill>
                    <a:srgbClr val="212529"/>
                  </a:solidFill>
                  <a:latin typeface="Pretendard SemiBold"/>
                </a:rPr>
                <a:t>주문 수집</a:t>
              </a:r>
            </a:p>
          </p:txBody>
        </p:sp>
        <p:sp>
          <p:nvSpPr>
            <p:cNvPr id="17" name="Oval 16"/>
            <p:cNvSpPr/>
            <p:nvPr/>
          </p:nvSpPr>
          <p:spPr>
            <a:xfrm>
              <a:off x="3017520" y="2169607"/>
              <a:ext cx="502920" cy="502920"/>
            </a:xfrm>
            <a:prstGeom prst="ellipse">
              <a:avLst/>
            </a:prstGeom>
            <a:solidFill>
              <a:srgbClr val="3B5BD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1200" b="0">
                  <a:solidFill>
                    <a:srgbClr val="FFFFFF"/>
                  </a:solidFill>
                  <a:latin typeface="Pretendard SemiBold"/>
                </a:rPr>
                <a:t>3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788920" y="2827975"/>
              <a:ext cx="960120" cy="2560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100" b="0">
                  <a:solidFill>
                    <a:srgbClr val="212529"/>
                  </a:solidFill>
                  <a:latin typeface="Pretendard SemiBold"/>
                </a:rPr>
                <a:t>파일 생성</a:t>
              </a:r>
            </a:p>
          </p:txBody>
        </p:sp>
        <p:sp>
          <p:nvSpPr>
            <p:cNvPr id="21" name="Oval 20"/>
            <p:cNvSpPr/>
            <p:nvPr/>
          </p:nvSpPr>
          <p:spPr>
            <a:xfrm>
              <a:off x="4251960" y="2169607"/>
              <a:ext cx="502920" cy="502920"/>
            </a:xfrm>
            <a:prstGeom prst="ellipse">
              <a:avLst/>
            </a:prstGeom>
            <a:solidFill>
              <a:srgbClr val="3B5BD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1200" b="0">
                  <a:solidFill>
                    <a:srgbClr val="FFFFFF"/>
                  </a:solidFill>
                  <a:latin typeface="Pretendard SemiBold"/>
                </a:rPr>
                <a:t>4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023360" y="2827975"/>
              <a:ext cx="960120" cy="2560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100" b="0">
                  <a:solidFill>
                    <a:srgbClr val="212529"/>
                  </a:solidFill>
                  <a:latin typeface="Pretendard SemiBold"/>
                </a:rPr>
                <a:t>저장/출력</a:t>
              </a:r>
            </a:p>
          </p:txBody>
        </p:sp>
      </p:grpSp>
      <p:sp>
        <p:nvSpPr>
          <p:cNvPr id="27" name="Rounded Rectangle 26"/>
          <p:cNvSpPr/>
          <p:nvPr/>
        </p:nvSpPr>
        <p:spPr>
          <a:xfrm>
            <a:off x="320040" y="3977639"/>
            <a:ext cx="5166360" cy="502920"/>
          </a:xfrm>
          <a:prstGeom prst="roundRect">
            <a:avLst/>
          </a:prstGeom>
          <a:solidFill>
            <a:srgbClr val="EFF4FF"/>
          </a:solidFill>
          <a:ln w="9525">
            <a:solidFill>
              <a:srgbClr val="CF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4171892"/>
            <a:ext cx="489204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dirty="0" err="1">
                <a:solidFill>
                  <a:srgbClr val="1E3A8A"/>
                </a:solidFill>
                <a:latin typeface="Pretendard Medium"/>
              </a:rPr>
              <a:t>기본</a:t>
            </a:r>
            <a:r>
              <a:rPr sz="1100" b="0" dirty="0">
                <a:solidFill>
                  <a:srgbClr val="1E3A8A"/>
                </a:solidFill>
                <a:latin typeface="Pretendard Medium"/>
              </a:rPr>
              <a:t> </a:t>
            </a:r>
            <a:r>
              <a:rPr sz="1100" b="0" dirty="0" err="1">
                <a:solidFill>
                  <a:srgbClr val="1E3A8A"/>
                </a:solidFill>
                <a:latin typeface="Pretendard Medium"/>
              </a:rPr>
              <a:t>선택</a:t>
            </a:r>
            <a:r>
              <a:rPr sz="1100" b="0" dirty="0">
                <a:solidFill>
                  <a:srgbClr val="1E3A8A"/>
                </a:solidFill>
                <a:latin typeface="Pretendard Medium"/>
              </a:rPr>
              <a:t>: </a:t>
            </a:r>
            <a:r>
              <a:rPr sz="1100" b="0" dirty="0" err="1">
                <a:solidFill>
                  <a:srgbClr val="1E3A8A"/>
                </a:solidFill>
                <a:latin typeface="Pretendard Medium"/>
              </a:rPr>
              <a:t>엑셀저장</a:t>
            </a:r>
            <a:r>
              <a:rPr sz="1100" b="0" dirty="0">
                <a:solidFill>
                  <a:srgbClr val="1E3A8A"/>
                </a:solidFill>
                <a:latin typeface="Pretendard Medium"/>
              </a:rPr>
              <a:t>, CJ </a:t>
            </a:r>
            <a:r>
              <a:rPr sz="1100" b="0" dirty="0" err="1">
                <a:solidFill>
                  <a:srgbClr val="1E3A8A"/>
                </a:solidFill>
                <a:latin typeface="Pretendard Medium"/>
              </a:rPr>
              <a:t>업로드</a:t>
            </a:r>
            <a:r>
              <a:rPr sz="1100" b="0" dirty="0">
                <a:solidFill>
                  <a:srgbClr val="1E3A8A"/>
                </a:solidFill>
                <a:latin typeface="Pretendard Medium"/>
              </a:rPr>
              <a:t> </a:t>
            </a:r>
            <a:r>
              <a:rPr sz="1100" b="0" dirty="0" err="1">
                <a:solidFill>
                  <a:srgbClr val="1E3A8A"/>
                </a:solidFill>
                <a:latin typeface="Pretendard Medium"/>
              </a:rPr>
              <a:t>양식</a:t>
            </a:r>
            <a:r>
              <a:rPr sz="1100" b="0" dirty="0">
                <a:solidFill>
                  <a:srgbClr val="1E3A8A"/>
                </a:solidFill>
                <a:latin typeface="Pretendard Medium"/>
              </a:rPr>
              <a:t>, </a:t>
            </a:r>
            <a:r>
              <a:rPr sz="1100" b="0" dirty="0" err="1">
                <a:solidFill>
                  <a:srgbClr val="1E3A8A"/>
                </a:solidFill>
                <a:latin typeface="Pretendard Medium"/>
              </a:rPr>
              <a:t>라벨인쇄</a:t>
            </a:r>
            <a:r>
              <a:rPr sz="1100" b="0" dirty="0">
                <a:solidFill>
                  <a:srgbClr val="1E3A8A"/>
                </a:solidFill>
                <a:latin typeface="Pretendard Medium"/>
              </a:rPr>
              <a:t>, </a:t>
            </a:r>
            <a:r>
              <a:rPr sz="1100" b="0" dirty="0" err="1">
                <a:solidFill>
                  <a:srgbClr val="1E3A8A"/>
                </a:solidFill>
                <a:latin typeface="Pretendard Medium"/>
              </a:rPr>
              <a:t>자동전환</a:t>
            </a:r>
            <a:r>
              <a:rPr sz="1100" b="0" dirty="0">
                <a:solidFill>
                  <a:srgbClr val="1E3A8A"/>
                </a:solidFill>
                <a:latin typeface="Pretendard Medium"/>
              </a:rPr>
              <a:t> 2종, </a:t>
            </a:r>
            <a:r>
              <a:rPr sz="1100" b="0" dirty="0" err="1">
                <a:solidFill>
                  <a:srgbClr val="1E3A8A"/>
                </a:solidFill>
                <a:latin typeface="Pretendard Medium"/>
              </a:rPr>
              <a:t>주문내역서</a:t>
            </a:r>
            <a:r>
              <a:rPr sz="1100" b="0" dirty="0">
                <a:solidFill>
                  <a:srgbClr val="1E3A8A"/>
                </a:solidFill>
                <a:latin typeface="Pretendard Medium"/>
              </a:rPr>
              <a:t> </a:t>
            </a:r>
            <a:r>
              <a:rPr sz="1100" b="0" dirty="0" err="1">
                <a:solidFill>
                  <a:srgbClr val="1E3A8A"/>
                </a:solidFill>
                <a:latin typeface="Pretendard Medium"/>
              </a:rPr>
              <a:t>저장</a:t>
            </a:r>
            <a:endParaRPr sz="1100" b="0" dirty="0">
              <a:solidFill>
                <a:srgbClr val="1E3A8A"/>
              </a:solidFill>
              <a:latin typeface="Pretendard Medium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4F4E4C5B-8D9C-0138-A390-FE76F3F44F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113206"/>
            <a:ext cx="2187823" cy="34391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109728"/>
            <a:ext cx="685800" cy="256032"/>
          </a:xfrm>
          <a:prstGeom prst="round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32588"/>
            <a:ext cx="68580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Pretendard SemiBold"/>
              </a:rPr>
              <a:t>Tab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5720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0">
                <a:solidFill>
                  <a:srgbClr val="343A40"/>
                </a:solidFill>
                <a:latin typeface="Pretendard SemiBold"/>
              </a:rPr>
              <a:t>날짜·상태·검색 필터 설정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8503920" cy="127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4800600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868E96"/>
                </a:solidFill>
                <a:latin typeface="Pretendard Light"/>
              </a:rPr>
              <a:t>K-gin bio Pharm Ltd. · 탕전주문 관리 시스템 · v1.4 / 프로그램 12.50 기준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1188720"/>
            <a:ext cx="498348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0040" y="1188720"/>
            <a:ext cx="64008" cy="713232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4632" y="1307592"/>
            <a:ext cx="47091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212529"/>
                </a:solidFill>
                <a:latin typeface="Pretendard SemiBold"/>
              </a:rPr>
              <a:t>날짜 / 시간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" y="1655843"/>
            <a:ext cx="4571462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dirty="0" err="1">
                <a:solidFill>
                  <a:srgbClr val="495057"/>
                </a:solidFill>
                <a:latin typeface="+mn-ea"/>
              </a:rPr>
              <a:t>날짜는</a:t>
            </a:r>
            <a:r>
              <a:rPr sz="1000" b="0" dirty="0">
                <a:solidFill>
                  <a:srgbClr val="495057"/>
                </a:solidFill>
                <a:latin typeface="+mn-ea"/>
              </a:rPr>
              <a:t> </a:t>
            </a:r>
            <a:r>
              <a:rPr sz="1000" b="0" dirty="0" err="1">
                <a:solidFill>
                  <a:srgbClr val="495057"/>
                </a:solidFill>
                <a:latin typeface="+mn-ea"/>
              </a:rPr>
              <a:t>필수</a:t>
            </a:r>
            <a:r>
              <a:rPr sz="1000" b="0" dirty="0">
                <a:solidFill>
                  <a:srgbClr val="495057"/>
                </a:solidFill>
                <a:latin typeface="+mn-ea"/>
              </a:rPr>
              <a:t>, </a:t>
            </a:r>
            <a:r>
              <a:rPr sz="1000" b="0" dirty="0" err="1">
                <a:solidFill>
                  <a:srgbClr val="495057"/>
                </a:solidFill>
                <a:latin typeface="+mn-ea"/>
              </a:rPr>
              <a:t>시간은</a:t>
            </a:r>
            <a:r>
              <a:rPr sz="1000" b="0" dirty="0">
                <a:solidFill>
                  <a:srgbClr val="495057"/>
                </a:solidFill>
                <a:latin typeface="+mn-ea"/>
              </a:rPr>
              <a:t> </a:t>
            </a:r>
            <a:r>
              <a:rPr sz="1000" b="0" dirty="0" err="1">
                <a:solidFill>
                  <a:srgbClr val="495057"/>
                </a:solidFill>
                <a:latin typeface="+mn-ea"/>
              </a:rPr>
              <a:t>선택입니다</a:t>
            </a:r>
            <a:r>
              <a:rPr sz="1000" b="0" dirty="0">
                <a:solidFill>
                  <a:srgbClr val="495057"/>
                </a:solidFill>
                <a:latin typeface="+mn-ea"/>
              </a:rPr>
              <a:t>. </a:t>
            </a:r>
            <a:r>
              <a:rPr sz="1000" b="0" dirty="0" err="1">
                <a:solidFill>
                  <a:srgbClr val="495057"/>
                </a:solidFill>
                <a:latin typeface="+mn-ea"/>
              </a:rPr>
              <a:t>시간을</a:t>
            </a:r>
            <a:r>
              <a:rPr sz="1000" b="0" dirty="0">
                <a:solidFill>
                  <a:srgbClr val="495057"/>
                </a:solidFill>
                <a:latin typeface="+mn-ea"/>
              </a:rPr>
              <a:t> </a:t>
            </a:r>
            <a:r>
              <a:rPr sz="1000" b="0" dirty="0" err="1">
                <a:solidFill>
                  <a:srgbClr val="495057"/>
                </a:solidFill>
                <a:latin typeface="+mn-ea"/>
              </a:rPr>
              <a:t>넣으면</a:t>
            </a:r>
            <a:r>
              <a:rPr sz="1000" b="0" dirty="0">
                <a:solidFill>
                  <a:srgbClr val="495057"/>
                </a:solidFill>
                <a:latin typeface="+mn-ea"/>
              </a:rPr>
              <a:t> </a:t>
            </a:r>
            <a:r>
              <a:rPr sz="1000" b="0" dirty="0" err="1">
                <a:solidFill>
                  <a:srgbClr val="495057"/>
                </a:solidFill>
                <a:latin typeface="+mn-ea"/>
              </a:rPr>
              <a:t>해당</a:t>
            </a:r>
            <a:r>
              <a:rPr sz="1000" b="0" dirty="0">
                <a:solidFill>
                  <a:srgbClr val="495057"/>
                </a:solidFill>
                <a:latin typeface="+mn-ea"/>
              </a:rPr>
              <a:t> </a:t>
            </a:r>
            <a:r>
              <a:rPr sz="1000" b="0" dirty="0" err="1">
                <a:solidFill>
                  <a:srgbClr val="495057"/>
                </a:solidFill>
                <a:latin typeface="+mn-ea"/>
              </a:rPr>
              <a:t>시각</a:t>
            </a:r>
            <a:r>
              <a:rPr sz="1000" b="0" dirty="0">
                <a:solidFill>
                  <a:srgbClr val="495057"/>
                </a:solidFill>
                <a:latin typeface="+mn-ea"/>
              </a:rPr>
              <a:t> </a:t>
            </a:r>
            <a:r>
              <a:rPr sz="1000" b="0" dirty="0" err="1">
                <a:solidFill>
                  <a:srgbClr val="495057"/>
                </a:solidFill>
                <a:latin typeface="+mn-ea"/>
              </a:rPr>
              <a:t>이후</a:t>
            </a:r>
            <a:r>
              <a:rPr sz="1000" b="0" dirty="0">
                <a:solidFill>
                  <a:srgbClr val="495057"/>
                </a:solidFill>
                <a:latin typeface="+mn-ea"/>
              </a:rPr>
              <a:t>/</a:t>
            </a:r>
            <a:r>
              <a:rPr sz="1000" b="0" dirty="0" err="1">
                <a:solidFill>
                  <a:srgbClr val="495057"/>
                </a:solidFill>
                <a:latin typeface="+mn-ea"/>
              </a:rPr>
              <a:t>이전</a:t>
            </a:r>
            <a:r>
              <a:rPr sz="1000" b="0" dirty="0">
                <a:solidFill>
                  <a:srgbClr val="495057"/>
                </a:solidFill>
                <a:latin typeface="+mn-ea"/>
              </a:rPr>
              <a:t> </a:t>
            </a:r>
            <a:r>
              <a:rPr sz="1000" b="0" dirty="0" err="1">
                <a:solidFill>
                  <a:srgbClr val="495057"/>
                </a:solidFill>
                <a:latin typeface="+mn-ea"/>
              </a:rPr>
              <a:t>주문만</a:t>
            </a:r>
            <a:r>
              <a:rPr sz="1000" b="0" dirty="0">
                <a:solidFill>
                  <a:srgbClr val="495057"/>
                </a:solidFill>
                <a:latin typeface="+mn-ea"/>
              </a:rPr>
              <a:t> </a:t>
            </a:r>
            <a:r>
              <a:rPr sz="1000" b="0" dirty="0" err="1">
                <a:solidFill>
                  <a:srgbClr val="495057"/>
                </a:solidFill>
                <a:latin typeface="+mn-ea"/>
              </a:rPr>
              <a:t>수집합니다</a:t>
            </a:r>
            <a:r>
              <a:rPr sz="1000" b="0" dirty="0">
                <a:solidFill>
                  <a:srgbClr val="495057"/>
                </a:solidFill>
                <a:latin typeface="+mn-ea"/>
              </a:rPr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" y="2029968"/>
            <a:ext cx="498348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0040" y="2029968"/>
            <a:ext cx="64008" cy="713232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4632" y="2148840"/>
            <a:ext cx="47091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212529"/>
                </a:solidFill>
                <a:latin typeface="Pretendard SemiBold"/>
              </a:rPr>
              <a:t>상태 필터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" y="2497092"/>
            <a:ext cx="4571462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495057"/>
                </a:solidFill>
                <a:latin typeface="+mn-ea"/>
              </a:rPr>
              <a:t>접수대기가 기본 선택입니다. 필요하면 입금대기, 발송, 완료 등 복수 상태를 함께 선택합니다.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" y="2871216"/>
            <a:ext cx="498348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0040" y="2871216"/>
            <a:ext cx="64008" cy="713232"/>
          </a:xfrm>
          <a:prstGeom prst="rect">
            <a:avLst/>
          </a:prstGeom>
          <a:solidFill>
            <a:srgbClr val="2F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4632" y="2990088"/>
            <a:ext cx="47091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212529"/>
                </a:solidFill>
                <a:latin typeface="Pretendard SemiBold"/>
              </a:rPr>
              <a:t>한의원 목록 콤보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3261396"/>
            <a:ext cx="4571462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dirty="0" err="1">
                <a:solidFill>
                  <a:srgbClr val="495057"/>
                </a:solidFill>
                <a:latin typeface="+mn-ea"/>
              </a:rPr>
              <a:t>고래한방은</a:t>
            </a:r>
            <a:r>
              <a:rPr sz="1000" b="0" dirty="0">
                <a:solidFill>
                  <a:srgbClr val="495057"/>
                </a:solidFill>
                <a:latin typeface="+mn-ea"/>
              </a:rPr>
              <a:t> </a:t>
            </a:r>
            <a:r>
              <a:rPr sz="1000" b="0" dirty="0" err="1">
                <a:solidFill>
                  <a:srgbClr val="495057"/>
                </a:solidFill>
                <a:latin typeface="+mn-ea"/>
              </a:rPr>
              <a:t>사이트명은</a:t>
            </a:r>
            <a:r>
              <a:rPr sz="1000" b="0" dirty="0">
                <a:solidFill>
                  <a:srgbClr val="495057"/>
                </a:solidFill>
                <a:latin typeface="+mn-ea"/>
              </a:rPr>
              <a:t> </a:t>
            </a:r>
            <a:r>
              <a:rPr sz="1000" b="0" dirty="0" err="1">
                <a:solidFill>
                  <a:srgbClr val="495057"/>
                </a:solidFill>
                <a:latin typeface="+mn-ea"/>
              </a:rPr>
              <a:t>같아도</a:t>
            </a:r>
            <a:r>
              <a:rPr sz="1000" b="0" dirty="0">
                <a:solidFill>
                  <a:srgbClr val="495057"/>
                </a:solidFill>
                <a:latin typeface="+mn-ea"/>
              </a:rPr>
              <a:t> </a:t>
            </a:r>
            <a:r>
              <a:rPr sz="1000" b="0" dirty="0" err="1">
                <a:solidFill>
                  <a:srgbClr val="495057"/>
                </a:solidFill>
                <a:latin typeface="+mn-ea"/>
              </a:rPr>
              <a:t>주소</a:t>
            </a:r>
            <a:r>
              <a:rPr sz="1000" b="0" dirty="0">
                <a:solidFill>
                  <a:srgbClr val="495057"/>
                </a:solidFill>
                <a:latin typeface="+mn-ea"/>
              </a:rPr>
              <a:t>/</a:t>
            </a:r>
            <a:r>
              <a:rPr sz="1000" b="0" dirty="0" err="1">
                <a:solidFill>
                  <a:srgbClr val="495057"/>
                </a:solidFill>
                <a:latin typeface="+mn-ea"/>
              </a:rPr>
              <a:t>주문자</a:t>
            </a:r>
            <a:r>
              <a:rPr sz="1000" b="0" dirty="0">
                <a:solidFill>
                  <a:srgbClr val="495057"/>
                </a:solidFill>
                <a:latin typeface="+mn-ea"/>
              </a:rPr>
              <a:t> </a:t>
            </a:r>
            <a:r>
              <a:rPr sz="1000" b="0" dirty="0" err="1">
                <a:solidFill>
                  <a:srgbClr val="495057"/>
                </a:solidFill>
                <a:latin typeface="+mn-ea"/>
              </a:rPr>
              <a:t>기준으로</a:t>
            </a:r>
            <a:r>
              <a:rPr sz="1000" b="0" dirty="0">
                <a:solidFill>
                  <a:srgbClr val="495057"/>
                </a:solidFill>
                <a:latin typeface="+mn-ea"/>
              </a:rPr>
              <a:t> </a:t>
            </a:r>
            <a:r>
              <a:rPr sz="1000" b="0" dirty="0" err="1">
                <a:solidFill>
                  <a:srgbClr val="495057"/>
                </a:solidFill>
                <a:latin typeface="+mn-ea"/>
              </a:rPr>
              <a:t>관저·판암·세종</a:t>
            </a:r>
            <a:r>
              <a:rPr sz="1000" b="0" dirty="0">
                <a:solidFill>
                  <a:srgbClr val="495057"/>
                </a:solidFill>
                <a:latin typeface="+mn-ea"/>
              </a:rPr>
              <a:t> </a:t>
            </a:r>
            <a:r>
              <a:rPr sz="1000" b="0" dirty="0" err="1">
                <a:solidFill>
                  <a:srgbClr val="495057"/>
                </a:solidFill>
                <a:latin typeface="+mn-ea"/>
              </a:rPr>
              <a:t>지점을</a:t>
            </a:r>
            <a:r>
              <a:rPr sz="1000" b="0" dirty="0">
                <a:solidFill>
                  <a:srgbClr val="495057"/>
                </a:solidFill>
                <a:latin typeface="+mn-ea"/>
              </a:rPr>
              <a:t> </a:t>
            </a:r>
            <a:r>
              <a:rPr sz="1000" b="0" dirty="0" err="1">
                <a:solidFill>
                  <a:srgbClr val="495057"/>
                </a:solidFill>
                <a:latin typeface="+mn-ea"/>
              </a:rPr>
              <a:t>분류합니다</a:t>
            </a:r>
            <a:r>
              <a:rPr sz="1000" b="0" dirty="0">
                <a:solidFill>
                  <a:srgbClr val="495057"/>
                </a:solidFill>
                <a:latin typeface="+mn-ea"/>
              </a:rPr>
              <a:t>.</a:t>
            </a:r>
            <a:endParaRPr lang="en-US" sz="1000" b="0" dirty="0">
              <a:solidFill>
                <a:srgbClr val="495057"/>
              </a:solidFill>
              <a:latin typeface="+mn-ea"/>
            </a:endParaRPr>
          </a:p>
          <a:p>
            <a:pPr algn="l"/>
            <a:r>
              <a:rPr sz="1000" b="0" dirty="0" err="1">
                <a:solidFill>
                  <a:srgbClr val="495057"/>
                </a:solidFill>
                <a:latin typeface="+mn-ea"/>
              </a:rPr>
              <a:t>필한방병원은</a:t>
            </a:r>
            <a:r>
              <a:rPr sz="1000" b="0" dirty="0">
                <a:solidFill>
                  <a:srgbClr val="495057"/>
                </a:solidFill>
                <a:latin typeface="+mn-ea"/>
              </a:rPr>
              <a:t> </a:t>
            </a:r>
            <a:r>
              <a:rPr sz="1000" b="0" dirty="0" err="1">
                <a:solidFill>
                  <a:srgbClr val="495057"/>
                </a:solidFill>
                <a:latin typeface="+mn-ea"/>
              </a:rPr>
              <a:t>사이트명</a:t>
            </a:r>
            <a:r>
              <a:rPr sz="1000" b="0" dirty="0">
                <a:solidFill>
                  <a:srgbClr val="495057"/>
                </a:solidFill>
                <a:latin typeface="+mn-ea"/>
              </a:rPr>
              <a:t> </a:t>
            </a:r>
            <a:r>
              <a:rPr sz="1000" b="0" dirty="0" err="1">
                <a:solidFill>
                  <a:srgbClr val="495057"/>
                </a:solidFill>
                <a:latin typeface="+mn-ea"/>
              </a:rPr>
              <a:t>기준으로</a:t>
            </a:r>
            <a:r>
              <a:rPr sz="1000" b="0" dirty="0">
                <a:solidFill>
                  <a:srgbClr val="495057"/>
                </a:solidFill>
                <a:latin typeface="+mn-ea"/>
              </a:rPr>
              <a:t> </a:t>
            </a:r>
            <a:r>
              <a:rPr sz="1000" b="0" dirty="0" err="1">
                <a:solidFill>
                  <a:srgbClr val="495057"/>
                </a:solidFill>
                <a:latin typeface="+mn-ea"/>
              </a:rPr>
              <a:t>표시합니다</a:t>
            </a:r>
            <a:r>
              <a:rPr sz="1000" b="0" dirty="0">
                <a:solidFill>
                  <a:srgbClr val="495057"/>
                </a:solidFill>
                <a:latin typeface="+mn-ea"/>
              </a:rPr>
              <a:t>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" y="3712463"/>
            <a:ext cx="498348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20040" y="3712463"/>
            <a:ext cx="64008" cy="713232"/>
          </a:xfrm>
          <a:prstGeom prst="rect">
            <a:avLst/>
          </a:prstGeom>
          <a:solidFill>
            <a:srgbClr val="2F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4632" y="3831335"/>
            <a:ext cx="47091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212529"/>
                </a:solidFill>
                <a:latin typeface="Pretendard SemiBold"/>
              </a:rPr>
              <a:t>검색대상 콤보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" y="4102643"/>
            <a:ext cx="4571462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495057"/>
                </a:solidFill>
                <a:latin typeface="+mn-ea"/>
              </a:rPr>
              <a:t>주문자명, 환자명(복용자), 주문자명+환자명 중 선택합니다. 이름은 콤마로 여러 명을 한 번에 검색할 수 있습니다.</a:t>
            </a: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F1D147E5-35EA-9B57-403D-F0C7F14FBF3B}"/>
              </a:ext>
            </a:extLst>
          </p:cNvPr>
          <p:cNvGrpSpPr/>
          <p:nvPr/>
        </p:nvGrpSpPr>
        <p:grpSpPr>
          <a:xfrm>
            <a:off x="6263640" y="1113206"/>
            <a:ext cx="2187823" cy="3439160"/>
            <a:chOff x="6263640" y="1113206"/>
            <a:chExt cx="2187823" cy="3439160"/>
          </a:xfrm>
        </p:grpSpPr>
        <p:pic>
          <p:nvPicPr>
            <p:cNvPr id="28" name="그림 27">
              <a:extLst>
                <a:ext uri="{FF2B5EF4-FFF2-40B4-BE49-F238E27FC236}">
                  <a16:creationId xmlns:a16="http://schemas.microsoft.com/office/drawing/2014/main" id="{1620B901-9EA0-0A2E-1299-ECD805DC34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63640" y="1113206"/>
              <a:ext cx="2187823" cy="3439160"/>
            </a:xfrm>
            <a:prstGeom prst="rect">
              <a:avLst/>
            </a:prstGeom>
          </p:spPr>
        </p:pic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36506415-1BA2-5980-6865-590E9E646892}"/>
                </a:ext>
              </a:extLst>
            </p:cNvPr>
            <p:cNvSpPr/>
            <p:nvPr/>
          </p:nvSpPr>
          <p:spPr>
            <a:xfrm>
              <a:off x="6263640" y="1727947"/>
              <a:ext cx="2187823" cy="769145"/>
            </a:xfrm>
            <a:prstGeom prst="rect">
              <a:avLst/>
            </a:prstGeom>
            <a:noFill/>
            <a:ln w="12700">
              <a:solidFill>
                <a:srgbClr val="EE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109728"/>
            <a:ext cx="685800" cy="256032"/>
          </a:xfrm>
          <a:prstGeom prst="round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32588"/>
            <a:ext cx="68580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Pretendard SemiBold"/>
              </a:rPr>
              <a:t>Tab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5720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0">
                <a:solidFill>
                  <a:srgbClr val="343A40"/>
                </a:solidFill>
                <a:latin typeface="Pretendard SemiBold"/>
              </a:rPr>
              <a:t>파일 저장 옵션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8503920" cy="127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4800600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868E96"/>
                </a:solidFill>
                <a:latin typeface="Pretendard Light"/>
              </a:rPr>
              <a:t>K-gin bio Pharm Ltd. · 탕전주문 관리 시스템 · v1.4 / 프로그램 12.50 기준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0694958"/>
              </p:ext>
            </p:extLst>
          </p:nvPr>
        </p:nvGraphicFramePr>
        <p:xfrm>
          <a:off x="320040" y="1188720"/>
          <a:ext cx="5714999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9857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Pretendard SemiBold"/>
                        </a:rPr>
                        <a:t>옵션</a:t>
                      </a:r>
                    </a:p>
                  </a:txBody>
                  <a:tcPr marL="73152" marR="73152" marT="36576" marB="36576">
                    <a:solidFill>
                      <a:srgbClr val="3B5B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Pretendard SemiBold"/>
                        </a:rPr>
                        <a:t>설명</a:t>
                      </a:r>
                    </a:p>
                  </a:txBody>
                  <a:tcPr marL="73152" marR="73152" marT="36576" marB="36576">
                    <a:solidFill>
                      <a:srgbClr val="3B5B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2529"/>
                          </a:solidFill>
                          <a:latin typeface="Pretendard Medium"/>
                        </a:rPr>
                        <a:t>주문 엑셀 저장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2529"/>
                          </a:solidFill>
                          <a:latin typeface="Pretendard Medium"/>
                        </a:rPr>
                        <a:t>수집된 주문 전체를 통합 엑셀로 저장합니다.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2529"/>
                          </a:solidFill>
                          <a:latin typeface="Pretendard Medium"/>
                        </a:rPr>
                        <a:t>대한통운 파일업로드 양식 생성</a:t>
                      </a:r>
                    </a:p>
                  </a:txBody>
                  <a:tcPr marL="73152" marR="73152" marT="36576" marB="36576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2529"/>
                          </a:solidFill>
                          <a:latin typeface="Pretendard Medium"/>
                        </a:rPr>
                        <a:t>CJ 업로드용 파일 생성. A열에 주문날짜가 추가되고 한의원 대표번호가 발신번호로 반영됩니다.</a:t>
                      </a:r>
                    </a:p>
                  </a:txBody>
                  <a:tcPr marL="73152" marR="73152" marT="36576" marB="36576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2529"/>
                          </a:solidFill>
                          <a:latin typeface="Pretendard Medium"/>
                        </a:rPr>
                        <a:t>탕전 라벨 인쇄용 엑셀 생성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2529"/>
                          </a:solidFill>
                          <a:latin typeface="Pretendard Medium"/>
                        </a:rPr>
                        <a:t>라벨 출력에 필요한 항목만 별도 생성합니다. 고래 판암점 라벨코드 열을 포함합니다.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2529"/>
                          </a:solidFill>
                          <a:latin typeface="Pretendard Medium"/>
                        </a:rPr>
                        <a:t>PDF 저장</a:t>
                      </a:r>
                    </a:p>
                  </a:txBody>
                  <a:tcPr marL="73152" marR="73152" marT="36576" marB="36576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dirty="0" err="1">
                          <a:solidFill>
                            <a:srgbClr val="212529"/>
                          </a:solidFill>
                          <a:latin typeface="Pretendard Medium"/>
                        </a:rPr>
                        <a:t>주문내역서</a:t>
                      </a:r>
                      <a:r>
                        <a:rPr sz="900" b="0" dirty="0">
                          <a:solidFill>
                            <a:srgbClr val="212529"/>
                          </a:solidFill>
                          <a:latin typeface="Pretendard Medium"/>
                        </a:rPr>
                        <a:t>/</a:t>
                      </a:r>
                      <a:r>
                        <a:rPr sz="900" b="0" dirty="0" err="1">
                          <a:solidFill>
                            <a:srgbClr val="212529"/>
                          </a:solidFill>
                          <a:latin typeface="Pretendard Medium"/>
                        </a:rPr>
                        <a:t>조제지시서</a:t>
                      </a:r>
                      <a:r>
                        <a:rPr sz="900" b="0" dirty="0">
                          <a:solidFill>
                            <a:srgbClr val="212529"/>
                          </a:solidFill>
                          <a:latin typeface="Pretendard Medium"/>
                        </a:rPr>
                        <a:t>/</a:t>
                      </a:r>
                      <a:r>
                        <a:rPr sz="900" b="0" dirty="0" err="1">
                          <a:solidFill>
                            <a:srgbClr val="212529"/>
                          </a:solidFill>
                          <a:latin typeface="Pretendard Medium"/>
                        </a:rPr>
                        <a:t>복용법</a:t>
                      </a:r>
                      <a:r>
                        <a:rPr sz="900" b="0" dirty="0">
                          <a:solidFill>
                            <a:srgbClr val="212529"/>
                          </a:solidFill>
                          <a:latin typeface="Pretendard Medium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212529"/>
                          </a:solidFill>
                          <a:latin typeface="Pretendard Medium"/>
                        </a:rPr>
                        <a:t>PDF를</a:t>
                      </a:r>
                      <a:r>
                        <a:rPr sz="900" b="0" dirty="0">
                          <a:solidFill>
                            <a:srgbClr val="212529"/>
                          </a:solidFill>
                          <a:latin typeface="Pretendard Medium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212529"/>
                          </a:solidFill>
                          <a:latin typeface="Pretendard Medium"/>
                        </a:rPr>
                        <a:t>선택</a:t>
                      </a:r>
                      <a:r>
                        <a:rPr sz="900" b="0" dirty="0">
                          <a:solidFill>
                            <a:srgbClr val="212529"/>
                          </a:solidFill>
                          <a:latin typeface="Pretendard Medium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212529"/>
                          </a:solidFill>
                          <a:latin typeface="Pretendard Medium"/>
                        </a:rPr>
                        <a:t>저장합니다</a:t>
                      </a:r>
                      <a:r>
                        <a:rPr sz="900" b="0" dirty="0">
                          <a:solidFill>
                            <a:srgbClr val="212529"/>
                          </a:solidFill>
                          <a:latin typeface="Pretendard Medium"/>
                        </a:rPr>
                        <a:t>.</a:t>
                      </a:r>
                      <a:endParaRPr lang="en-US" sz="900" b="0" dirty="0">
                        <a:solidFill>
                          <a:srgbClr val="212529"/>
                        </a:solidFill>
                        <a:latin typeface="Pretendard Medium"/>
                      </a:endParaRPr>
                    </a:p>
                    <a:p>
                      <a:r>
                        <a:rPr sz="900" b="0" dirty="0" err="1">
                          <a:solidFill>
                            <a:srgbClr val="212529"/>
                          </a:solidFill>
                          <a:latin typeface="Pretendard Medium"/>
                        </a:rPr>
                        <a:t>기본은</a:t>
                      </a:r>
                      <a:r>
                        <a:rPr sz="900" b="0" dirty="0">
                          <a:solidFill>
                            <a:srgbClr val="212529"/>
                          </a:solidFill>
                          <a:latin typeface="Pretendard Medium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212529"/>
                          </a:solidFill>
                          <a:latin typeface="Pretendard Medium"/>
                        </a:rPr>
                        <a:t>주문내역서</a:t>
                      </a:r>
                      <a:r>
                        <a:rPr sz="900" b="0" dirty="0">
                          <a:solidFill>
                            <a:srgbClr val="212529"/>
                          </a:solidFill>
                          <a:latin typeface="Pretendard Medium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212529"/>
                          </a:solidFill>
                          <a:latin typeface="Pretendard Medium"/>
                        </a:rPr>
                        <a:t>저장입니다</a:t>
                      </a:r>
                      <a:r>
                        <a:rPr sz="900" b="0" dirty="0">
                          <a:solidFill>
                            <a:srgbClr val="212529"/>
                          </a:solidFill>
                          <a:latin typeface="Pretendard Medium"/>
                        </a:rPr>
                        <a:t>.</a:t>
                      </a:r>
                    </a:p>
                  </a:txBody>
                  <a:tcPr marL="73152" marR="73152" marT="36576" marB="36576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2529"/>
                          </a:solidFill>
                          <a:latin typeface="Pretendard Medium"/>
                        </a:rPr>
                        <a:t>자동 전환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2529"/>
                          </a:solidFill>
                          <a:latin typeface="Pretendard Medium"/>
                        </a:rPr>
                        <a:t>입원건 입금대기 전환, 취소요청건 환불취소 전환이 기본 선택됩니다.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985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2529"/>
                          </a:solidFill>
                          <a:latin typeface="Pretendard Medium"/>
                        </a:rPr>
                        <a:t>벌크/예외 처리</a:t>
                      </a:r>
                    </a:p>
                  </a:txBody>
                  <a:tcPr marL="73152" marR="73152" marT="36576" marB="36576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dirty="0" err="1">
                          <a:solidFill>
                            <a:srgbClr val="212529"/>
                          </a:solidFill>
                          <a:latin typeface="Pretendard Medium"/>
                        </a:rPr>
                        <a:t>고래한방</a:t>
                      </a:r>
                      <a:r>
                        <a:rPr sz="900" b="0" dirty="0">
                          <a:solidFill>
                            <a:srgbClr val="212529"/>
                          </a:solidFill>
                          <a:latin typeface="Pretendard Medium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212529"/>
                          </a:solidFill>
                          <a:latin typeface="Pretendard Medium"/>
                        </a:rPr>
                        <a:t>입원건</a:t>
                      </a:r>
                      <a:r>
                        <a:rPr sz="900" b="0" dirty="0">
                          <a:solidFill>
                            <a:srgbClr val="212529"/>
                          </a:solidFill>
                          <a:latin typeface="Pretendard Medium"/>
                        </a:rPr>
                        <a:t>, 30팩 </a:t>
                      </a:r>
                      <a:r>
                        <a:rPr sz="900" b="0" dirty="0" err="1">
                          <a:solidFill>
                            <a:srgbClr val="212529"/>
                          </a:solidFill>
                          <a:latin typeface="Pretendard Medium"/>
                        </a:rPr>
                        <a:t>이상</a:t>
                      </a:r>
                      <a:r>
                        <a:rPr sz="900" b="0" dirty="0">
                          <a:solidFill>
                            <a:srgbClr val="212529"/>
                          </a:solidFill>
                          <a:latin typeface="Pretendard Medium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212529"/>
                          </a:solidFill>
                          <a:latin typeface="Pretendard Medium"/>
                        </a:rPr>
                        <a:t>별도</a:t>
                      </a:r>
                      <a:r>
                        <a:rPr sz="900" b="0" dirty="0">
                          <a:solidFill>
                            <a:srgbClr val="212529"/>
                          </a:solidFill>
                          <a:latin typeface="Pretendard Medium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212529"/>
                          </a:solidFill>
                          <a:latin typeface="Pretendard Medium"/>
                        </a:rPr>
                        <a:t>박스</a:t>
                      </a:r>
                      <a:r>
                        <a:rPr sz="900" b="0" dirty="0">
                          <a:solidFill>
                            <a:srgbClr val="212529"/>
                          </a:solidFill>
                          <a:latin typeface="Pretendard Medium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212529"/>
                          </a:solidFill>
                          <a:latin typeface="Pretendard Medium"/>
                        </a:rPr>
                        <a:t>건은</a:t>
                      </a:r>
                      <a:r>
                        <a:rPr sz="900" b="0" dirty="0">
                          <a:solidFill>
                            <a:srgbClr val="212529"/>
                          </a:solidFill>
                          <a:latin typeface="Pretendard Medium"/>
                        </a:rPr>
                        <a:t> CJ </a:t>
                      </a:r>
                      <a:r>
                        <a:rPr sz="900" b="0" dirty="0" err="1">
                          <a:solidFill>
                            <a:srgbClr val="212529"/>
                          </a:solidFill>
                          <a:latin typeface="Pretendard Medium"/>
                        </a:rPr>
                        <a:t>업로드</a:t>
                      </a:r>
                      <a:r>
                        <a:rPr sz="900" b="0" dirty="0">
                          <a:solidFill>
                            <a:srgbClr val="212529"/>
                          </a:solidFill>
                          <a:latin typeface="Pretendard Medium"/>
                        </a:rPr>
                        <a:t>/</a:t>
                      </a:r>
                      <a:r>
                        <a:rPr sz="900" b="0" dirty="0" err="1">
                          <a:solidFill>
                            <a:srgbClr val="212529"/>
                          </a:solidFill>
                          <a:latin typeface="Pretendard Medium"/>
                        </a:rPr>
                        <a:t>벌크</a:t>
                      </a:r>
                      <a:r>
                        <a:rPr sz="900" b="0" dirty="0">
                          <a:solidFill>
                            <a:srgbClr val="212529"/>
                          </a:solidFill>
                          <a:latin typeface="Pretendard Medium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212529"/>
                          </a:solidFill>
                          <a:latin typeface="Pretendard Medium"/>
                        </a:rPr>
                        <a:t>처리에서</a:t>
                      </a:r>
                      <a:r>
                        <a:rPr sz="900" b="0" dirty="0">
                          <a:solidFill>
                            <a:srgbClr val="212529"/>
                          </a:solidFill>
                          <a:latin typeface="Pretendard Medium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212529"/>
                          </a:solidFill>
                          <a:latin typeface="Pretendard Medium"/>
                        </a:rPr>
                        <a:t>제외</a:t>
                      </a:r>
                      <a:r>
                        <a:rPr sz="900" b="0" dirty="0">
                          <a:solidFill>
                            <a:srgbClr val="212529"/>
                          </a:solidFill>
                          <a:latin typeface="Pretendard Medium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212529"/>
                          </a:solidFill>
                          <a:latin typeface="Pretendard Medium"/>
                        </a:rPr>
                        <a:t>또는</a:t>
                      </a:r>
                      <a:r>
                        <a:rPr sz="900" b="0" dirty="0">
                          <a:solidFill>
                            <a:srgbClr val="212529"/>
                          </a:solidFill>
                          <a:latin typeface="Pretendard Medium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212529"/>
                          </a:solidFill>
                          <a:latin typeface="Pretendard Medium"/>
                        </a:rPr>
                        <a:t>분리됩니다</a:t>
                      </a:r>
                      <a:r>
                        <a:rPr sz="900" b="0" dirty="0">
                          <a:solidFill>
                            <a:srgbClr val="212529"/>
                          </a:solidFill>
                          <a:latin typeface="Pretendard Medium"/>
                        </a:rPr>
                        <a:t>.</a:t>
                      </a:r>
                    </a:p>
                  </a:txBody>
                  <a:tcPr marL="73152" marR="73152" marT="36576" marB="36576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12" name="그룹 11">
            <a:extLst>
              <a:ext uri="{FF2B5EF4-FFF2-40B4-BE49-F238E27FC236}">
                <a16:creationId xmlns:a16="http://schemas.microsoft.com/office/drawing/2014/main" id="{238DF002-2A1C-C6B3-B203-ADA048E5A578}"/>
              </a:ext>
            </a:extLst>
          </p:cNvPr>
          <p:cNvGrpSpPr/>
          <p:nvPr/>
        </p:nvGrpSpPr>
        <p:grpSpPr>
          <a:xfrm>
            <a:off x="6263640" y="1113206"/>
            <a:ext cx="2187823" cy="3439160"/>
            <a:chOff x="6263640" y="1113206"/>
            <a:chExt cx="2187823" cy="3439160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C5B2DC88-193B-D126-696F-C058DC9FAB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63640" y="1113206"/>
              <a:ext cx="2187823" cy="3439160"/>
            </a:xfrm>
            <a:prstGeom prst="rect">
              <a:avLst/>
            </a:prstGeom>
          </p:spPr>
        </p:pic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11EE8D02-6D11-55A1-F041-696EB13C6836}"/>
                </a:ext>
              </a:extLst>
            </p:cNvPr>
            <p:cNvSpPr/>
            <p:nvPr/>
          </p:nvSpPr>
          <p:spPr>
            <a:xfrm>
              <a:off x="6263640" y="2527660"/>
              <a:ext cx="2187823" cy="1378711"/>
            </a:xfrm>
            <a:prstGeom prst="rect">
              <a:avLst/>
            </a:prstGeom>
            <a:noFill/>
            <a:ln w="12700">
              <a:solidFill>
                <a:srgbClr val="EE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109728"/>
            <a:ext cx="685800" cy="256032"/>
          </a:xfrm>
          <a:prstGeom prst="round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32588"/>
            <a:ext cx="68580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Pretendard SemiBold"/>
              </a:rPr>
              <a:t>Tab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5720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0">
                <a:solidFill>
                  <a:srgbClr val="343A40"/>
                </a:solidFill>
                <a:latin typeface="Pretendard SemiBold"/>
              </a:rPr>
              <a:t>대한통운 파일업로드 양식 다운로드 예시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8503920" cy="127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4800600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868E96"/>
                </a:solidFill>
                <a:latin typeface="Pretendard Light"/>
              </a:rPr>
              <a:t>K-gin bio Pharm Ltd. · 탕전주문 관리 시스템 · v1.4 / 프로그램 12.50 기준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78892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000" b="0">
                <a:latin typeface="Pretendard Medium"/>
              </a:rPr>
              <a:t>• </a:t>
            </a:r>
            <a:r>
              <a:rPr sz="1300" b="0">
                <a:solidFill>
                  <a:srgbClr val="212529"/>
                </a:solidFill>
                <a:latin typeface="Pretendard Medium"/>
              </a:rPr>
              <a:t>A열에 주문날짜가 추가됩니다. 시간은 제외하고 년-월-일만 표시합니다.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182112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000" b="0">
                <a:latin typeface="Pretendard Medium"/>
              </a:rPr>
              <a:t>• </a:t>
            </a:r>
            <a:r>
              <a:rPr sz="1300" b="0">
                <a:solidFill>
                  <a:srgbClr val="212529"/>
                </a:solidFill>
                <a:latin typeface="Pretendard Medium"/>
              </a:rPr>
              <a:t>발신 전화번호는 주문에 들어온 값보다 한의원 대표번호를 우선 반영합니다.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575304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000" b="0">
                <a:latin typeface="Pretendard Medium"/>
              </a:rPr>
              <a:t>• </a:t>
            </a:r>
            <a:r>
              <a:rPr sz="1300" b="0">
                <a:solidFill>
                  <a:srgbClr val="212529"/>
                </a:solidFill>
                <a:latin typeface="Pretendard Medium"/>
              </a:rPr>
              <a:t>고래한방은 관저·판암·세종 지점 구분 후 해당 지점 번호를 사용합니다.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968496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000" b="0">
                <a:latin typeface="Pretendard Medium"/>
              </a:rPr>
              <a:t>• </a:t>
            </a:r>
            <a:r>
              <a:rPr sz="1300" b="0">
                <a:solidFill>
                  <a:srgbClr val="212529"/>
                </a:solidFill>
                <a:latin typeface="Pretendard Medium"/>
              </a:rPr>
              <a:t>벌크 주문 중 30팩 이상은 별도 박스 대상이므로 CJ 업로드 양식에서 제외됩니다.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46FE2316-F4AC-864E-F6FB-C0548AB9F7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449" y="1656971"/>
            <a:ext cx="8364071" cy="49351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109728"/>
            <a:ext cx="685800" cy="256032"/>
          </a:xfrm>
          <a:prstGeom prst="round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32588"/>
            <a:ext cx="68580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Pretendard SemiBold"/>
              </a:rPr>
              <a:t>Tab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5720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0">
                <a:solidFill>
                  <a:srgbClr val="343A40"/>
                </a:solidFill>
                <a:latin typeface="Pretendard SemiBold"/>
              </a:rPr>
              <a:t>탕전 라벨 인쇄용 엑셀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8503920" cy="127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4800600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868E96"/>
                </a:solidFill>
                <a:latin typeface="Pretendard Light"/>
              </a:rPr>
              <a:t>K-gin bio Pharm Ltd. · 탕전주문 관리 시스템 · v1.4 / 프로그램 12.50 기준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62755" y="3815176"/>
            <a:ext cx="5944945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000" b="0" dirty="0">
                <a:latin typeface="Pretendard Medium"/>
              </a:rPr>
              <a:t>• </a:t>
            </a:r>
            <a:r>
              <a:rPr sz="1300" b="0" dirty="0">
                <a:solidFill>
                  <a:srgbClr val="212529"/>
                </a:solidFill>
                <a:latin typeface="Pretendard Medium"/>
              </a:rPr>
              <a:t>각 </a:t>
            </a:r>
            <a:r>
              <a:rPr sz="1300" b="0" dirty="0" err="1">
                <a:solidFill>
                  <a:srgbClr val="212529"/>
                </a:solidFill>
                <a:latin typeface="Pretendard Medium"/>
              </a:rPr>
              <a:t>한의원</a:t>
            </a:r>
            <a:r>
              <a:rPr sz="1300" b="0" dirty="0">
                <a:solidFill>
                  <a:srgbClr val="212529"/>
                </a:solidFill>
                <a:latin typeface="Pretendard Medium"/>
              </a:rPr>
              <a:t> </a:t>
            </a:r>
            <a:r>
              <a:rPr sz="1300" b="0" dirty="0" err="1">
                <a:solidFill>
                  <a:srgbClr val="212529"/>
                </a:solidFill>
                <a:latin typeface="Pretendard Medium"/>
              </a:rPr>
              <a:t>라벨</a:t>
            </a:r>
            <a:r>
              <a:rPr sz="1300" b="0" dirty="0">
                <a:solidFill>
                  <a:srgbClr val="212529"/>
                </a:solidFill>
                <a:latin typeface="Pretendard Medium"/>
              </a:rPr>
              <a:t> </a:t>
            </a:r>
            <a:r>
              <a:rPr sz="1300" b="0" dirty="0" err="1">
                <a:solidFill>
                  <a:srgbClr val="212529"/>
                </a:solidFill>
                <a:latin typeface="Pretendard Medium"/>
              </a:rPr>
              <a:t>출력에</a:t>
            </a:r>
            <a:r>
              <a:rPr sz="1300" b="0" dirty="0">
                <a:solidFill>
                  <a:srgbClr val="212529"/>
                </a:solidFill>
                <a:latin typeface="Pretendard Medium"/>
              </a:rPr>
              <a:t> </a:t>
            </a:r>
            <a:r>
              <a:rPr sz="1300" b="0" dirty="0" err="1">
                <a:solidFill>
                  <a:srgbClr val="212529"/>
                </a:solidFill>
                <a:latin typeface="Pretendard Medium"/>
              </a:rPr>
              <a:t>필요한</a:t>
            </a:r>
            <a:r>
              <a:rPr sz="1300" b="0" dirty="0">
                <a:solidFill>
                  <a:srgbClr val="212529"/>
                </a:solidFill>
                <a:latin typeface="Pretendard Medium"/>
              </a:rPr>
              <a:t> </a:t>
            </a:r>
            <a:r>
              <a:rPr sz="1300" b="0" dirty="0" err="1">
                <a:solidFill>
                  <a:srgbClr val="212529"/>
                </a:solidFill>
                <a:latin typeface="Pretendard Medium"/>
              </a:rPr>
              <a:t>항목만</a:t>
            </a:r>
            <a:r>
              <a:rPr sz="1300" b="0" dirty="0">
                <a:solidFill>
                  <a:srgbClr val="212529"/>
                </a:solidFill>
                <a:latin typeface="Pretendard Medium"/>
              </a:rPr>
              <a:t> </a:t>
            </a:r>
            <a:r>
              <a:rPr sz="1300" b="0" dirty="0" err="1">
                <a:solidFill>
                  <a:srgbClr val="212529"/>
                </a:solidFill>
                <a:latin typeface="Pretendard Medium"/>
              </a:rPr>
              <a:t>추출합니다</a:t>
            </a:r>
            <a:r>
              <a:rPr sz="1300" b="0" dirty="0">
                <a:solidFill>
                  <a:srgbClr val="212529"/>
                </a:solidFill>
                <a:latin typeface="Pretendard Medium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62755" y="4135216"/>
            <a:ext cx="5944945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000" b="0" dirty="0">
                <a:latin typeface="Pretendard Medium"/>
              </a:rPr>
              <a:t>• </a:t>
            </a:r>
            <a:r>
              <a:rPr sz="1300" b="0" dirty="0" err="1">
                <a:solidFill>
                  <a:srgbClr val="212529"/>
                </a:solidFill>
                <a:latin typeface="Pretendard Medium"/>
              </a:rPr>
              <a:t>고래한방_판암점은</a:t>
            </a:r>
            <a:r>
              <a:rPr sz="1300" b="0" dirty="0">
                <a:solidFill>
                  <a:srgbClr val="212529"/>
                </a:solidFill>
                <a:latin typeface="Pretendard Medium"/>
              </a:rPr>
              <a:t> </a:t>
            </a:r>
            <a:r>
              <a:rPr sz="1300" b="0" dirty="0" err="1">
                <a:solidFill>
                  <a:srgbClr val="212529"/>
                </a:solidFill>
                <a:latin typeface="Pretendard Medium"/>
              </a:rPr>
              <a:t>독자</a:t>
            </a:r>
            <a:r>
              <a:rPr sz="1300" b="0" dirty="0">
                <a:solidFill>
                  <a:srgbClr val="212529"/>
                </a:solidFill>
                <a:latin typeface="Pretendard Medium"/>
              </a:rPr>
              <a:t> </a:t>
            </a:r>
            <a:r>
              <a:rPr sz="1300" b="0" dirty="0" err="1">
                <a:solidFill>
                  <a:srgbClr val="212529"/>
                </a:solidFill>
                <a:latin typeface="Pretendard Medium"/>
              </a:rPr>
              <a:t>처방명</a:t>
            </a:r>
            <a:r>
              <a:rPr sz="1300" b="0" dirty="0">
                <a:solidFill>
                  <a:srgbClr val="212529"/>
                </a:solidFill>
                <a:latin typeface="Pretendard Medium"/>
              </a:rPr>
              <a:t> </a:t>
            </a:r>
            <a:r>
              <a:rPr sz="1300" b="0" dirty="0" err="1">
                <a:solidFill>
                  <a:srgbClr val="212529"/>
                </a:solidFill>
                <a:latin typeface="Pretendard Medium"/>
              </a:rPr>
              <a:t>반영을</a:t>
            </a:r>
            <a:r>
              <a:rPr sz="1300" b="0" dirty="0">
                <a:solidFill>
                  <a:srgbClr val="212529"/>
                </a:solidFill>
                <a:latin typeface="Pretendard Medium"/>
              </a:rPr>
              <a:t> </a:t>
            </a:r>
            <a:r>
              <a:rPr sz="1300" b="0" dirty="0" err="1">
                <a:solidFill>
                  <a:srgbClr val="212529"/>
                </a:solidFill>
                <a:latin typeface="Pretendard Medium"/>
              </a:rPr>
              <a:t>위해</a:t>
            </a:r>
            <a:r>
              <a:rPr sz="1300" b="0" dirty="0">
                <a:solidFill>
                  <a:srgbClr val="212529"/>
                </a:solidFill>
                <a:latin typeface="Pretendard Medium"/>
              </a:rPr>
              <a:t> </a:t>
            </a:r>
            <a:r>
              <a:rPr sz="1300" b="0" dirty="0" err="1">
                <a:solidFill>
                  <a:srgbClr val="212529"/>
                </a:solidFill>
                <a:latin typeface="Pretendard Medium"/>
              </a:rPr>
              <a:t>라벨코드</a:t>
            </a:r>
            <a:r>
              <a:rPr sz="1300" b="0" dirty="0">
                <a:solidFill>
                  <a:srgbClr val="212529"/>
                </a:solidFill>
                <a:latin typeface="Pretendard Medium"/>
              </a:rPr>
              <a:t> </a:t>
            </a:r>
            <a:r>
              <a:rPr sz="1300" b="0" dirty="0" err="1">
                <a:solidFill>
                  <a:srgbClr val="212529"/>
                </a:solidFill>
                <a:latin typeface="Pretendard Medium"/>
              </a:rPr>
              <a:t>열을</a:t>
            </a:r>
            <a:r>
              <a:rPr sz="1300" b="0" dirty="0">
                <a:solidFill>
                  <a:srgbClr val="212529"/>
                </a:solidFill>
                <a:latin typeface="Pretendard Medium"/>
              </a:rPr>
              <a:t> </a:t>
            </a:r>
            <a:r>
              <a:rPr sz="1300" b="0" dirty="0" err="1">
                <a:solidFill>
                  <a:srgbClr val="212529"/>
                </a:solidFill>
                <a:latin typeface="Pretendard Medium"/>
              </a:rPr>
              <a:t>포함합니다</a:t>
            </a:r>
            <a:r>
              <a:rPr sz="1300" b="0" dirty="0">
                <a:solidFill>
                  <a:srgbClr val="212529"/>
                </a:solidFill>
                <a:latin typeface="Pretendard Medium"/>
              </a:rPr>
              <a:t>.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7D581C4B-505D-08F2-E3E5-8874413A8D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755" y="1156865"/>
            <a:ext cx="5102744" cy="2439590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3DE5E5A7-3BBD-D8B7-B215-89810E30FB8F}"/>
              </a:ext>
            </a:extLst>
          </p:cNvPr>
          <p:cNvSpPr/>
          <p:nvPr/>
        </p:nvSpPr>
        <p:spPr>
          <a:xfrm>
            <a:off x="5992689" y="1156865"/>
            <a:ext cx="300536" cy="2439590"/>
          </a:xfrm>
          <a:prstGeom prst="rect">
            <a:avLst/>
          </a:prstGeom>
          <a:noFill/>
          <a:ln w="12700"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391B9F6-D7DD-49ED-A0CC-8AEC3C54F5C6}"/>
              </a:ext>
            </a:extLst>
          </p:cNvPr>
          <p:cNvSpPr txBox="1"/>
          <p:nvPr/>
        </p:nvSpPr>
        <p:spPr>
          <a:xfrm>
            <a:off x="1562755" y="4478339"/>
            <a:ext cx="5944945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US" altLang="ko-KR" sz="1000" b="0" dirty="0">
                <a:latin typeface="Pretendard Medium"/>
              </a:rPr>
              <a:t>※</a:t>
            </a:r>
            <a:r>
              <a:rPr lang="ko-KR" altLang="en-US" sz="1000" dirty="0">
                <a:latin typeface="Pretendard Medium"/>
              </a:rPr>
              <a:t> </a:t>
            </a:r>
            <a:r>
              <a:rPr lang="ko-KR" altLang="en-US" sz="1000" b="0" dirty="0">
                <a:latin typeface="Pretendard Medium"/>
              </a:rPr>
              <a:t>해당 라벨 인쇄를 위한 별도 라벨 인쇄 프로그램 개발 중입니다</a:t>
            </a:r>
            <a:r>
              <a:rPr lang="en-US" altLang="ko-KR" sz="1000" b="0" dirty="0">
                <a:latin typeface="Pretendard Medium"/>
              </a:rPr>
              <a:t>. </a:t>
            </a:r>
            <a:r>
              <a:rPr lang="ko-KR" altLang="en-US" sz="1000" b="0" dirty="0">
                <a:latin typeface="Pretendard Medium"/>
              </a:rPr>
              <a:t>추후 배포 예정입니다</a:t>
            </a:r>
            <a:r>
              <a:rPr lang="en-US" altLang="ko-KR" sz="1000" b="0" dirty="0">
                <a:latin typeface="Pretendard Medium"/>
              </a:rPr>
              <a:t>.</a:t>
            </a:r>
            <a:endParaRPr sz="1300" b="0" dirty="0">
              <a:solidFill>
                <a:srgbClr val="212529"/>
              </a:solidFill>
              <a:latin typeface="Pretendard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109728"/>
            <a:ext cx="685800" cy="256032"/>
          </a:xfrm>
          <a:prstGeom prst="round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32588"/>
            <a:ext cx="68580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Pretendard SemiBold"/>
              </a:rPr>
              <a:t>Tab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5720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0">
                <a:solidFill>
                  <a:srgbClr val="343A40"/>
                </a:solidFill>
                <a:latin typeface="Pretendard SemiBold"/>
              </a:rPr>
              <a:t>자동 인쇄 옵션 &amp; 출력 진단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8503920" cy="127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4800600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868E96"/>
                </a:solidFill>
                <a:latin typeface="Pretendard Light"/>
              </a:rPr>
              <a:t>K-gin bio Pharm Ltd. · 탕전주문 관리 시스템 · v1.4 / 프로그램 12.50 기준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1143000"/>
            <a:ext cx="393192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1143000"/>
            <a:ext cx="64008" cy="786384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4632" y="1261872"/>
            <a:ext cx="3657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212529"/>
                </a:solidFill>
                <a:latin typeface="Pretendard SemiBold"/>
              </a:rPr>
              <a:t>탕전주문내역서 자동 인쇄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1581912"/>
            <a:ext cx="3657600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495057"/>
                </a:solidFill>
                <a:latin typeface="Pretendard Medium"/>
              </a:rPr>
              <a:t>체크 시 수집 완료 후 주문내역서 인쇄 요청을 보냅니다.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2057400"/>
            <a:ext cx="393192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0040" y="2057400"/>
            <a:ext cx="64008" cy="786384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4632" y="2176272"/>
            <a:ext cx="3657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212529"/>
                </a:solidFill>
                <a:latin typeface="Pretendard SemiBold"/>
              </a:rPr>
              <a:t>조제지시서 자동 인쇄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" y="2496312"/>
            <a:ext cx="3657600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495057"/>
                </a:solidFill>
                <a:latin typeface="Pretendard Medium"/>
              </a:rPr>
              <a:t>체크 시 조제지시서 인쇄 요청을 보냅니다.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2971800"/>
            <a:ext cx="393192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20040" y="2971800"/>
            <a:ext cx="64008" cy="786384"/>
          </a:xfrm>
          <a:prstGeom prst="rect">
            <a:avLst/>
          </a:prstGeom>
          <a:solidFill>
            <a:srgbClr val="2F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4632" y="3090672"/>
            <a:ext cx="3657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212529"/>
                </a:solidFill>
                <a:latin typeface="Pretendard SemiBold"/>
              </a:rPr>
              <a:t>출력 순서 옵션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" y="3383167"/>
            <a:ext cx="3509144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dirty="0" err="1">
                <a:solidFill>
                  <a:srgbClr val="495057"/>
                </a:solidFill>
                <a:latin typeface="Pretendard Medium"/>
              </a:rPr>
              <a:t>한의원별</a:t>
            </a:r>
            <a:r>
              <a:rPr sz="1100" b="0" dirty="0">
                <a:solidFill>
                  <a:srgbClr val="495057"/>
                </a:solidFill>
                <a:latin typeface="Pretendard Medium"/>
              </a:rPr>
              <a:t> </a:t>
            </a:r>
            <a:r>
              <a:rPr sz="1100" b="0" dirty="0" err="1">
                <a:solidFill>
                  <a:srgbClr val="495057"/>
                </a:solidFill>
                <a:latin typeface="Pretendard Medium"/>
              </a:rPr>
              <a:t>묶음</a:t>
            </a:r>
            <a:r>
              <a:rPr sz="1100" b="0" dirty="0">
                <a:solidFill>
                  <a:srgbClr val="495057"/>
                </a:solidFill>
                <a:latin typeface="Pretendard Medium"/>
              </a:rPr>
              <a:t> </a:t>
            </a:r>
            <a:r>
              <a:rPr sz="1100" b="0" dirty="0" err="1">
                <a:solidFill>
                  <a:srgbClr val="495057"/>
                </a:solidFill>
                <a:latin typeface="Pretendard Medium"/>
              </a:rPr>
              <a:t>출력</a:t>
            </a:r>
            <a:r>
              <a:rPr sz="1100" b="0" dirty="0">
                <a:solidFill>
                  <a:srgbClr val="495057"/>
                </a:solidFill>
                <a:latin typeface="Pretendard Medium"/>
              </a:rPr>
              <a:t>, </a:t>
            </a:r>
            <a:r>
              <a:rPr sz="1100" b="0" dirty="0" err="1">
                <a:solidFill>
                  <a:srgbClr val="495057"/>
                </a:solidFill>
                <a:latin typeface="Pretendard Medium"/>
              </a:rPr>
              <a:t>입원</a:t>
            </a:r>
            <a:r>
              <a:rPr sz="1100" b="0" dirty="0">
                <a:solidFill>
                  <a:srgbClr val="495057"/>
                </a:solidFill>
                <a:latin typeface="Pretendard Medium"/>
              </a:rPr>
              <a:t> 건 </a:t>
            </a:r>
            <a:r>
              <a:rPr sz="1100" b="0" dirty="0" err="1">
                <a:solidFill>
                  <a:srgbClr val="495057"/>
                </a:solidFill>
                <a:latin typeface="Pretendard Medium"/>
              </a:rPr>
              <a:t>마지막</a:t>
            </a:r>
            <a:r>
              <a:rPr sz="1100" b="0" dirty="0">
                <a:solidFill>
                  <a:srgbClr val="495057"/>
                </a:solidFill>
                <a:latin typeface="Pretendard Medium"/>
              </a:rPr>
              <a:t> </a:t>
            </a:r>
            <a:r>
              <a:rPr sz="1100" b="0" dirty="0" err="1">
                <a:solidFill>
                  <a:srgbClr val="495057"/>
                </a:solidFill>
                <a:latin typeface="Pretendard Medium"/>
              </a:rPr>
              <a:t>별도</a:t>
            </a:r>
            <a:r>
              <a:rPr sz="1100" b="0" dirty="0">
                <a:solidFill>
                  <a:srgbClr val="495057"/>
                </a:solidFill>
                <a:latin typeface="Pretendard Medium"/>
              </a:rPr>
              <a:t> </a:t>
            </a:r>
            <a:r>
              <a:rPr sz="1100" b="0" dirty="0" err="1">
                <a:solidFill>
                  <a:srgbClr val="495057"/>
                </a:solidFill>
                <a:latin typeface="Pretendard Medium"/>
              </a:rPr>
              <a:t>출력</a:t>
            </a:r>
            <a:r>
              <a:rPr sz="1100" b="0" dirty="0">
                <a:solidFill>
                  <a:srgbClr val="495057"/>
                </a:solidFill>
                <a:latin typeface="Pretendard Medium"/>
              </a:rPr>
              <a:t> </a:t>
            </a:r>
            <a:r>
              <a:rPr sz="1100" b="0" dirty="0" err="1">
                <a:solidFill>
                  <a:srgbClr val="495057"/>
                </a:solidFill>
                <a:latin typeface="Pretendard Medium"/>
              </a:rPr>
              <a:t>옵션을</a:t>
            </a:r>
            <a:r>
              <a:rPr sz="1100" b="0" dirty="0">
                <a:solidFill>
                  <a:srgbClr val="495057"/>
                </a:solidFill>
                <a:latin typeface="Pretendard Medium"/>
              </a:rPr>
              <a:t> </a:t>
            </a:r>
            <a:r>
              <a:rPr sz="1100" b="0" dirty="0" err="1">
                <a:solidFill>
                  <a:srgbClr val="495057"/>
                </a:solidFill>
                <a:latin typeface="Pretendard Medium"/>
              </a:rPr>
              <a:t>사용할</a:t>
            </a:r>
            <a:r>
              <a:rPr sz="1100" b="0" dirty="0">
                <a:solidFill>
                  <a:srgbClr val="495057"/>
                </a:solidFill>
                <a:latin typeface="Pretendard Medium"/>
              </a:rPr>
              <a:t> 수 </a:t>
            </a:r>
            <a:r>
              <a:rPr sz="1100" b="0" dirty="0" err="1">
                <a:solidFill>
                  <a:srgbClr val="495057"/>
                </a:solidFill>
                <a:latin typeface="Pretendard Medium"/>
              </a:rPr>
              <a:t>있습니다</a:t>
            </a:r>
            <a:r>
              <a:rPr sz="1100" b="0" dirty="0">
                <a:solidFill>
                  <a:srgbClr val="495057"/>
                </a:solidFill>
                <a:latin typeface="Pretendard Medium"/>
              </a:rPr>
              <a:t>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" y="4014724"/>
            <a:ext cx="3931920" cy="566928"/>
          </a:xfrm>
          <a:prstGeom prst="roundRect">
            <a:avLst/>
          </a:prstGeom>
          <a:solidFill>
            <a:srgbClr val="FFF3BF"/>
          </a:solidFill>
          <a:ln w="9525">
            <a:solidFill>
              <a:srgbClr val="CF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47607" y="4171731"/>
            <a:ext cx="3904353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dirty="0" err="1">
                <a:solidFill>
                  <a:srgbClr val="5F4B00"/>
                </a:solidFill>
                <a:latin typeface="Pretendard Light"/>
              </a:rPr>
              <a:t>출력</a:t>
            </a:r>
            <a:r>
              <a:rPr sz="1000" b="0" dirty="0">
                <a:solidFill>
                  <a:srgbClr val="5F4B00"/>
                </a:solidFill>
                <a:latin typeface="Pretendard Light"/>
              </a:rPr>
              <a:t> </a:t>
            </a:r>
            <a:r>
              <a:rPr sz="1000" b="0" dirty="0" err="1">
                <a:solidFill>
                  <a:srgbClr val="5F4B00"/>
                </a:solidFill>
                <a:latin typeface="Pretendard Light"/>
              </a:rPr>
              <a:t>요청</a:t>
            </a:r>
            <a:r>
              <a:rPr sz="1000" b="0" dirty="0">
                <a:solidFill>
                  <a:srgbClr val="5F4B00"/>
                </a:solidFill>
                <a:latin typeface="Pretendard Light"/>
              </a:rPr>
              <a:t> </a:t>
            </a:r>
            <a:r>
              <a:rPr sz="1000" b="0" dirty="0" err="1">
                <a:solidFill>
                  <a:srgbClr val="5F4B00"/>
                </a:solidFill>
                <a:latin typeface="Pretendard Light"/>
              </a:rPr>
              <a:t>로그는</a:t>
            </a:r>
            <a:r>
              <a:rPr sz="1000" b="0" dirty="0">
                <a:solidFill>
                  <a:srgbClr val="5F4B00"/>
                </a:solidFill>
                <a:latin typeface="Pretendard Light"/>
              </a:rPr>
              <a:t> </a:t>
            </a:r>
            <a:r>
              <a:rPr sz="1000" b="0" dirty="0" err="1">
                <a:solidFill>
                  <a:srgbClr val="5F4B00"/>
                </a:solidFill>
                <a:latin typeface="Pretendard Light"/>
              </a:rPr>
              <a:t>실제</a:t>
            </a:r>
            <a:r>
              <a:rPr sz="1000" b="0" dirty="0">
                <a:solidFill>
                  <a:srgbClr val="5F4B00"/>
                </a:solidFill>
                <a:latin typeface="Pretendard Light"/>
              </a:rPr>
              <a:t> </a:t>
            </a:r>
            <a:r>
              <a:rPr sz="1000" b="0" dirty="0" err="1">
                <a:solidFill>
                  <a:srgbClr val="5F4B00"/>
                </a:solidFill>
                <a:latin typeface="Pretendard Light"/>
              </a:rPr>
              <a:t>종이</a:t>
            </a:r>
            <a:r>
              <a:rPr sz="1000" b="0" dirty="0">
                <a:solidFill>
                  <a:srgbClr val="5F4B00"/>
                </a:solidFill>
                <a:latin typeface="Pretendard Light"/>
              </a:rPr>
              <a:t> </a:t>
            </a:r>
            <a:r>
              <a:rPr sz="1000" b="0" dirty="0" err="1">
                <a:solidFill>
                  <a:srgbClr val="5F4B00"/>
                </a:solidFill>
                <a:latin typeface="Pretendard Light"/>
              </a:rPr>
              <a:t>출력</a:t>
            </a:r>
            <a:r>
              <a:rPr sz="1000" b="0" dirty="0">
                <a:solidFill>
                  <a:srgbClr val="5F4B00"/>
                </a:solidFill>
                <a:latin typeface="Pretendard Light"/>
              </a:rPr>
              <a:t> </a:t>
            </a:r>
            <a:r>
              <a:rPr sz="1000" b="0" dirty="0" err="1">
                <a:solidFill>
                  <a:srgbClr val="5F4B00"/>
                </a:solidFill>
                <a:latin typeface="Pretendard Light"/>
              </a:rPr>
              <a:t>완료가</a:t>
            </a:r>
            <a:r>
              <a:rPr sz="1000" b="0" dirty="0">
                <a:solidFill>
                  <a:srgbClr val="5F4B00"/>
                </a:solidFill>
                <a:latin typeface="Pretendard Light"/>
              </a:rPr>
              <a:t> </a:t>
            </a:r>
            <a:r>
              <a:rPr sz="1000" b="0" dirty="0" err="1">
                <a:solidFill>
                  <a:srgbClr val="5F4B00"/>
                </a:solidFill>
                <a:latin typeface="Pretendard Light"/>
              </a:rPr>
              <a:t>아니라</a:t>
            </a:r>
            <a:r>
              <a:rPr sz="1000" b="0" dirty="0">
                <a:solidFill>
                  <a:srgbClr val="5F4B00"/>
                </a:solidFill>
                <a:latin typeface="Pretendard Light"/>
              </a:rPr>
              <a:t> </a:t>
            </a:r>
            <a:r>
              <a:rPr sz="1000" b="0" dirty="0" err="1">
                <a:solidFill>
                  <a:srgbClr val="5F4B00"/>
                </a:solidFill>
                <a:latin typeface="Pretendard Light"/>
              </a:rPr>
              <a:t>브라우저</a:t>
            </a:r>
            <a:r>
              <a:rPr sz="1000" b="0" dirty="0">
                <a:solidFill>
                  <a:srgbClr val="5F4B00"/>
                </a:solidFill>
                <a:latin typeface="Pretendard Light"/>
              </a:rPr>
              <a:t> </a:t>
            </a:r>
            <a:r>
              <a:rPr sz="1000" b="0" dirty="0" err="1">
                <a:solidFill>
                  <a:srgbClr val="5F4B00"/>
                </a:solidFill>
                <a:latin typeface="Pretendard Light"/>
              </a:rPr>
              <a:t>인쇄</a:t>
            </a:r>
            <a:r>
              <a:rPr sz="1000" b="0" dirty="0">
                <a:solidFill>
                  <a:srgbClr val="5F4B00"/>
                </a:solidFill>
                <a:latin typeface="Pretendard Light"/>
              </a:rPr>
              <a:t> </a:t>
            </a:r>
            <a:r>
              <a:rPr sz="1000" b="0" dirty="0" err="1">
                <a:solidFill>
                  <a:srgbClr val="5F4B00"/>
                </a:solidFill>
                <a:latin typeface="Pretendard Light"/>
              </a:rPr>
              <a:t>요청</a:t>
            </a:r>
            <a:r>
              <a:rPr sz="1000" b="0" dirty="0">
                <a:solidFill>
                  <a:srgbClr val="5F4B00"/>
                </a:solidFill>
                <a:latin typeface="Pretendard Light"/>
              </a:rPr>
              <a:t> </a:t>
            </a:r>
            <a:r>
              <a:rPr sz="1000" b="0" dirty="0" err="1">
                <a:solidFill>
                  <a:srgbClr val="5F4B00"/>
                </a:solidFill>
                <a:latin typeface="Pretendard Light"/>
              </a:rPr>
              <a:t>기준입니다</a:t>
            </a:r>
            <a:r>
              <a:rPr sz="1000" b="0" dirty="0">
                <a:solidFill>
                  <a:srgbClr val="5F4B00"/>
                </a:solidFill>
                <a:latin typeface="Pretendard Light"/>
              </a:rPr>
              <a:t>. </a:t>
            </a:r>
            <a:r>
              <a:rPr sz="1000" b="0" dirty="0" err="1">
                <a:solidFill>
                  <a:srgbClr val="5F4B00"/>
                </a:solidFill>
                <a:latin typeface="Pretendard Light"/>
              </a:rPr>
              <a:t>누락</a:t>
            </a:r>
            <a:r>
              <a:rPr sz="1000" b="0" dirty="0">
                <a:solidFill>
                  <a:srgbClr val="5F4B00"/>
                </a:solidFill>
                <a:latin typeface="Pretendard Light"/>
              </a:rPr>
              <a:t> </a:t>
            </a:r>
            <a:r>
              <a:rPr sz="1000" b="0" dirty="0" err="1">
                <a:solidFill>
                  <a:srgbClr val="5F4B00"/>
                </a:solidFill>
                <a:latin typeface="Pretendard Light"/>
              </a:rPr>
              <a:t>의심</a:t>
            </a:r>
            <a:r>
              <a:rPr sz="1000" b="0" dirty="0">
                <a:solidFill>
                  <a:srgbClr val="5F4B00"/>
                </a:solidFill>
                <a:latin typeface="Pretendard Light"/>
              </a:rPr>
              <a:t> 시 </a:t>
            </a:r>
            <a:r>
              <a:rPr sz="1000" b="0" dirty="0" err="1">
                <a:solidFill>
                  <a:srgbClr val="5F4B00"/>
                </a:solidFill>
                <a:latin typeface="Pretendard Light"/>
              </a:rPr>
              <a:t>인쇄요청목록</a:t>
            </a:r>
            <a:r>
              <a:rPr sz="1000" b="0" dirty="0">
                <a:solidFill>
                  <a:srgbClr val="5F4B00"/>
                </a:solidFill>
                <a:latin typeface="Pretendard Light"/>
              </a:rPr>
              <a:t>/</a:t>
            </a:r>
            <a:r>
              <a:rPr sz="1000" b="0" dirty="0" err="1">
                <a:solidFill>
                  <a:srgbClr val="5F4B00"/>
                </a:solidFill>
                <a:latin typeface="Pretendard Light"/>
              </a:rPr>
              <a:t>인쇄결과목록을</a:t>
            </a:r>
            <a:r>
              <a:rPr sz="1000" b="0" dirty="0">
                <a:solidFill>
                  <a:srgbClr val="5F4B00"/>
                </a:solidFill>
                <a:latin typeface="Pretendard Light"/>
              </a:rPr>
              <a:t> </a:t>
            </a:r>
            <a:r>
              <a:rPr sz="1000" b="0" dirty="0" err="1">
                <a:solidFill>
                  <a:srgbClr val="5F4B00"/>
                </a:solidFill>
                <a:latin typeface="Pretendard Light"/>
              </a:rPr>
              <a:t>확인합니다</a:t>
            </a:r>
            <a:r>
              <a:rPr sz="1000" b="0" dirty="0">
                <a:solidFill>
                  <a:srgbClr val="5F4B00"/>
                </a:solidFill>
                <a:latin typeface="Pretendard Light"/>
              </a:rPr>
              <a:t>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45286" y="4014724"/>
            <a:ext cx="3904354" cy="566928"/>
          </a:xfrm>
          <a:prstGeom prst="roundRect">
            <a:avLst/>
          </a:prstGeom>
          <a:solidFill>
            <a:srgbClr val="EFF4FF"/>
          </a:solidFill>
          <a:ln w="7620">
            <a:solidFill>
              <a:srgbClr val="CF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72853" y="4148648"/>
            <a:ext cx="3825688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b="0" dirty="0">
                <a:solidFill>
                  <a:srgbClr val="1E3A8A"/>
                </a:solidFill>
                <a:latin typeface="Pretendard Light"/>
              </a:rPr>
              <a:t>[</a:t>
            </a:r>
            <a:r>
              <a:rPr sz="1000" b="0" dirty="0" err="1">
                <a:solidFill>
                  <a:srgbClr val="1E3A8A"/>
                </a:solidFill>
                <a:latin typeface="Pretendard Light"/>
              </a:rPr>
              <a:t>프린터</a:t>
            </a:r>
            <a:r>
              <a:rPr sz="1000" b="0" dirty="0">
                <a:solidFill>
                  <a:srgbClr val="1E3A8A"/>
                </a:solidFill>
                <a:latin typeface="Pretendard Light"/>
              </a:rPr>
              <a:t> </a:t>
            </a:r>
            <a:r>
              <a:rPr sz="1000" b="0" dirty="0" err="1">
                <a:solidFill>
                  <a:srgbClr val="1E3A8A"/>
                </a:solidFill>
                <a:latin typeface="Pretendard Light"/>
              </a:rPr>
              <a:t>선택</a:t>
            </a:r>
            <a:r>
              <a:rPr lang="en-US" sz="1000" b="0" dirty="0">
                <a:solidFill>
                  <a:srgbClr val="1E3A8A"/>
                </a:solidFill>
                <a:latin typeface="Pretendard Light"/>
              </a:rPr>
              <a:t>]</a:t>
            </a:r>
          </a:p>
          <a:p>
            <a:pPr algn="l"/>
            <a:r>
              <a:rPr sz="1000" b="0" dirty="0" err="1">
                <a:solidFill>
                  <a:srgbClr val="1E3A8A"/>
                </a:solidFill>
                <a:latin typeface="Pretendard Light"/>
              </a:rPr>
              <a:t>PC에</a:t>
            </a:r>
            <a:r>
              <a:rPr sz="1000" b="0" dirty="0">
                <a:solidFill>
                  <a:srgbClr val="1E3A8A"/>
                </a:solidFill>
                <a:latin typeface="Pretendard Light"/>
              </a:rPr>
              <a:t> </a:t>
            </a:r>
            <a:r>
              <a:rPr sz="1000" b="0" dirty="0" err="1">
                <a:solidFill>
                  <a:srgbClr val="1E3A8A"/>
                </a:solidFill>
                <a:latin typeface="Pretendard Light"/>
              </a:rPr>
              <a:t>설치된</a:t>
            </a:r>
            <a:r>
              <a:rPr sz="1000" b="0" dirty="0">
                <a:solidFill>
                  <a:srgbClr val="1E3A8A"/>
                </a:solidFill>
                <a:latin typeface="Pretendard Light"/>
              </a:rPr>
              <a:t> </a:t>
            </a:r>
            <a:r>
              <a:rPr sz="1000" b="0" dirty="0" err="1">
                <a:solidFill>
                  <a:srgbClr val="1E3A8A"/>
                </a:solidFill>
                <a:latin typeface="Pretendard Light"/>
              </a:rPr>
              <a:t>프린터</a:t>
            </a:r>
            <a:r>
              <a:rPr sz="1000" b="0" dirty="0">
                <a:solidFill>
                  <a:srgbClr val="1E3A8A"/>
                </a:solidFill>
                <a:latin typeface="Pretendard Light"/>
              </a:rPr>
              <a:t> 중 </a:t>
            </a:r>
            <a:r>
              <a:rPr sz="1000" b="0" dirty="0" err="1">
                <a:solidFill>
                  <a:srgbClr val="1E3A8A"/>
                </a:solidFill>
                <a:latin typeface="Pretendard Light"/>
              </a:rPr>
              <a:t>자동</a:t>
            </a:r>
            <a:r>
              <a:rPr sz="1000" b="0" dirty="0">
                <a:solidFill>
                  <a:srgbClr val="1E3A8A"/>
                </a:solidFill>
                <a:latin typeface="Pretendard Light"/>
              </a:rPr>
              <a:t> </a:t>
            </a:r>
            <a:r>
              <a:rPr sz="1000" b="0" dirty="0" err="1">
                <a:solidFill>
                  <a:srgbClr val="1E3A8A"/>
                </a:solidFill>
                <a:latin typeface="Pretendard Light"/>
              </a:rPr>
              <a:t>인쇄에</a:t>
            </a:r>
            <a:r>
              <a:rPr sz="1000" b="0" dirty="0">
                <a:solidFill>
                  <a:srgbClr val="1E3A8A"/>
                </a:solidFill>
                <a:latin typeface="Pretendard Light"/>
              </a:rPr>
              <a:t> </a:t>
            </a:r>
            <a:r>
              <a:rPr sz="1000" b="0" dirty="0" err="1">
                <a:solidFill>
                  <a:srgbClr val="1E3A8A"/>
                </a:solidFill>
                <a:latin typeface="Pretendard Light"/>
              </a:rPr>
              <a:t>사용할</a:t>
            </a:r>
            <a:r>
              <a:rPr sz="1000" b="0" dirty="0">
                <a:solidFill>
                  <a:srgbClr val="1E3A8A"/>
                </a:solidFill>
                <a:latin typeface="Pretendard Light"/>
              </a:rPr>
              <a:t> </a:t>
            </a:r>
            <a:r>
              <a:rPr sz="1000" b="0" dirty="0" err="1">
                <a:solidFill>
                  <a:srgbClr val="1E3A8A"/>
                </a:solidFill>
                <a:latin typeface="Pretendard Light"/>
              </a:rPr>
              <a:t>프린터를</a:t>
            </a:r>
            <a:r>
              <a:rPr sz="1000" b="0" dirty="0">
                <a:solidFill>
                  <a:srgbClr val="1E3A8A"/>
                </a:solidFill>
                <a:latin typeface="Pretendard Light"/>
              </a:rPr>
              <a:t> </a:t>
            </a:r>
            <a:r>
              <a:rPr sz="1000" b="0" dirty="0" err="1">
                <a:solidFill>
                  <a:srgbClr val="1E3A8A"/>
                </a:solidFill>
                <a:latin typeface="Pretendard Light"/>
              </a:rPr>
              <a:t>지정할</a:t>
            </a:r>
            <a:r>
              <a:rPr sz="1000" b="0" dirty="0">
                <a:solidFill>
                  <a:srgbClr val="1E3A8A"/>
                </a:solidFill>
                <a:latin typeface="Pretendard Light"/>
              </a:rPr>
              <a:t> 수 </a:t>
            </a:r>
            <a:r>
              <a:rPr sz="1000" b="0" dirty="0" err="1">
                <a:solidFill>
                  <a:srgbClr val="1E3A8A"/>
                </a:solidFill>
                <a:latin typeface="Pretendard Light"/>
              </a:rPr>
              <a:t>있습니다</a:t>
            </a:r>
            <a:r>
              <a:rPr sz="1000" b="0" dirty="0">
                <a:solidFill>
                  <a:srgbClr val="1E3A8A"/>
                </a:solidFill>
                <a:latin typeface="Pretendard Light"/>
              </a:rPr>
              <a:t>.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AB117970-CB03-4FED-BBB5-E1AB4BC62F35}"/>
              </a:ext>
            </a:extLst>
          </p:cNvPr>
          <p:cNvGrpSpPr/>
          <p:nvPr/>
        </p:nvGrpSpPr>
        <p:grpSpPr>
          <a:xfrm>
            <a:off x="4645286" y="1115568"/>
            <a:ext cx="3906750" cy="2488244"/>
            <a:chOff x="6263640" y="2493950"/>
            <a:chExt cx="2187823" cy="1393444"/>
          </a:xfrm>
        </p:grpSpPr>
        <p:pic>
          <p:nvPicPr>
            <p:cNvPr id="28" name="그림 27">
              <a:extLst>
                <a:ext uri="{FF2B5EF4-FFF2-40B4-BE49-F238E27FC236}">
                  <a16:creationId xmlns:a16="http://schemas.microsoft.com/office/drawing/2014/main" id="{BC4E9F32-A747-CB69-AA97-9AB26A8E95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40148" b="19335"/>
            <a:stretch>
              <a:fillRect/>
            </a:stretch>
          </p:blipFill>
          <p:spPr>
            <a:xfrm>
              <a:off x="6263640" y="2493950"/>
              <a:ext cx="2187823" cy="1393444"/>
            </a:xfrm>
            <a:prstGeom prst="rect">
              <a:avLst/>
            </a:prstGeom>
          </p:spPr>
        </p:pic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4C314A09-A298-5D26-29B2-3CB732B6158F}"/>
                </a:ext>
              </a:extLst>
            </p:cNvPr>
            <p:cNvSpPr/>
            <p:nvPr/>
          </p:nvSpPr>
          <p:spPr>
            <a:xfrm>
              <a:off x="7272821" y="2527660"/>
              <a:ext cx="1109382" cy="725751"/>
            </a:xfrm>
            <a:prstGeom prst="rect">
              <a:avLst/>
            </a:prstGeom>
            <a:noFill/>
            <a:ln w="12700">
              <a:solidFill>
                <a:srgbClr val="EE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109728"/>
            <a:ext cx="685800" cy="256032"/>
          </a:xfrm>
          <a:prstGeom prst="round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32588"/>
            <a:ext cx="68580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Pretendard SemiBold"/>
              </a:rPr>
              <a:t>Tab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5720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0">
                <a:solidFill>
                  <a:srgbClr val="343A40"/>
                </a:solidFill>
                <a:latin typeface="Pretendard SemiBold"/>
              </a:rPr>
              <a:t>송장번호 자동 입력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8503920" cy="127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4800600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868E96"/>
                </a:solidFill>
                <a:latin typeface="Pretendard Light"/>
              </a:rPr>
              <a:t>K-gin bio Pharm Ltd. · 탕전주문 관리 시스템 · v1.4 / 프로그램 12.50 기준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115568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495057"/>
                </a:solidFill>
                <a:latin typeface="Pretendard Medium"/>
              </a:rPr>
              <a:t>CJ 배송 상세내역 엑셀 파일을 업로드하면, 해당 주문에 송장번호를 자동 입력하고 상태를 발송으로 전환합니다.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65A72800-BF92-E6C4-4C76-0A539595FBD5}"/>
              </a:ext>
            </a:extLst>
          </p:cNvPr>
          <p:cNvGrpSpPr/>
          <p:nvPr/>
        </p:nvGrpSpPr>
        <p:grpSpPr>
          <a:xfrm>
            <a:off x="246888" y="1965960"/>
            <a:ext cx="5239512" cy="1051560"/>
            <a:chOff x="246888" y="1965960"/>
            <a:chExt cx="5239512" cy="1051560"/>
          </a:xfrm>
        </p:grpSpPr>
        <p:sp>
          <p:nvSpPr>
            <p:cNvPr id="13" name="Rectangle 19">
              <a:extLst>
                <a:ext uri="{FF2B5EF4-FFF2-40B4-BE49-F238E27FC236}">
                  <a16:creationId xmlns:a16="http://schemas.microsoft.com/office/drawing/2014/main" id="{630A2B24-CEC0-263C-484A-42C8FE9893ED}"/>
                </a:ext>
              </a:extLst>
            </p:cNvPr>
            <p:cNvSpPr/>
            <p:nvPr/>
          </p:nvSpPr>
          <p:spPr>
            <a:xfrm flipV="1">
              <a:off x="731521" y="2158744"/>
              <a:ext cx="4311126" cy="47753"/>
            </a:xfrm>
            <a:prstGeom prst="rect">
              <a:avLst/>
            </a:prstGeom>
            <a:solidFill>
              <a:srgbClr val="DEE2E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Oval 8"/>
            <p:cNvSpPr/>
            <p:nvPr/>
          </p:nvSpPr>
          <p:spPr>
            <a:xfrm>
              <a:off x="502920" y="1965960"/>
              <a:ext cx="438912" cy="438912"/>
            </a:xfrm>
            <a:prstGeom prst="ellipse">
              <a:avLst/>
            </a:prstGeom>
            <a:solidFill>
              <a:srgbClr val="3B5BD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1200" b="0">
                  <a:solidFill>
                    <a:srgbClr val="FFFFFF"/>
                  </a:solidFill>
                  <a:latin typeface="Pretendard SemiBold"/>
                </a:rPr>
                <a:t>1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46888" y="2635031"/>
              <a:ext cx="960120" cy="3077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00" b="0" dirty="0">
                  <a:solidFill>
                    <a:srgbClr val="212529"/>
                  </a:solidFill>
                  <a:latin typeface="Pretendard SemiBold"/>
                </a:rPr>
                <a:t>CJ </a:t>
              </a:r>
              <a:r>
                <a:rPr sz="1000" b="0" dirty="0" err="1">
                  <a:solidFill>
                    <a:srgbClr val="212529"/>
                  </a:solidFill>
                  <a:latin typeface="Pretendard SemiBold"/>
                </a:rPr>
                <a:t>상세내역</a:t>
              </a:r>
              <a:endParaRPr lang="en-US" sz="1000" dirty="0">
                <a:solidFill>
                  <a:srgbClr val="212529"/>
                </a:solidFill>
                <a:latin typeface="Pretendard SemiBold"/>
              </a:endParaRPr>
            </a:p>
            <a:p>
              <a:pPr algn="ctr"/>
              <a:r>
                <a:rPr sz="1000" b="0" dirty="0" err="1">
                  <a:solidFill>
                    <a:srgbClr val="212529"/>
                  </a:solidFill>
                  <a:latin typeface="Pretendard SemiBold"/>
                </a:rPr>
                <a:t>다운로드</a:t>
              </a:r>
              <a:endParaRPr sz="1000" b="0" dirty="0">
                <a:solidFill>
                  <a:srgbClr val="212529"/>
                </a:solidFill>
                <a:latin typeface="Pretendard SemiBold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1572768" y="1965960"/>
              <a:ext cx="438912" cy="438912"/>
            </a:xfrm>
            <a:prstGeom prst="ellipse">
              <a:avLst/>
            </a:prstGeom>
            <a:solidFill>
              <a:srgbClr val="3B5BD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1200" b="0">
                  <a:solidFill>
                    <a:srgbClr val="FFFFFF"/>
                  </a:solidFill>
                  <a:latin typeface="Pretendard SemiBold"/>
                </a:rPr>
                <a:t>2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316736" y="2560320"/>
              <a:ext cx="960120" cy="4572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00" b="0">
                  <a:solidFill>
                    <a:srgbClr val="212529"/>
                  </a:solidFill>
                  <a:latin typeface="Pretendard SemiBold"/>
                </a:rPr>
                <a:t>날짜 범위 설정</a:t>
              </a:r>
            </a:p>
          </p:txBody>
        </p:sp>
        <p:sp>
          <p:nvSpPr>
            <p:cNvPr id="15" name="Oval 14"/>
            <p:cNvSpPr/>
            <p:nvPr/>
          </p:nvSpPr>
          <p:spPr>
            <a:xfrm>
              <a:off x="2642615" y="1965960"/>
              <a:ext cx="438912" cy="438912"/>
            </a:xfrm>
            <a:prstGeom prst="ellipse">
              <a:avLst/>
            </a:prstGeom>
            <a:solidFill>
              <a:srgbClr val="3B5BD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1200" b="0">
                  <a:solidFill>
                    <a:srgbClr val="FFFFFF"/>
                  </a:solidFill>
                  <a:latin typeface="Pretendard SemiBold"/>
                </a:rPr>
                <a:t>3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386583" y="2560320"/>
              <a:ext cx="960120" cy="4572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00" b="0">
                  <a:solidFill>
                    <a:srgbClr val="212529"/>
                  </a:solidFill>
                  <a:latin typeface="Pretendard SemiBold"/>
                </a:rPr>
                <a:t>파일 선택</a:t>
              </a:r>
            </a:p>
          </p:txBody>
        </p:sp>
        <p:sp>
          <p:nvSpPr>
            <p:cNvPr id="18" name="Oval 17"/>
            <p:cNvSpPr/>
            <p:nvPr/>
          </p:nvSpPr>
          <p:spPr>
            <a:xfrm>
              <a:off x="3712463" y="1965960"/>
              <a:ext cx="438912" cy="438912"/>
            </a:xfrm>
            <a:prstGeom prst="ellipse">
              <a:avLst/>
            </a:prstGeom>
            <a:solidFill>
              <a:srgbClr val="3B5BD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1200" b="0">
                  <a:solidFill>
                    <a:srgbClr val="FFFFFF"/>
                  </a:solidFill>
                  <a:latin typeface="Pretendard SemiBold"/>
                </a:rPr>
                <a:t>4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456431" y="2560320"/>
              <a:ext cx="960120" cy="4572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00" b="0">
                  <a:solidFill>
                    <a:srgbClr val="212529"/>
                  </a:solidFill>
                  <a:latin typeface="Pretendard SemiBold"/>
                </a:rPr>
                <a:t>실행 클릭</a:t>
              </a:r>
            </a:p>
          </p:txBody>
        </p:sp>
        <p:sp>
          <p:nvSpPr>
            <p:cNvPr id="21" name="Oval 20"/>
            <p:cNvSpPr/>
            <p:nvPr/>
          </p:nvSpPr>
          <p:spPr>
            <a:xfrm>
              <a:off x="4782312" y="1965960"/>
              <a:ext cx="438912" cy="438912"/>
            </a:xfrm>
            <a:prstGeom prst="ellipse">
              <a:avLst/>
            </a:prstGeom>
            <a:solidFill>
              <a:srgbClr val="3B5BD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1200" b="0">
                  <a:solidFill>
                    <a:srgbClr val="FFFFFF"/>
                  </a:solidFill>
                  <a:latin typeface="Pretendard SemiBold"/>
                </a:rPr>
                <a:t>5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526280" y="2560320"/>
              <a:ext cx="960120" cy="4572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00" b="0">
                  <a:solidFill>
                    <a:srgbClr val="212529"/>
                  </a:solidFill>
                  <a:latin typeface="Pretendard SemiBold"/>
                </a:rPr>
                <a:t>결과 확인</a:t>
              </a:r>
            </a:p>
          </p:txBody>
        </p:sp>
      </p:grpSp>
      <p:sp>
        <p:nvSpPr>
          <p:cNvPr id="27" name="Rounded Rectangle 26"/>
          <p:cNvSpPr/>
          <p:nvPr/>
        </p:nvSpPr>
        <p:spPr>
          <a:xfrm>
            <a:off x="320040" y="3977639"/>
            <a:ext cx="5349240" cy="502920"/>
          </a:xfrm>
          <a:prstGeom prst="roundRect">
            <a:avLst/>
          </a:prstGeom>
          <a:solidFill>
            <a:srgbClr val="FFF3BF"/>
          </a:solidFill>
          <a:ln w="9525">
            <a:solidFill>
              <a:srgbClr val="CF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4102642"/>
            <a:ext cx="4888006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dirty="0" err="1">
                <a:solidFill>
                  <a:srgbClr val="5F4B00"/>
                </a:solidFill>
                <a:latin typeface="Pretendard Medium"/>
              </a:rPr>
              <a:t>주의</a:t>
            </a:r>
            <a:r>
              <a:rPr sz="1000" b="0" dirty="0">
                <a:solidFill>
                  <a:srgbClr val="5F4B00"/>
                </a:solidFill>
                <a:latin typeface="Pretendard Medium"/>
              </a:rPr>
              <a:t>: </a:t>
            </a:r>
            <a:r>
              <a:rPr sz="1000" b="0" dirty="0" err="1">
                <a:solidFill>
                  <a:srgbClr val="5F4B00"/>
                </a:solidFill>
                <a:latin typeface="Pretendard Medium"/>
              </a:rPr>
              <a:t>기존</a:t>
            </a:r>
            <a:r>
              <a:rPr sz="1000" b="0" dirty="0">
                <a:solidFill>
                  <a:srgbClr val="5F4B00"/>
                </a:solidFill>
                <a:latin typeface="Pretendard Medium"/>
              </a:rPr>
              <a:t> </a:t>
            </a:r>
            <a:r>
              <a:rPr sz="1000" b="0" dirty="0" err="1">
                <a:solidFill>
                  <a:srgbClr val="5F4B00"/>
                </a:solidFill>
                <a:latin typeface="Pretendard Medium"/>
              </a:rPr>
              <a:t>송장번호와</a:t>
            </a:r>
            <a:r>
              <a:rPr sz="1000" b="0" dirty="0">
                <a:solidFill>
                  <a:srgbClr val="5F4B00"/>
                </a:solidFill>
                <a:latin typeface="Pretendard Medium"/>
              </a:rPr>
              <a:t> </a:t>
            </a:r>
            <a:r>
              <a:rPr sz="1000" b="0" dirty="0" err="1">
                <a:solidFill>
                  <a:srgbClr val="5F4B00"/>
                </a:solidFill>
                <a:latin typeface="Pretendard Medium"/>
              </a:rPr>
              <a:t>업로드</a:t>
            </a:r>
            <a:r>
              <a:rPr sz="1000" b="0" dirty="0">
                <a:solidFill>
                  <a:srgbClr val="5F4B00"/>
                </a:solidFill>
                <a:latin typeface="Pretendard Medium"/>
              </a:rPr>
              <a:t> </a:t>
            </a:r>
            <a:r>
              <a:rPr sz="1000" b="0" dirty="0" err="1">
                <a:solidFill>
                  <a:srgbClr val="5F4B00"/>
                </a:solidFill>
                <a:latin typeface="Pretendard Medium"/>
              </a:rPr>
              <a:t>파일</a:t>
            </a:r>
            <a:r>
              <a:rPr sz="1000" b="0" dirty="0">
                <a:solidFill>
                  <a:srgbClr val="5F4B00"/>
                </a:solidFill>
                <a:latin typeface="Pretendard Medium"/>
              </a:rPr>
              <a:t> </a:t>
            </a:r>
            <a:r>
              <a:rPr sz="1000" b="0" dirty="0" err="1">
                <a:solidFill>
                  <a:srgbClr val="5F4B00"/>
                </a:solidFill>
                <a:latin typeface="Pretendard Medium"/>
              </a:rPr>
              <a:t>번호가</a:t>
            </a:r>
            <a:r>
              <a:rPr sz="1000" b="0" dirty="0">
                <a:solidFill>
                  <a:srgbClr val="5F4B00"/>
                </a:solidFill>
                <a:latin typeface="Pretendard Medium"/>
              </a:rPr>
              <a:t> </a:t>
            </a:r>
            <a:r>
              <a:rPr sz="1000" b="0" dirty="0" err="1">
                <a:solidFill>
                  <a:srgbClr val="5F4B00"/>
                </a:solidFill>
                <a:latin typeface="Pretendard Medium"/>
              </a:rPr>
              <a:t>다르면</a:t>
            </a:r>
            <a:r>
              <a:rPr sz="1000" b="0" dirty="0">
                <a:solidFill>
                  <a:srgbClr val="5F4B00"/>
                </a:solidFill>
                <a:latin typeface="Pretendard Medium"/>
              </a:rPr>
              <a:t> </a:t>
            </a:r>
            <a:r>
              <a:rPr sz="1000" b="0" dirty="0" err="1">
                <a:solidFill>
                  <a:srgbClr val="5F4B00"/>
                </a:solidFill>
                <a:latin typeface="Pretendard Medium"/>
              </a:rPr>
              <a:t>오류가</a:t>
            </a:r>
            <a:r>
              <a:rPr sz="1000" b="0" dirty="0">
                <a:solidFill>
                  <a:srgbClr val="5F4B00"/>
                </a:solidFill>
                <a:latin typeface="Pretendard Medium"/>
              </a:rPr>
              <a:t> 날 수 </a:t>
            </a:r>
            <a:r>
              <a:rPr sz="1000" b="0" dirty="0" err="1">
                <a:solidFill>
                  <a:srgbClr val="5F4B00"/>
                </a:solidFill>
                <a:latin typeface="Pretendard Medium"/>
              </a:rPr>
              <a:t>있습니다</a:t>
            </a:r>
            <a:r>
              <a:rPr sz="1000" b="0" dirty="0">
                <a:solidFill>
                  <a:srgbClr val="5F4B00"/>
                </a:solidFill>
                <a:latin typeface="Pretendard Medium"/>
              </a:rPr>
              <a:t>.</a:t>
            </a:r>
            <a:endParaRPr lang="en-US" sz="1000" b="0" dirty="0">
              <a:solidFill>
                <a:srgbClr val="5F4B00"/>
              </a:solidFill>
              <a:latin typeface="Pretendard Medium"/>
            </a:endParaRPr>
          </a:p>
          <a:p>
            <a:pPr algn="l"/>
            <a:r>
              <a:rPr sz="1000" b="0" dirty="0" err="1">
                <a:solidFill>
                  <a:srgbClr val="5F4B00"/>
                </a:solidFill>
                <a:latin typeface="Pretendard Medium"/>
              </a:rPr>
              <a:t>파일을</a:t>
            </a:r>
            <a:r>
              <a:rPr sz="1000" b="0" dirty="0">
                <a:solidFill>
                  <a:srgbClr val="5F4B00"/>
                </a:solidFill>
                <a:latin typeface="Pretendard Medium"/>
              </a:rPr>
              <a:t> </a:t>
            </a:r>
            <a:r>
              <a:rPr sz="1000" b="0" dirty="0" err="1">
                <a:solidFill>
                  <a:srgbClr val="5F4B00"/>
                </a:solidFill>
                <a:latin typeface="Pretendard Medium"/>
              </a:rPr>
              <a:t>다시</a:t>
            </a:r>
            <a:r>
              <a:rPr sz="1000" b="0" dirty="0">
                <a:solidFill>
                  <a:srgbClr val="5F4B00"/>
                </a:solidFill>
                <a:latin typeface="Pretendard Medium"/>
              </a:rPr>
              <a:t> </a:t>
            </a:r>
            <a:r>
              <a:rPr sz="1000" b="0" dirty="0" err="1">
                <a:solidFill>
                  <a:srgbClr val="5F4B00"/>
                </a:solidFill>
                <a:latin typeface="Pretendard Medium"/>
              </a:rPr>
              <a:t>다운로드해</a:t>
            </a:r>
            <a:r>
              <a:rPr sz="1000" b="0" dirty="0">
                <a:solidFill>
                  <a:srgbClr val="5F4B00"/>
                </a:solidFill>
                <a:latin typeface="Pretendard Medium"/>
              </a:rPr>
              <a:t> </a:t>
            </a:r>
            <a:r>
              <a:rPr sz="1000" b="0" dirty="0" err="1">
                <a:solidFill>
                  <a:srgbClr val="5F4B00"/>
                </a:solidFill>
                <a:latin typeface="Pretendard Medium"/>
              </a:rPr>
              <a:t>확인하세요</a:t>
            </a:r>
            <a:r>
              <a:rPr sz="1000" b="0" dirty="0">
                <a:solidFill>
                  <a:srgbClr val="5F4B00"/>
                </a:solidFill>
                <a:latin typeface="Pretendard Medium"/>
              </a:rPr>
              <a:t>.</a:t>
            </a: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ACCBE16D-0169-04E7-50BD-C212D0B71BB1}"/>
              </a:ext>
            </a:extLst>
          </p:cNvPr>
          <p:cNvGrpSpPr/>
          <p:nvPr/>
        </p:nvGrpSpPr>
        <p:grpSpPr>
          <a:xfrm>
            <a:off x="6245448" y="1101852"/>
            <a:ext cx="2141286" cy="3366007"/>
            <a:chOff x="6245448" y="1101852"/>
            <a:chExt cx="2141286" cy="3366007"/>
          </a:xfrm>
        </p:grpSpPr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67E204EC-0F7E-DABF-3175-1A131B4C98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45448" y="1101852"/>
              <a:ext cx="2141286" cy="3366007"/>
            </a:xfrm>
            <a:prstGeom prst="rect">
              <a:avLst/>
            </a:prstGeom>
          </p:spPr>
        </p:pic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1591AA4C-72DF-434B-52FA-99F938134A65}"/>
                </a:ext>
              </a:extLst>
            </p:cNvPr>
            <p:cNvSpPr/>
            <p:nvPr/>
          </p:nvSpPr>
          <p:spPr>
            <a:xfrm>
              <a:off x="6258389" y="1242747"/>
              <a:ext cx="2126753" cy="915997"/>
            </a:xfrm>
            <a:prstGeom prst="rect">
              <a:avLst/>
            </a:prstGeom>
            <a:noFill/>
            <a:ln w="12700">
              <a:solidFill>
                <a:srgbClr val="EE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109728"/>
            <a:ext cx="685800" cy="256032"/>
          </a:xfrm>
          <a:prstGeom prst="round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32588"/>
            <a:ext cx="68580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Pretendard SemiBold"/>
              </a:rPr>
              <a:t>Tab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5720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0">
                <a:solidFill>
                  <a:srgbClr val="343A40"/>
                </a:solidFill>
                <a:latin typeface="Pretendard SemiBold"/>
              </a:rPr>
              <a:t>벌크 주문 발송처리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8503920" cy="127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4800600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868E96"/>
                </a:solidFill>
                <a:latin typeface="Pretendard Light"/>
              </a:rPr>
              <a:t>K-gin bio Pharm Ltd. · 탕전주문 관리 시스템 · v1.4 / 프로그램 12.50 기준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39" y="1134969"/>
            <a:ext cx="5556325" cy="4001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dirty="0" err="1">
                <a:solidFill>
                  <a:srgbClr val="495057"/>
                </a:solidFill>
                <a:latin typeface="Pretendard Medium"/>
              </a:rPr>
              <a:t>고래한방</a:t>
            </a:r>
            <a:r>
              <a:rPr sz="1300" b="0" dirty="0">
                <a:solidFill>
                  <a:srgbClr val="495057"/>
                </a:solidFill>
                <a:latin typeface="Pretendard Medium"/>
              </a:rPr>
              <a:t> </a:t>
            </a:r>
            <a:r>
              <a:rPr sz="1300" b="0" dirty="0" err="1">
                <a:solidFill>
                  <a:srgbClr val="495057"/>
                </a:solidFill>
                <a:latin typeface="Pretendard Medium"/>
              </a:rPr>
              <a:t>입원</a:t>
            </a:r>
            <a:r>
              <a:rPr sz="1300" b="0" dirty="0">
                <a:solidFill>
                  <a:srgbClr val="495057"/>
                </a:solidFill>
                <a:latin typeface="Pretendard Medium"/>
              </a:rPr>
              <a:t>/</a:t>
            </a:r>
            <a:r>
              <a:rPr sz="1300" b="0" dirty="0" err="1">
                <a:solidFill>
                  <a:srgbClr val="495057"/>
                </a:solidFill>
                <a:latin typeface="Pretendard Medium"/>
              </a:rPr>
              <a:t>벌크</a:t>
            </a:r>
            <a:r>
              <a:rPr sz="1300" b="0" dirty="0">
                <a:solidFill>
                  <a:srgbClr val="495057"/>
                </a:solidFill>
                <a:latin typeface="Pretendard Medium"/>
              </a:rPr>
              <a:t> </a:t>
            </a:r>
            <a:r>
              <a:rPr sz="1300" b="0" dirty="0" err="1">
                <a:solidFill>
                  <a:srgbClr val="495057"/>
                </a:solidFill>
                <a:latin typeface="Pretendard Medium"/>
              </a:rPr>
              <a:t>주문은</a:t>
            </a:r>
            <a:r>
              <a:rPr sz="1300" b="0" dirty="0">
                <a:solidFill>
                  <a:srgbClr val="495057"/>
                </a:solidFill>
                <a:latin typeface="Pretendard Medium"/>
              </a:rPr>
              <a:t> </a:t>
            </a:r>
            <a:r>
              <a:rPr sz="1300" b="0" dirty="0" err="1">
                <a:solidFill>
                  <a:srgbClr val="495057"/>
                </a:solidFill>
                <a:latin typeface="Pretendard Medium"/>
              </a:rPr>
              <a:t>일반</a:t>
            </a:r>
            <a:r>
              <a:rPr sz="1300" b="0" dirty="0">
                <a:solidFill>
                  <a:srgbClr val="495057"/>
                </a:solidFill>
                <a:latin typeface="Pretendard Medium"/>
              </a:rPr>
              <a:t> </a:t>
            </a:r>
            <a:r>
              <a:rPr sz="1300" b="0" dirty="0" err="1">
                <a:solidFill>
                  <a:srgbClr val="495057"/>
                </a:solidFill>
                <a:latin typeface="Pretendard Medium"/>
              </a:rPr>
              <a:t>택배</a:t>
            </a:r>
            <a:r>
              <a:rPr sz="1300" b="0" dirty="0">
                <a:solidFill>
                  <a:srgbClr val="495057"/>
                </a:solidFill>
                <a:latin typeface="Pretendard Medium"/>
              </a:rPr>
              <a:t> </a:t>
            </a:r>
            <a:r>
              <a:rPr sz="1300" b="0" dirty="0" err="1">
                <a:solidFill>
                  <a:srgbClr val="495057"/>
                </a:solidFill>
                <a:latin typeface="Pretendard Medium"/>
              </a:rPr>
              <a:t>업로드와</a:t>
            </a:r>
            <a:r>
              <a:rPr sz="1300" b="0" dirty="0">
                <a:solidFill>
                  <a:srgbClr val="495057"/>
                </a:solidFill>
                <a:latin typeface="Pretendard Medium"/>
              </a:rPr>
              <a:t> </a:t>
            </a:r>
            <a:r>
              <a:rPr sz="1300" b="0" dirty="0" err="1">
                <a:solidFill>
                  <a:srgbClr val="495057"/>
                </a:solidFill>
                <a:latin typeface="Pretendard Medium"/>
              </a:rPr>
              <a:t>분리해서</a:t>
            </a:r>
            <a:r>
              <a:rPr sz="1300" b="0" dirty="0">
                <a:solidFill>
                  <a:srgbClr val="495057"/>
                </a:solidFill>
                <a:latin typeface="Pretendard Medium"/>
              </a:rPr>
              <a:t> </a:t>
            </a:r>
            <a:r>
              <a:rPr sz="1300" b="0" dirty="0" err="1">
                <a:solidFill>
                  <a:srgbClr val="495057"/>
                </a:solidFill>
                <a:latin typeface="Pretendard Medium"/>
              </a:rPr>
              <a:t>관리합니다</a:t>
            </a:r>
            <a:r>
              <a:rPr sz="1300" b="0" dirty="0">
                <a:solidFill>
                  <a:srgbClr val="495057"/>
                </a:solidFill>
                <a:latin typeface="Pretendard Medium"/>
              </a:rPr>
              <a:t>. </a:t>
            </a:r>
            <a:r>
              <a:rPr sz="1300" b="0" dirty="0" err="1">
                <a:solidFill>
                  <a:srgbClr val="495057"/>
                </a:solidFill>
                <a:latin typeface="Pretendard Medium"/>
              </a:rPr>
              <a:t>세종점</a:t>
            </a:r>
            <a:r>
              <a:rPr sz="1300" b="0" dirty="0">
                <a:solidFill>
                  <a:srgbClr val="495057"/>
                </a:solidFill>
                <a:latin typeface="Pretendard Medium"/>
              </a:rPr>
              <a:t> </a:t>
            </a:r>
            <a:r>
              <a:rPr sz="1300" b="0" dirty="0" err="1">
                <a:solidFill>
                  <a:srgbClr val="495057"/>
                </a:solidFill>
                <a:latin typeface="Pretendard Medium"/>
              </a:rPr>
              <a:t>케이스도</a:t>
            </a:r>
            <a:r>
              <a:rPr sz="1300" b="0" dirty="0">
                <a:solidFill>
                  <a:srgbClr val="495057"/>
                </a:solidFill>
                <a:latin typeface="Pretendard Medium"/>
              </a:rPr>
              <a:t> </a:t>
            </a:r>
            <a:r>
              <a:rPr sz="1300" b="0" dirty="0" err="1">
                <a:solidFill>
                  <a:srgbClr val="495057"/>
                </a:solidFill>
                <a:latin typeface="Pretendard Medium"/>
              </a:rPr>
              <a:t>주문</a:t>
            </a:r>
            <a:r>
              <a:rPr sz="1300" b="0" dirty="0">
                <a:solidFill>
                  <a:srgbClr val="495057"/>
                </a:solidFill>
                <a:latin typeface="Pretendard Medium"/>
              </a:rPr>
              <a:t> </a:t>
            </a:r>
            <a:r>
              <a:rPr sz="1300" b="0" dirty="0" err="1">
                <a:solidFill>
                  <a:srgbClr val="495057"/>
                </a:solidFill>
                <a:latin typeface="Pretendard Medium"/>
              </a:rPr>
              <a:t>확인</a:t>
            </a:r>
            <a:r>
              <a:rPr sz="1300" b="0" dirty="0">
                <a:solidFill>
                  <a:srgbClr val="495057"/>
                </a:solidFill>
                <a:latin typeface="Pretendard Medium"/>
              </a:rPr>
              <a:t> 시 </a:t>
            </a:r>
            <a:r>
              <a:rPr sz="1300" b="0" dirty="0" err="1">
                <a:solidFill>
                  <a:srgbClr val="495057"/>
                </a:solidFill>
                <a:latin typeface="Pretendard Medium"/>
              </a:rPr>
              <a:t>함께</a:t>
            </a:r>
            <a:r>
              <a:rPr sz="1300" b="0" dirty="0">
                <a:solidFill>
                  <a:srgbClr val="495057"/>
                </a:solidFill>
                <a:latin typeface="Pretendard Medium"/>
              </a:rPr>
              <a:t> </a:t>
            </a:r>
            <a:r>
              <a:rPr sz="1300" b="0" dirty="0" err="1">
                <a:solidFill>
                  <a:srgbClr val="495057"/>
                </a:solidFill>
                <a:latin typeface="Pretendard Medium"/>
              </a:rPr>
              <a:t>반영됩니다</a:t>
            </a:r>
            <a:r>
              <a:rPr sz="1300" b="0" dirty="0">
                <a:solidFill>
                  <a:srgbClr val="495057"/>
                </a:solidFill>
                <a:latin typeface="Pretendard Medium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783080"/>
            <a:ext cx="260604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1783080"/>
            <a:ext cx="64008" cy="932688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4632" y="1901952"/>
            <a:ext cx="23317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212529"/>
                </a:solidFill>
                <a:latin typeface="Pretendard SemiBold"/>
              </a:rPr>
              <a:t>대상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2221992"/>
            <a:ext cx="2331720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495057"/>
                </a:solidFill>
                <a:latin typeface="Pretendard Medium"/>
              </a:rPr>
              <a:t>고래한방병원 주문 중 한의원으로 택배 발송되는 벌크/입원 관련 주문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54680" y="1783080"/>
            <a:ext cx="260604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154680" y="1783080"/>
            <a:ext cx="64008" cy="932688"/>
          </a:xfrm>
          <a:prstGeom prst="rect">
            <a:avLst/>
          </a:prstGeom>
          <a:solidFill>
            <a:srgbClr val="2F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19272" y="1901952"/>
            <a:ext cx="23317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212529"/>
                </a:solidFill>
                <a:latin typeface="Pretendard SemiBold"/>
              </a:rPr>
              <a:t>지점 분류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19272" y="2221992"/>
            <a:ext cx="2331720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495057"/>
                </a:solidFill>
                <a:latin typeface="Pretendard Light"/>
              </a:rPr>
              <a:t>주소/주문자 기준으로 관저점, 판암점, 세종점을 구분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2907792"/>
            <a:ext cx="260604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0040" y="2907792"/>
            <a:ext cx="64008" cy="932688"/>
          </a:xfrm>
          <a:prstGeom prst="rect">
            <a:avLst/>
          </a:prstGeom>
          <a:solidFill>
            <a:srgbClr val="E03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4632" y="3026664"/>
            <a:ext cx="23317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212529"/>
                </a:solidFill>
                <a:latin typeface="Pretendard SemiBold"/>
              </a:rPr>
              <a:t>30팩 이상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" y="3346704"/>
            <a:ext cx="2331720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495057"/>
                </a:solidFill>
                <a:latin typeface="Pretendard Medium"/>
              </a:rPr>
              <a:t>별도 박스 대상이므로 대한통운 파일 업로드 양식에서 제외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54680" y="2907792"/>
            <a:ext cx="260604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154680" y="2907792"/>
            <a:ext cx="64008" cy="932688"/>
          </a:xfrm>
          <a:prstGeom prst="rect">
            <a:avLst/>
          </a:prstGeom>
          <a:solidFill>
            <a:srgbClr val="2F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319272" y="3026664"/>
            <a:ext cx="23317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212529"/>
                </a:solidFill>
                <a:latin typeface="Pretendard SemiBold"/>
              </a:rPr>
              <a:t>확인 포인트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19272" y="3346704"/>
            <a:ext cx="2331720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495057"/>
                </a:solidFill>
                <a:latin typeface="Pretendard Medium"/>
              </a:rPr>
              <a:t>주문 확인 단계에서 세종점 입원 제외 케이스까지 함께 체크</a:t>
            </a: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F8FFD913-9395-B82C-F215-BEC44437774D}"/>
              </a:ext>
            </a:extLst>
          </p:cNvPr>
          <p:cNvGrpSpPr/>
          <p:nvPr/>
        </p:nvGrpSpPr>
        <p:grpSpPr>
          <a:xfrm>
            <a:off x="6245448" y="1101852"/>
            <a:ext cx="2141286" cy="3366007"/>
            <a:chOff x="6245448" y="1101852"/>
            <a:chExt cx="2141286" cy="3366007"/>
          </a:xfrm>
        </p:grpSpPr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id="{F6289EC7-B2CE-8D2F-1B97-1F57E2CD96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45448" y="1101852"/>
              <a:ext cx="2141286" cy="3366007"/>
            </a:xfrm>
            <a:prstGeom prst="rect">
              <a:avLst/>
            </a:prstGeom>
          </p:spPr>
        </p:pic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80FE85D3-9A2B-6DD8-F32F-DCC795981758}"/>
                </a:ext>
              </a:extLst>
            </p:cNvPr>
            <p:cNvSpPr/>
            <p:nvPr/>
          </p:nvSpPr>
          <p:spPr>
            <a:xfrm>
              <a:off x="6258389" y="2139696"/>
              <a:ext cx="2126753" cy="669109"/>
            </a:xfrm>
            <a:prstGeom prst="rect">
              <a:avLst/>
            </a:prstGeom>
            <a:noFill/>
            <a:ln w="12700">
              <a:solidFill>
                <a:srgbClr val="EE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109728"/>
            <a:ext cx="685800" cy="256032"/>
          </a:xfrm>
          <a:prstGeom prst="round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32588"/>
            <a:ext cx="68580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Pretendard SemiBold"/>
              </a:rPr>
              <a:t>Tab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5720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0">
                <a:solidFill>
                  <a:srgbClr val="343A40"/>
                </a:solidFill>
                <a:latin typeface="Pretendard SemiBold"/>
              </a:rPr>
              <a:t>배송완료 자동 전환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8503920" cy="127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4800600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868E96"/>
                </a:solidFill>
                <a:latin typeface="Pretendard Light"/>
              </a:rPr>
              <a:t>K-gin bio Pharm Ltd. · 탕전주문 관리 시스템 · v1.4 / 프로그램 12.50 기준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115568"/>
            <a:ext cx="5563048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dirty="0" err="1">
                <a:solidFill>
                  <a:srgbClr val="495057"/>
                </a:solidFill>
                <a:latin typeface="Pretendard Medium"/>
              </a:rPr>
              <a:t>발송</a:t>
            </a:r>
            <a:r>
              <a:rPr sz="1300" b="0" dirty="0">
                <a:solidFill>
                  <a:srgbClr val="495057"/>
                </a:solidFill>
                <a:latin typeface="Pretendard Medium"/>
              </a:rPr>
              <a:t> </a:t>
            </a:r>
            <a:r>
              <a:rPr sz="1300" b="0" dirty="0" err="1">
                <a:solidFill>
                  <a:srgbClr val="495057"/>
                </a:solidFill>
                <a:latin typeface="Pretendard Medium"/>
              </a:rPr>
              <a:t>상태인</a:t>
            </a:r>
            <a:r>
              <a:rPr sz="1300" b="0" dirty="0">
                <a:solidFill>
                  <a:srgbClr val="495057"/>
                </a:solidFill>
                <a:latin typeface="Pretendard Medium"/>
              </a:rPr>
              <a:t> </a:t>
            </a:r>
            <a:r>
              <a:rPr sz="1300" b="0" dirty="0" err="1">
                <a:solidFill>
                  <a:srgbClr val="495057"/>
                </a:solidFill>
                <a:latin typeface="Pretendard Medium"/>
              </a:rPr>
              <a:t>주문의</a:t>
            </a:r>
            <a:r>
              <a:rPr sz="1300" b="0" dirty="0">
                <a:solidFill>
                  <a:srgbClr val="495057"/>
                </a:solidFill>
                <a:latin typeface="Pretendard Medium"/>
              </a:rPr>
              <a:t> CJ </a:t>
            </a:r>
            <a:r>
              <a:rPr sz="1300" b="0" dirty="0" err="1">
                <a:solidFill>
                  <a:srgbClr val="495057"/>
                </a:solidFill>
                <a:latin typeface="Pretendard Medium"/>
              </a:rPr>
              <a:t>배송</a:t>
            </a:r>
            <a:r>
              <a:rPr sz="1300" b="0" dirty="0">
                <a:solidFill>
                  <a:srgbClr val="495057"/>
                </a:solidFill>
                <a:latin typeface="Pretendard Medium"/>
              </a:rPr>
              <a:t> </a:t>
            </a:r>
            <a:r>
              <a:rPr sz="1300" b="0" dirty="0" err="1">
                <a:solidFill>
                  <a:srgbClr val="495057"/>
                </a:solidFill>
                <a:latin typeface="Pretendard Medium"/>
              </a:rPr>
              <a:t>추적을</a:t>
            </a:r>
            <a:r>
              <a:rPr sz="1300" b="0" dirty="0">
                <a:solidFill>
                  <a:srgbClr val="495057"/>
                </a:solidFill>
                <a:latin typeface="Pretendard Medium"/>
              </a:rPr>
              <a:t> </a:t>
            </a:r>
            <a:r>
              <a:rPr sz="1300" b="0" dirty="0" err="1">
                <a:solidFill>
                  <a:srgbClr val="495057"/>
                </a:solidFill>
                <a:latin typeface="Pretendard Medium"/>
              </a:rPr>
              <a:t>확인하여</a:t>
            </a:r>
            <a:r>
              <a:rPr sz="1300" b="0" dirty="0">
                <a:solidFill>
                  <a:srgbClr val="495057"/>
                </a:solidFill>
                <a:latin typeface="Pretendard Medium"/>
              </a:rPr>
              <a:t> </a:t>
            </a:r>
            <a:r>
              <a:rPr sz="1300" b="0" dirty="0" err="1">
                <a:solidFill>
                  <a:srgbClr val="495057"/>
                </a:solidFill>
                <a:latin typeface="Pretendard Medium"/>
              </a:rPr>
              <a:t>배송완료된</a:t>
            </a:r>
            <a:r>
              <a:rPr sz="1300" b="0" dirty="0">
                <a:solidFill>
                  <a:srgbClr val="495057"/>
                </a:solidFill>
                <a:latin typeface="Pretendard Medium"/>
              </a:rPr>
              <a:t> </a:t>
            </a:r>
            <a:r>
              <a:rPr sz="1300" b="0" dirty="0" err="1">
                <a:solidFill>
                  <a:srgbClr val="495057"/>
                </a:solidFill>
                <a:latin typeface="Pretendard Medium"/>
              </a:rPr>
              <a:t>주문을</a:t>
            </a:r>
            <a:r>
              <a:rPr sz="1300" b="0" dirty="0">
                <a:solidFill>
                  <a:srgbClr val="495057"/>
                </a:solidFill>
                <a:latin typeface="Pretendard Medium"/>
              </a:rPr>
              <a:t> </a:t>
            </a:r>
            <a:r>
              <a:rPr sz="1300" b="0" dirty="0" err="1">
                <a:solidFill>
                  <a:srgbClr val="495057"/>
                </a:solidFill>
                <a:latin typeface="Pretendard Medium"/>
              </a:rPr>
              <a:t>자동으로</a:t>
            </a:r>
            <a:r>
              <a:rPr sz="1300" b="0" dirty="0">
                <a:solidFill>
                  <a:srgbClr val="495057"/>
                </a:solidFill>
                <a:latin typeface="Pretendard Medium"/>
              </a:rPr>
              <a:t> </a:t>
            </a:r>
            <a:r>
              <a:rPr sz="1300" b="0" dirty="0" err="1">
                <a:solidFill>
                  <a:srgbClr val="495057"/>
                </a:solidFill>
                <a:latin typeface="Pretendard Medium"/>
              </a:rPr>
              <a:t>완료</a:t>
            </a:r>
            <a:r>
              <a:rPr sz="1300" b="0" dirty="0">
                <a:solidFill>
                  <a:srgbClr val="495057"/>
                </a:solidFill>
                <a:latin typeface="Pretendard Medium"/>
              </a:rPr>
              <a:t> </a:t>
            </a:r>
            <a:r>
              <a:rPr sz="1300" b="0" dirty="0" err="1">
                <a:solidFill>
                  <a:srgbClr val="495057"/>
                </a:solidFill>
                <a:latin typeface="Pretendard Medium"/>
              </a:rPr>
              <a:t>상태로</a:t>
            </a:r>
            <a:r>
              <a:rPr sz="1300" b="0" dirty="0">
                <a:solidFill>
                  <a:srgbClr val="495057"/>
                </a:solidFill>
                <a:latin typeface="Pretendard Medium"/>
              </a:rPr>
              <a:t> </a:t>
            </a:r>
            <a:r>
              <a:rPr sz="1300" b="0" dirty="0" err="1">
                <a:solidFill>
                  <a:srgbClr val="495057"/>
                </a:solidFill>
                <a:latin typeface="Pretendard Medium"/>
              </a:rPr>
              <a:t>전환합니다</a:t>
            </a:r>
            <a:r>
              <a:rPr sz="1300" b="0" dirty="0">
                <a:solidFill>
                  <a:srgbClr val="495057"/>
                </a:solidFill>
                <a:latin typeface="Pretendard Medium"/>
              </a:rPr>
              <a:t>.</a:t>
            </a:r>
          </a:p>
        </p:txBody>
      </p:sp>
      <p:sp>
        <p:nvSpPr>
          <p:cNvPr id="9" name="Oval 8"/>
          <p:cNvSpPr/>
          <p:nvPr/>
        </p:nvSpPr>
        <p:spPr>
          <a:xfrm>
            <a:off x="320040" y="1828800"/>
            <a:ext cx="365760" cy="365760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0">
                <a:solidFill>
                  <a:srgbClr val="FFFFFF"/>
                </a:solidFill>
                <a:latin typeface="Pretendard SemiBol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780291"/>
            <a:ext cx="2794299" cy="2616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0">
                <a:solidFill>
                  <a:srgbClr val="212529"/>
                </a:solidFill>
                <a:latin typeface="Pretendard SemiBold"/>
              </a:rPr>
              <a:t>발송 상태 주문 목록 수집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071672"/>
            <a:ext cx="2794299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495057"/>
                </a:solidFill>
                <a:latin typeface="Pretendard Medium"/>
              </a:rPr>
              <a:t>선택한 날짜 범위의 발송 주문을 확인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59152"/>
            <a:ext cx="3021742" cy="127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20040" y="2487168"/>
            <a:ext cx="365760" cy="365760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0">
                <a:solidFill>
                  <a:srgbClr val="FFFFFF"/>
                </a:solidFill>
                <a:latin typeface="Pretendard SemiBol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438659"/>
            <a:ext cx="2794299" cy="2616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0">
                <a:solidFill>
                  <a:srgbClr val="212529"/>
                </a:solidFill>
                <a:latin typeface="Pretendard SemiBold"/>
              </a:rPr>
              <a:t>CJ 송장 추적 페이지 확인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730040"/>
            <a:ext cx="2794299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495057"/>
                </a:solidFill>
                <a:latin typeface="Pretendard Medium"/>
              </a:rPr>
              <a:t>송장별 배송 상태를 자동 조회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017520"/>
            <a:ext cx="3021742" cy="127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320040" y="3145536"/>
            <a:ext cx="365760" cy="365760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0">
                <a:solidFill>
                  <a:srgbClr val="FFFFFF"/>
                </a:solidFill>
                <a:latin typeface="Pretendard SemiBol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097027"/>
            <a:ext cx="2794299" cy="2616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0">
                <a:solidFill>
                  <a:srgbClr val="212529"/>
                </a:solidFill>
                <a:latin typeface="Pretendard SemiBold"/>
              </a:rPr>
              <a:t>배송완료 확인 시 완료 전환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388408"/>
            <a:ext cx="2794299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495057"/>
                </a:solidFill>
                <a:latin typeface="Pretendard Medium"/>
              </a:rPr>
              <a:t>배송 중인 주문은 건너뜀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675888"/>
            <a:ext cx="3021742" cy="127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320040" y="4160520"/>
            <a:ext cx="5212080" cy="438912"/>
          </a:xfrm>
          <a:prstGeom prst="roundRect">
            <a:avLst/>
          </a:prstGeom>
          <a:solidFill>
            <a:srgbClr val="EFF4FF"/>
          </a:solidFill>
          <a:ln w="9525">
            <a:solidFill>
              <a:srgbClr val="CF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4326616"/>
            <a:ext cx="4937760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dirty="0" err="1">
                <a:solidFill>
                  <a:srgbClr val="1E3A8A"/>
                </a:solidFill>
                <a:latin typeface="Pretendard Medium"/>
              </a:rPr>
              <a:t>처리</a:t>
            </a:r>
            <a:r>
              <a:rPr sz="1050" b="0" dirty="0">
                <a:solidFill>
                  <a:srgbClr val="1E3A8A"/>
                </a:solidFill>
                <a:latin typeface="Pretendard Medium"/>
              </a:rPr>
              <a:t> </a:t>
            </a:r>
            <a:r>
              <a:rPr sz="1050" b="0" dirty="0" err="1">
                <a:solidFill>
                  <a:srgbClr val="1E3A8A"/>
                </a:solidFill>
                <a:latin typeface="Pretendard Medium"/>
              </a:rPr>
              <a:t>건수가</a:t>
            </a:r>
            <a:r>
              <a:rPr sz="1050" b="0" dirty="0">
                <a:solidFill>
                  <a:srgbClr val="1E3A8A"/>
                </a:solidFill>
                <a:latin typeface="Pretendard Medium"/>
              </a:rPr>
              <a:t> </a:t>
            </a:r>
            <a:r>
              <a:rPr sz="1050" b="0" dirty="0" err="1">
                <a:solidFill>
                  <a:srgbClr val="1E3A8A"/>
                </a:solidFill>
                <a:latin typeface="Pretendard Medium"/>
              </a:rPr>
              <a:t>많으면</a:t>
            </a:r>
            <a:r>
              <a:rPr sz="1050" b="0" dirty="0">
                <a:solidFill>
                  <a:srgbClr val="1E3A8A"/>
                </a:solidFill>
                <a:latin typeface="Pretendard Medium"/>
              </a:rPr>
              <a:t> </a:t>
            </a:r>
            <a:r>
              <a:rPr sz="1050" b="0" dirty="0" err="1">
                <a:solidFill>
                  <a:srgbClr val="1E3A8A"/>
                </a:solidFill>
                <a:latin typeface="Pretendard Medium"/>
              </a:rPr>
              <a:t>시간이</a:t>
            </a:r>
            <a:r>
              <a:rPr sz="1050" b="0" dirty="0">
                <a:solidFill>
                  <a:srgbClr val="1E3A8A"/>
                </a:solidFill>
                <a:latin typeface="Pretendard Medium"/>
              </a:rPr>
              <a:t> </a:t>
            </a:r>
            <a:r>
              <a:rPr sz="1050" b="0" dirty="0" err="1">
                <a:solidFill>
                  <a:srgbClr val="1E3A8A"/>
                </a:solidFill>
                <a:latin typeface="Pretendard Medium"/>
              </a:rPr>
              <a:t>걸릴</a:t>
            </a:r>
            <a:r>
              <a:rPr sz="1050" b="0" dirty="0">
                <a:solidFill>
                  <a:srgbClr val="1E3A8A"/>
                </a:solidFill>
                <a:latin typeface="Pretendard Medium"/>
              </a:rPr>
              <a:t> 수 </a:t>
            </a:r>
            <a:r>
              <a:rPr sz="1050" b="0" dirty="0" err="1">
                <a:solidFill>
                  <a:srgbClr val="1E3A8A"/>
                </a:solidFill>
                <a:latin typeface="Pretendard Medium"/>
              </a:rPr>
              <a:t>있습니다</a:t>
            </a:r>
            <a:r>
              <a:rPr sz="1050" b="0" dirty="0">
                <a:solidFill>
                  <a:srgbClr val="1E3A8A"/>
                </a:solidFill>
                <a:latin typeface="Pretendard Medium"/>
              </a:rPr>
              <a:t>. </a:t>
            </a:r>
            <a:r>
              <a:rPr sz="1050" b="0" dirty="0" err="1">
                <a:solidFill>
                  <a:srgbClr val="1E3A8A"/>
                </a:solidFill>
                <a:latin typeface="Pretendard Medium"/>
              </a:rPr>
              <a:t>완료</a:t>
            </a:r>
            <a:r>
              <a:rPr sz="1050" b="0" dirty="0">
                <a:solidFill>
                  <a:srgbClr val="1E3A8A"/>
                </a:solidFill>
                <a:latin typeface="Pretendard Medium"/>
              </a:rPr>
              <a:t> </a:t>
            </a:r>
            <a:r>
              <a:rPr sz="1050" b="0" dirty="0" err="1">
                <a:solidFill>
                  <a:srgbClr val="1E3A8A"/>
                </a:solidFill>
                <a:latin typeface="Pretendard Medium"/>
              </a:rPr>
              <a:t>알림이</a:t>
            </a:r>
            <a:r>
              <a:rPr sz="1050" b="0" dirty="0">
                <a:solidFill>
                  <a:srgbClr val="1E3A8A"/>
                </a:solidFill>
                <a:latin typeface="Pretendard Medium"/>
              </a:rPr>
              <a:t> 뜰 </a:t>
            </a:r>
            <a:r>
              <a:rPr sz="1050" b="0" dirty="0" err="1">
                <a:solidFill>
                  <a:srgbClr val="1E3A8A"/>
                </a:solidFill>
                <a:latin typeface="Pretendard Medium"/>
              </a:rPr>
              <a:t>때까지</a:t>
            </a:r>
            <a:r>
              <a:rPr sz="1050" b="0" dirty="0">
                <a:solidFill>
                  <a:srgbClr val="1E3A8A"/>
                </a:solidFill>
                <a:latin typeface="Pretendard Medium"/>
              </a:rPr>
              <a:t> </a:t>
            </a:r>
            <a:r>
              <a:rPr sz="1050" b="0" dirty="0" err="1">
                <a:solidFill>
                  <a:srgbClr val="1E3A8A"/>
                </a:solidFill>
                <a:latin typeface="Pretendard Medium"/>
              </a:rPr>
              <a:t>기다려주세요</a:t>
            </a:r>
            <a:r>
              <a:rPr sz="1050" b="0" dirty="0">
                <a:solidFill>
                  <a:srgbClr val="1E3A8A"/>
                </a:solidFill>
                <a:latin typeface="Pretendard Medium"/>
              </a:rPr>
              <a:t>.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0AE7039D-E56F-549A-3843-914644AFDD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448" y="1108383"/>
            <a:ext cx="2141286" cy="3366006"/>
          </a:xfrm>
          <a:prstGeom prst="rect">
            <a:avLst/>
          </a:prstGeom>
        </p:spPr>
      </p:pic>
      <p:sp>
        <p:nvSpPr>
          <p:cNvPr id="32" name="직사각형 31">
            <a:extLst>
              <a:ext uri="{FF2B5EF4-FFF2-40B4-BE49-F238E27FC236}">
                <a16:creationId xmlns:a16="http://schemas.microsoft.com/office/drawing/2014/main" id="{66D27838-CE8B-A48A-DE25-0444119856F4}"/>
              </a:ext>
            </a:extLst>
          </p:cNvPr>
          <p:cNvSpPr/>
          <p:nvPr/>
        </p:nvSpPr>
        <p:spPr>
          <a:xfrm>
            <a:off x="6259981" y="1344169"/>
            <a:ext cx="2126753" cy="548640"/>
          </a:xfrm>
          <a:prstGeom prst="rect">
            <a:avLst/>
          </a:prstGeom>
          <a:noFill/>
          <a:ln w="12700"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45720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0">
                <a:solidFill>
                  <a:srgbClr val="343A40"/>
                </a:solidFill>
                <a:latin typeface="Pretendard SemiBold"/>
              </a:rPr>
              <a:t>날짜 &amp; 시간 입력 형식 안내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05840"/>
            <a:ext cx="8503920" cy="127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4800600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868E96"/>
                </a:solidFill>
                <a:latin typeface="Pretendard Light"/>
              </a:rPr>
              <a:t>K-gin bio Pharm Ltd. · 탕전주문 관리 시스템 · v1.4 / 프로그램 12.50 기준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280160"/>
          <a:ext cx="76809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Pretendard SemiBold"/>
                        </a:rPr>
                        <a:t>항목</a:t>
                      </a:r>
                    </a:p>
                  </a:txBody>
                  <a:tcPr>
                    <a:solidFill>
                      <a:srgbClr val="3B5B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Pretendard SemiBold"/>
                        </a:rPr>
                        <a:t>사용 가능한 형식</a:t>
                      </a:r>
                    </a:p>
                  </a:txBody>
                  <a:tcPr>
                    <a:solidFill>
                      <a:srgbClr val="3B5B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Pretendard SemiBold"/>
                        </a:rPr>
                        <a:t>예시</a:t>
                      </a:r>
                    </a:p>
                  </a:txBody>
                  <a:tcPr>
                    <a:solidFill>
                      <a:srgbClr val="3B5B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529"/>
                          </a:solidFill>
                          <a:latin typeface="Pretendard Medium"/>
                        </a:rPr>
                        <a:t>날짜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529"/>
                          </a:solidFill>
                          <a:latin typeface="Pretendard Medium"/>
                        </a:rPr>
                        <a:t>YYYYMMDD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529"/>
                          </a:solidFill>
                          <a:latin typeface="Pretendard Medium"/>
                        </a:rPr>
                        <a:t>20260430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529"/>
                          </a:solidFill>
                          <a:latin typeface="Pretendard Medium"/>
                        </a:rPr>
                        <a:t>날짜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529"/>
                          </a:solidFill>
                          <a:latin typeface="Pretendard Medium"/>
                        </a:rPr>
                        <a:t>YYYY-MM-DD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529"/>
                          </a:solidFill>
                          <a:latin typeface="Pretendard Medium"/>
                        </a:rPr>
                        <a:t>2026-04-30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529"/>
                          </a:solidFill>
                          <a:latin typeface="Pretendard Medium"/>
                        </a:rPr>
                        <a:t>날짜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529"/>
                          </a:solidFill>
                          <a:latin typeface="Pretendard Medium"/>
                        </a:rPr>
                        <a:t>YYYY/MM/DD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529"/>
                          </a:solidFill>
                          <a:latin typeface="Pretendard Medium"/>
                        </a:rPr>
                        <a:t>2026/04/30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529"/>
                          </a:solidFill>
                          <a:latin typeface="Pretendard Medium"/>
                        </a:rPr>
                        <a:t>시간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529"/>
                          </a:solidFill>
                          <a:latin typeface="Pretendard Medium"/>
                        </a:rPr>
                        <a:t>HHMM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529"/>
                          </a:solidFill>
                          <a:latin typeface="Pretendard Medium"/>
                        </a:rPr>
                        <a:t>1430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529"/>
                          </a:solidFill>
                          <a:latin typeface="Pretendard Medium"/>
                        </a:rPr>
                        <a:t>시간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529"/>
                          </a:solidFill>
                          <a:latin typeface="Pretendard Medium"/>
                        </a:rPr>
                        <a:t>HH:MM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529"/>
                          </a:solidFill>
                          <a:latin typeface="Pretendard Medium"/>
                        </a:rPr>
                        <a:t>14:30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4434840"/>
            <a:ext cx="7680960" cy="411480"/>
          </a:xfrm>
          <a:prstGeom prst="roundRect">
            <a:avLst/>
          </a:prstGeom>
          <a:solidFill>
            <a:srgbClr val="EFF4FF"/>
          </a:solidFill>
          <a:ln w="9525">
            <a:solidFill>
              <a:srgbClr val="CF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4544568"/>
            <a:ext cx="740664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1E3A8A"/>
                </a:solidFill>
                <a:latin typeface="Pretendard Medium"/>
              </a:rPr>
              <a:t>시간 입력은 선택사항입니다. 시간을 입력하면 해당 시간 이후 / 이전 주문만 수집됩니다.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45720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0">
                <a:solidFill>
                  <a:srgbClr val="343A40"/>
                </a:solidFill>
                <a:latin typeface="Pretendard SemiBold"/>
              </a:rPr>
              <a:t>실행 중 주의사항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05840"/>
            <a:ext cx="8503920" cy="127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4800600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868E96"/>
                </a:solidFill>
                <a:latin typeface="Pretendard Light"/>
              </a:rPr>
              <a:t>K-gin bio Pharm Ltd. · 탕전주문 관리 시스템 · v1.4 / 프로그램 12.50 기준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170432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0">
                <a:solidFill>
                  <a:srgbClr val="E03131"/>
                </a:solidFill>
                <a:latin typeface="Pretendard SemiBold"/>
              </a:rPr>
              <a:t>하지 말아야 할 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27632"/>
            <a:ext cx="33832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000" b="0">
                <a:latin typeface="Pretendard Medium"/>
              </a:rPr>
              <a:t>• </a:t>
            </a:r>
            <a:r>
              <a:rPr sz="1300" b="0">
                <a:solidFill>
                  <a:srgbClr val="E03131"/>
                </a:solidFill>
                <a:latin typeface="Pretendard Medium"/>
              </a:rPr>
              <a:t>Chrome 창 임의로 닫기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57984"/>
            <a:ext cx="33832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000" b="0">
                <a:latin typeface="Pretendard Medium"/>
              </a:rPr>
              <a:t>• </a:t>
            </a:r>
            <a:r>
              <a:rPr sz="1300" b="0">
                <a:solidFill>
                  <a:srgbClr val="E03131"/>
                </a:solidFill>
                <a:latin typeface="Pretendard Medium"/>
              </a:rPr>
              <a:t>실행 중 다른 탭 실행 시도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88336"/>
            <a:ext cx="33832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000" b="0">
                <a:latin typeface="Pretendard Medium"/>
              </a:rPr>
              <a:t>• </a:t>
            </a:r>
            <a:r>
              <a:rPr sz="1300" b="0">
                <a:solidFill>
                  <a:srgbClr val="E03131"/>
                </a:solidFill>
                <a:latin typeface="Pretendard Medium"/>
              </a:rPr>
              <a:t>컴퓨터 절전모드 / 화면보호기 진입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1170432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0" dirty="0" err="1">
                <a:solidFill>
                  <a:srgbClr val="2F9E44"/>
                </a:solidFill>
                <a:latin typeface="Pretendard SemiBold"/>
              </a:rPr>
              <a:t>해도</a:t>
            </a:r>
            <a:r>
              <a:rPr sz="1700" b="0" dirty="0">
                <a:solidFill>
                  <a:srgbClr val="2F9E44"/>
                </a:solidFill>
                <a:latin typeface="Pretendard SemiBold"/>
              </a:rPr>
              <a:t> </a:t>
            </a:r>
            <a:r>
              <a:rPr sz="1700" b="0" dirty="0" err="1">
                <a:solidFill>
                  <a:srgbClr val="2F9E44"/>
                </a:solidFill>
                <a:latin typeface="Pretendard SemiBold"/>
              </a:rPr>
              <a:t>되는</a:t>
            </a:r>
            <a:r>
              <a:rPr sz="1700" b="0" dirty="0">
                <a:solidFill>
                  <a:srgbClr val="2F9E44"/>
                </a:solidFill>
                <a:latin typeface="Pretendard SemiBold"/>
              </a:rPr>
              <a:t> 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3480" y="1627632"/>
            <a:ext cx="33832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000" b="0">
                <a:latin typeface="Pretendard Medium"/>
              </a:rPr>
              <a:t>• </a:t>
            </a:r>
            <a:r>
              <a:rPr sz="1300" b="0">
                <a:solidFill>
                  <a:srgbClr val="2F9E44"/>
                </a:solidFill>
                <a:latin typeface="Pretendard Medium"/>
              </a:rPr>
              <a:t>진행 중 다른 프로그램 사용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2157984"/>
            <a:ext cx="33832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000" b="0">
                <a:latin typeface="Pretendard Medium"/>
              </a:rPr>
              <a:t>• </a:t>
            </a:r>
            <a:r>
              <a:rPr sz="1300" b="0">
                <a:solidFill>
                  <a:srgbClr val="2F9E44"/>
                </a:solidFill>
                <a:latin typeface="Pretendard Medium"/>
              </a:rPr>
              <a:t>로그 창 스크롤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2688336"/>
            <a:ext cx="33832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000" b="0">
                <a:latin typeface="Pretendard Medium"/>
              </a:rPr>
              <a:t>• </a:t>
            </a:r>
            <a:r>
              <a:rPr sz="1300" b="0">
                <a:solidFill>
                  <a:srgbClr val="2F9E44"/>
                </a:solidFill>
                <a:latin typeface="Pretendard Medium"/>
              </a:rPr>
              <a:t>취소 버튼으로 중단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143000"/>
            <a:ext cx="12700" cy="233172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20040" y="4109211"/>
            <a:ext cx="8503920" cy="417068"/>
          </a:xfrm>
          <a:prstGeom prst="roundRect">
            <a:avLst/>
          </a:prstGeom>
          <a:solidFill>
            <a:srgbClr val="FFF3BF"/>
          </a:solidFill>
          <a:ln w="9525">
            <a:solidFill>
              <a:srgbClr val="CF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3550" y="4240801"/>
            <a:ext cx="82296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dirty="0" err="1">
                <a:solidFill>
                  <a:srgbClr val="5F4B00"/>
                </a:solidFill>
                <a:latin typeface="Pretendard Medium"/>
              </a:rPr>
              <a:t>실행</a:t>
            </a:r>
            <a:r>
              <a:rPr sz="1000" b="0" dirty="0">
                <a:solidFill>
                  <a:srgbClr val="5F4B00"/>
                </a:solidFill>
                <a:latin typeface="Pretendard Medium"/>
              </a:rPr>
              <a:t> 중 </a:t>
            </a:r>
            <a:r>
              <a:rPr sz="1000" b="0" dirty="0" err="1">
                <a:solidFill>
                  <a:srgbClr val="5F4B00"/>
                </a:solidFill>
                <a:latin typeface="Pretendard Medium"/>
              </a:rPr>
              <a:t>오류가</a:t>
            </a:r>
            <a:r>
              <a:rPr sz="1000" b="0" dirty="0">
                <a:solidFill>
                  <a:srgbClr val="5F4B00"/>
                </a:solidFill>
                <a:latin typeface="Pretendard Medium"/>
              </a:rPr>
              <a:t> </a:t>
            </a:r>
            <a:r>
              <a:rPr sz="1000" b="0" dirty="0" err="1">
                <a:solidFill>
                  <a:srgbClr val="5F4B00"/>
                </a:solidFill>
                <a:latin typeface="Pretendard Medium"/>
              </a:rPr>
              <a:t>발생하면</a:t>
            </a:r>
            <a:r>
              <a:rPr sz="1000" b="0" dirty="0">
                <a:solidFill>
                  <a:srgbClr val="5F4B00"/>
                </a:solidFill>
                <a:latin typeface="Pretendard Medium"/>
              </a:rPr>
              <a:t> </a:t>
            </a:r>
            <a:r>
              <a:rPr sz="1000" b="0" dirty="0" err="1">
                <a:solidFill>
                  <a:srgbClr val="5F4B00"/>
                </a:solidFill>
                <a:latin typeface="Pretendard Medium"/>
              </a:rPr>
              <a:t>로그</a:t>
            </a:r>
            <a:r>
              <a:rPr sz="1000" b="0" dirty="0">
                <a:solidFill>
                  <a:srgbClr val="5F4B00"/>
                </a:solidFill>
                <a:latin typeface="Pretendard Medium"/>
              </a:rPr>
              <a:t> </a:t>
            </a:r>
            <a:r>
              <a:rPr sz="1000" b="0" dirty="0" err="1">
                <a:solidFill>
                  <a:srgbClr val="5F4B00"/>
                </a:solidFill>
                <a:latin typeface="Pretendard Medium"/>
              </a:rPr>
              <a:t>창에서</a:t>
            </a:r>
            <a:r>
              <a:rPr sz="1000" b="0" dirty="0">
                <a:solidFill>
                  <a:srgbClr val="5F4B00"/>
                </a:solidFill>
                <a:latin typeface="Pretendard Medium"/>
              </a:rPr>
              <a:t> </a:t>
            </a:r>
            <a:r>
              <a:rPr sz="1000" b="0" dirty="0" err="1">
                <a:solidFill>
                  <a:srgbClr val="5F4B00"/>
                </a:solidFill>
                <a:latin typeface="Pretendard Medium"/>
              </a:rPr>
              <a:t>내용을</a:t>
            </a:r>
            <a:r>
              <a:rPr sz="1000" b="0" dirty="0">
                <a:solidFill>
                  <a:srgbClr val="5F4B00"/>
                </a:solidFill>
                <a:latin typeface="Pretendard Medium"/>
              </a:rPr>
              <a:t> </a:t>
            </a:r>
            <a:r>
              <a:rPr sz="1000" b="0" dirty="0" err="1">
                <a:solidFill>
                  <a:srgbClr val="5F4B00"/>
                </a:solidFill>
                <a:latin typeface="Pretendard Medium"/>
              </a:rPr>
              <a:t>확인하고</a:t>
            </a:r>
            <a:r>
              <a:rPr sz="1000" b="0" dirty="0">
                <a:solidFill>
                  <a:srgbClr val="5F4B00"/>
                </a:solidFill>
                <a:latin typeface="Pretendard Medium"/>
              </a:rPr>
              <a:t>, </a:t>
            </a:r>
            <a:r>
              <a:rPr sz="1000" b="0" dirty="0" err="1">
                <a:solidFill>
                  <a:srgbClr val="5F4B00"/>
                </a:solidFill>
                <a:latin typeface="Pretendard Medium"/>
              </a:rPr>
              <a:t>프로그램을</a:t>
            </a:r>
            <a:r>
              <a:rPr sz="1000" b="0" dirty="0">
                <a:solidFill>
                  <a:srgbClr val="5F4B00"/>
                </a:solidFill>
                <a:latin typeface="Pretendard Medium"/>
              </a:rPr>
              <a:t> </a:t>
            </a:r>
            <a:r>
              <a:rPr sz="1000" b="0" dirty="0" err="1">
                <a:solidFill>
                  <a:srgbClr val="5F4B00"/>
                </a:solidFill>
                <a:latin typeface="Pretendard Medium"/>
              </a:rPr>
              <a:t>재시작한</a:t>
            </a:r>
            <a:r>
              <a:rPr sz="1000" b="0" dirty="0">
                <a:solidFill>
                  <a:srgbClr val="5F4B00"/>
                </a:solidFill>
                <a:latin typeface="Pretendard Medium"/>
              </a:rPr>
              <a:t> 뒤 </a:t>
            </a:r>
            <a:r>
              <a:rPr sz="1000" b="0" dirty="0" err="1">
                <a:solidFill>
                  <a:srgbClr val="5F4B00"/>
                </a:solidFill>
                <a:latin typeface="Pretendard Medium"/>
              </a:rPr>
              <a:t>다시</a:t>
            </a:r>
            <a:r>
              <a:rPr sz="1000" b="0" dirty="0">
                <a:solidFill>
                  <a:srgbClr val="5F4B00"/>
                </a:solidFill>
                <a:latin typeface="Pretendard Medium"/>
              </a:rPr>
              <a:t> </a:t>
            </a:r>
            <a:r>
              <a:rPr sz="1000" b="0" dirty="0" err="1">
                <a:solidFill>
                  <a:srgbClr val="5F4B00"/>
                </a:solidFill>
                <a:latin typeface="Pretendard Medium"/>
              </a:rPr>
              <a:t>시도해주세요</a:t>
            </a:r>
            <a:r>
              <a:rPr sz="1000" b="0" dirty="0">
                <a:solidFill>
                  <a:srgbClr val="5F4B00"/>
                </a:solidFill>
                <a:latin typeface="Pretendard Medium"/>
              </a:rPr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45720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0">
                <a:solidFill>
                  <a:srgbClr val="343A40"/>
                </a:solidFill>
                <a:latin typeface="Pretendard SemiBold"/>
              </a:rPr>
              <a:t>자주 발생하는 오류 &amp; 해결법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05840"/>
            <a:ext cx="8503920" cy="127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4800600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868E96"/>
                </a:solidFill>
                <a:latin typeface="Pretendard Light"/>
              </a:rPr>
              <a:t>K-gin bio Pharm Ltd. · 탕전주문 관리 시스템 · v1.4 / 프로그램 12.50 기준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143000"/>
          <a:ext cx="8503920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03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598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Pretendard SemiBold"/>
                        </a:rPr>
                        <a:t>증상</a:t>
                      </a:r>
                    </a:p>
                  </a:txBody>
                  <a:tcPr marL="54864" marR="54864" marT="27432" marB="27432">
                    <a:solidFill>
                      <a:srgbClr val="3B5B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Pretendard SemiBold"/>
                        </a:rPr>
                        <a:t>원인</a:t>
                      </a:r>
                    </a:p>
                  </a:txBody>
                  <a:tcPr marL="54864" marR="54864" marT="27432" marB="27432">
                    <a:solidFill>
                      <a:srgbClr val="3B5B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Pretendard SemiBold"/>
                        </a:rPr>
                        <a:t>해결 방법</a:t>
                      </a:r>
                    </a:p>
                  </a:txBody>
                  <a:tcPr marL="54864" marR="54864" marT="27432" marB="27432">
                    <a:solidFill>
                      <a:srgbClr val="3B5B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598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2529"/>
                          </a:solidFill>
                          <a:latin typeface="Pretendard Medium"/>
                        </a:rPr>
                        <a:t>Chrome이 안 열림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2529"/>
                          </a:solidFill>
                          <a:latin typeface="Pretendard Medium"/>
                        </a:rPr>
                        <a:t>ChromeDriver 또는 Chrome 버전 문제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2529"/>
                          </a:solidFill>
                          <a:latin typeface="Pretendard Medium"/>
                        </a:rPr>
                        <a:t>Chrome 최신 업데이트 후 재시도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598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2529"/>
                          </a:solidFill>
                          <a:latin typeface="Pretendard Medium"/>
                        </a:rPr>
                        <a:t>수집됐는데 파일이 없음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2529"/>
                          </a:solidFill>
                          <a:latin typeface="Pretendard Medium"/>
                        </a:rPr>
                        <a:t>저장 옵션 미체크 또는 저장 경로 확인 필요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2529"/>
                          </a:solidFill>
                          <a:latin typeface="Pretendard Medium"/>
                        </a:rPr>
                        <a:t>파일 저장 옵션과 결과 폴더 확인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598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2529"/>
                          </a:solidFill>
                          <a:latin typeface="Pretendard Medium"/>
                        </a:rPr>
                        <a:t>필터 결과가 이상함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2529"/>
                          </a:solidFill>
                          <a:latin typeface="Pretendard Medium"/>
                        </a:rPr>
                        <a:t>사이트명/지점명 또는 검색대상 선택 불일치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2529"/>
                          </a:solidFill>
                          <a:latin typeface="Pretendard Medium"/>
                        </a:rPr>
                        <a:t>한의원 콤보, 검색대상, 콤마 입력값 확인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598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2529"/>
                          </a:solidFill>
                          <a:latin typeface="Pretendard Medium"/>
                        </a:rPr>
                        <a:t>출력 로그는 있는데 종이가 없음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2529"/>
                          </a:solidFill>
                          <a:latin typeface="Pretendard Medium"/>
                        </a:rPr>
                        <a:t>로그는 출력 요청 기준이며 프린터 완료 기준이 아님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2529"/>
                          </a:solidFill>
                          <a:latin typeface="Pretendard Medium"/>
                        </a:rPr>
                        <a:t>인쇄요청목록/인쇄결과목록과 프린터 대기열 확인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598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2529"/>
                          </a:solidFill>
                          <a:latin typeface="Pretendard Medium"/>
                        </a:rPr>
                        <a:t>CJ 업로드 전화번호 이상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2529"/>
                          </a:solidFill>
                          <a:latin typeface="Pretendard Medium"/>
                        </a:rPr>
                        <a:t>한의원 대표번호 매핑 또는 지점 분류 확인 필요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2529"/>
                          </a:solidFill>
                          <a:latin typeface="Pretendard Medium"/>
                        </a:rPr>
                        <a:t>대표번호/고래 지점 분류 확인 후 재생성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598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2529"/>
                          </a:solidFill>
                          <a:latin typeface="Pretendard Medium"/>
                        </a:rPr>
                        <a:t>탭 실행 버튼 안 눌림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2529"/>
                          </a:solidFill>
                          <a:latin typeface="Pretendard Medium"/>
                        </a:rPr>
                        <a:t>다른 탭 작업 실행 중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2529"/>
                          </a:solidFill>
                          <a:latin typeface="Pretendard Medium"/>
                        </a:rPr>
                        <a:t>현재 작업 완료 후 다시 실행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618488"/>
            <a:ext cx="100584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Pretendard SemiBold"/>
              </a:rPr>
              <a:t>문의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0"/>
            <a:ext cx="557784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0">
                <a:solidFill>
                  <a:srgbClr val="343A40"/>
                </a:solidFill>
                <a:latin typeface="Pretendard SemiBold"/>
              </a:rPr>
              <a:t>문의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511406"/>
            <a:ext cx="5669280" cy="2923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0" dirty="0" err="1">
                <a:solidFill>
                  <a:srgbClr val="495057"/>
                </a:solidFill>
                <a:latin typeface="Pretendard SemiBold"/>
              </a:rPr>
              <a:t>프로그램</a:t>
            </a:r>
            <a:r>
              <a:rPr sz="1900" b="0" dirty="0">
                <a:solidFill>
                  <a:srgbClr val="495057"/>
                </a:solidFill>
                <a:latin typeface="Pretendard SemiBold"/>
              </a:rPr>
              <a:t> </a:t>
            </a:r>
            <a:r>
              <a:rPr sz="1900" b="0" dirty="0" err="1">
                <a:solidFill>
                  <a:srgbClr val="495057"/>
                </a:solidFill>
                <a:latin typeface="Pretendard SemiBold"/>
              </a:rPr>
              <a:t>오류나</a:t>
            </a:r>
            <a:r>
              <a:rPr sz="1900" b="0" dirty="0">
                <a:solidFill>
                  <a:srgbClr val="495057"/>
                </a:solidFill>
                <a:latin typeface="Pretendard SemiBold"/>
              </a:rPr>
              <a:t> </a:t>
            </a:r>
            <a:r>
              <a:rPr sz="1900" b="0" dirty="0" err="1">
                <a:solidFill>
                  <a:srgbClr val="495057"/>
                </a:solidFill>
                <a:latin typeface="Pretendard SemiBold"/>
              </a:rPr>
              <a:t>개선사항은</a:t>
            </a:r>
            <a:r>
              <a:rPr lang="en-US" sz="1900" b="0" dirty="0">
                <a:solidFill>
                  <a:srgbClr val="495057"/>
                </a:solidFill>
                <a:latin typeface="Pretendard SemiBold"/>
              </a:rPr>
              <a:t> </a:t>
            </a:r>
            <a:r>
              <a:rPr sz="1900" b="0" dirty="0" err="1">
                <a:solidFill>
                  <a:srgbClr val="495057"/>
                </a:solidFill>
                <a:latin typeface="Pretendard SemiBold"/>
              </a:rPr>
              <a:t>담당자에게</a:t>
            </a:r>
            <a:r>
              <a:rPr sz="1900" b="0" dirty="0">
                <a:solidFill>
                  <a:srgbClr val="495057"/>
                </a:solidFill>
                <a:latin typeface="Pretendard SemiBold"/>
              </a:rPr>
              <a:t> </a:t>
            </a:r>
            <a:r>
              <a:rPr sz="1900" b="0" dirty="0" err="1">
                <a:solidFill>
                  <a:srgbClr val="495057"/>
                </a:solidFill>
                <a:latin typeface="Pretendard SemiBold"/>
              </a:rPr>
              <a:t>문의해주세요</a:t>
            </a:r>
            <a:r>
              <a:rPr sz="1900" b="0" dirty="0">
                <a:solidFill>
                  <a:srgbClr val="495057"/>
                </a:solidFill>
                <a:latin typeface="Pretendard SemiBold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75488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Pretendard Light"/>
              </a:rPr>
              <a:t>K-gin bio Pharm Ltd. · 탕전주문 관리 시스템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retendard Medium">
      <a:majorFont>
        <a:latin typeface="Pretendard Medium"/>
        <a:ea typeface="Pretendard Medium"/>
        <a:cs typeface="Pretendard Medium"/>
        <a:font script="Jpan" typeface="ＭＳ Ｐゴシック"/>
        <a:font script="Hang" typeface="Pretendard Medium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retendard Medium"/>
        <a:ea typeface="Pretendard Medium"/>
        <a:cs typeface="Pretendard Medium"/>
        <a:font script="Jpan" typeface="ＭＳ Ｐゴシック"/>
        <a:font script="Hang" typeface="Pretendard Medium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1449</Words>
  <Application>Microsoft Office PowerPoint</Application>
  <PresentationFormat>화면 슬라이드 쇼(16:9)</PresentationFormat>
  <Paragraphs>237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2" baseType="lpstr">
      <vt:lpstr>Pretendard Light</vt:lpstr>
      <vt:lpstr>Pretendard Medium</vt:lpstr>
      <vt:lpstr>Pretendard SemiBold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82109</dc:creator>
  <cp:keywords/>
  <dc:description>generated using python-pptx</dc:description>
  <cp:lastModifiedBy>yh890819@naver.com</cp:lastModifiedBy>
  <cp:revision>3</cp:revision>
  <dcterms:created xsi:type="dcterms:W3CDTF">2013-01-27T09:14:16Z</dcterms:created>
  <dcterms:modified xsi:type="dcterms:W3CDTF">2026-04-30T08:56:27Z</dcterms:modified>
  <cp:category/>
</cp:coreProperties>
</file>